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Nhóm em gồm Lộc, Tấn Anh và Hải Đăng, xin trình bày đồ án Mô hình hoá tứ giác trong hình học phẳng với Neo4j, dưới sự hướng dẫn của thầy Trần Quang Bình. Hình bên phải chính là sơ đồ phân cấp các loại tứ giác mà nhóm lưu trong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6 phần: đặt vấn đề, cơ sở lý thuyết, mô hình dữ liệu trong Neo4j, thuật toán suy luận, demo hệ thống và cuối cùng là kết quả, hướng phát triển.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loại tứ giác có quan hệ bao hàm với nhau rất chằng chịt. Hệ thống cần trả lời được các câu hỏi như: hình bình hành có hai đường chéo vuông góc và bằng nhau là hình gì — đáp án là hình vuông. Hay hình thang có cặp cạnh còn lại bằng nhau — ở đây chưa đủ dữ kiện, vì có thể là hình thang cân hoặc hình bình hành. Nhóm đặt ra 4 mục tiêu như bên phải.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phân cấp. Mỗi mũi tên là quan hệ 'là một'. Điểm đáng chú ý: hình vuông có hai hình cha là hình chữ nhật và hình thoi; hình thoi cũng có hai cha là hình bình hành và hình diều. Vì vậy cấu trúc này là một đồ thị chứ không phải cây — rất phù hợp để lưu bằng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dấu hiệu nhận biết được mô hình hoá thành một luật: nếu là hình X và có thêm các tính chất P thì là hình Y. Bảng bên trái là một vài ví dụ. Ngoài 25 luật kết luận, có 1 luật gợi ý cho trường hợp chưa đủ dữ kiện, và 5 cặp tính chất mâu thuẫn để phát hiện giả thiết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Tại sao dùng Neo4j thay vì SQL? Dữ liệu của bài toán vốn là đồ thị. Muốn tìm mọi hình cha của hình vuông, SQL phải viết truy vấn đệ quy phức tạp, còn Cypher chỉ cần một mẫu LA_MOT sao. Việc kế thừa tính chất từ hình cha cũng chỉ là một đường đi. Ngoài ra Neo4j Browser vẽ đồ thị trực quan và dễ mở rộng tri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lược đồ đồ thị. Nút Hình ở trung tâm, có quan hệ LA_MOT với chính nó để tạo sơ đồ phân cấp. Mỗi Dấu hiệu nối tới hình áp dụng, các tính chất cần có và hình kết luận. Phần công thức: mỗi Công thức nối tới các Đại lượng đầu vào qua CAN_BIEN và đại lượng kết quả qua TINH_RA. Tổng cộng 191 nút và 468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Thuật toán là suy luận tiến. Bắt đầu với hình ban đầu và các giả thiết. Mỗi vòng, hệ thống thêm các hình cha và tính chất kế thừa, rồi dùng câu Cypher bên dưới để tìm những dấu hiệu có đủ điều kiện. Hình kết luận được thêm vào và lặp lại cho đến khi không còn dấu hiệu mới. Cuối cùng chọn hình cụ thể nhất và kiểm tra mâu thuẫn.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cụ thể: hình bình hành có hai đường chéo vuông góc và bằng nhau. Vòng 1, hệ thống áp dụng DH14 ra hình chữ nhật và DH17 ra hình thoi. Vòng 2, từ hình chữ nhật cộng hai đường chéo vuông góc, áp dụng DH20 ra hình vuông. Hình vuông là kết luận cụ thể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Kiến trúc gồm 4 phần: trình duyệt, ứng dụng Flask, bộ suy luận và bộ tính toán viết bằng Python, và Neo4j lưu toàn bộ tri thức. Python kết nối Neo4j qua giao thức Bolt. Mọi truy vấn tri thức đều chạy trên Neo4j; Python chỉ điều khiển vòng lặp.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trực tiếp nếu có thể.) Trang nhận dạng: bên trái chọn hình ban đầu và tích các tính chất, bấm Suy luận. Bên phải là kết luận Hình vuông, lời giải 4 bước, sơ đồ phân cấp được tô màu, và cuối trang có danh sách các câu Cypher đã chạy trên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hay nhất của hệ thống. Với hình thang có hai cạnh bên bằng nhau, hệ thống không kết luận là hình thang cân mà cảnh báo có thể là hình bình hành. Khi thêm giả thiết hai cạnh bên không song song, kết luận ngay là hình thang cân. Và nếu chọn hai giả thiết mâu thuẫn, hệ thống báo đỏ kèm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Chức năng thứ hai là tính toán. Chọn hình thoi, chỉ nhập hai đường chéo 6 và 8. Hệ thống lấy 12 công thức của hình thoi từ Neo4j và áp dụng lần lượt: ra diện tích 24, cạnh 5, góc, chiều cao 4,8, bán kính nội tiếp 2,4 và chu vi 20, kèm lời giải từng bước. Nếu nhập số liệu mâu thuẫn, ví dụ hình vuông cạnh 5 mà diện tích 30, hệ thống sẽ cảnh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tóm tắt công thức diện tích và chu vi của 9 hình. Mỗi công thức được lưu thành nút CongThuc, nối với các đại lượng đầu vào qua CAN_BIEN và đại lượng kết quả qua TINH_RA. Nhờ vậy thêm công thức mới rất đơn giản.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Chức năng thứ ba là trò chơi Thử thách. Màn hình có một tứ giác trên lưới ô vuông, đề yêu cầu tạo một hình, ví dụ hình thang. Người chơi kéo các đỉnh; mỗi lần thả chuột, toạ độ được đổi thành các tính chất như song song, bằng nhau, góc vuông, rồi đưa vào đúng bộ suy luận Neo4j. Nếu Neo4j kết luận đúng hình yêu cầu thì cộng điểm và sang thử thách tiếp theo, từ hình thang tới hình vuông. Nếu tạo ra trường hợp đặc biệt, ví dụ đề là hình thang vuông mà kéo ra hình chữ nhật, hệ thống báo gần đúng. Điểm được lưu vào Neo4j thành nút LuotChoi để làm bảng xếp hạng.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hệ thống có 26 dấu hiệu nhận biết và 68 công thức. Toàn bộ 187 truy vấn mà ứng dụng gửi tới Neo4j, kể cả các truy vấn của trò chơi Thử thách, đều cho kết quả khớp với kết quả tính độc lập, và 45 ca kiểm thử tự động đều đạt. Nhóm hoàn thành 4 nhóm chức năng như bên dưới, trong đó có trò chơi Thử thách.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hiện tại: nhận dạng từ toạ độ mới có ở trò chơi và chỉ với toạ độ nguyên; lời giải chưa chi tiết tới từng cạnh; chỉ xét tứ giác lồi. Hướng phát triển: dùng toạ độ để tính diện tích, chu vi, mở rộng sang tam giác, đa giác và dùng dữ liệu lượt chơi để gợi ý bài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em xin cảm ơn thầy và các bạn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540"/>
        </a:solidFill>
      </p:bgPr>
    </p:bg>
    <p:spTree>
      <p:nvGrpSpPr>
        <p:cNvPr id="1" name=""/>
        <p:cNvGrpSpPr/>
        <p:nvPr/>
      </p:nvGrpSpPr>
      <p:grpSpPr>
        <a:xfrm>
          <a:off x="0" y="0"/>
          <a:ext cx="0" cy="0"/>
          <a:chOff x="0" y="0"/>
          <a:chExt cx="0" cy="0"/>
        </a:xfrm>
      </p:grpSpPr>
      <p:sp>
        <p:nvSpPr>
          <p:cNvPr id="2" name="Text 0"/>
          <p:cNvSpPr txBox="1"/>
          <p:nvPr/>
        </p:nvSpPr>
        <p:spPr>
          <a:xfrm>
            <a:off x="640080" y="640080"/>
            <a:ext cx="5486400" cy="320040"/>
          </a:xfrm>
          <a:prstGeom prst="rect">
            <a:avLst/>
          </a:prstGeom>
          <a:noFill/>
          <a:ln/>
        </p:spPr>
        <p:txBody>
          <a:bodyPr wrap="square" lIns="0" tIns="0" rIns="0" bIns="0" rtlCol="0" anchor="t"/>
          <a:lstStyle/>
          <a:p>
            <a:pPr indent="0" marL="0">
              <a:buNone/>
            </a:pPr>
            <a:r>
              <a:rPr lang="en-US" sz="1400" b="1" spc="300" kern="0" dirty="0">
                <a:solidFill>
                  <a:srgbClr val="9FB6FF"/>
                </a:solidFill>
                <a:latin typeface="Calibri" pitchFamily="34" charset="0"/>
                <a:ea typeface="Calibri" pitchFamily="34" charset="-122"/>
                <a:cs typeface="Calibri" pitchFamily="34" charset="-120"/>
              </a:rPr>
              <a:t>ĐỒ ÁN MÔN HỌC</a:t>
            </a:r>
            <a:endParaRPr lang="en-US" sz="1400" dirty="0"/>
          </a:p>
        </p:txBody>
      </p:sp>
      <p:sp>
        <p:nvSpPr>
          <p:cNvPr id="3" name="Text 1"/>
          <p:cNvSpPr txBox="1"/>
          <p:nvPr/>
        </p:nvSpPr>
        <p:spPr>
          <a:xfrm>
            <a:off x="640080" y="1051560"/>
            <a:ext cx="6675120" cy="17373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Mô hình hoá tứ giác trong hình học phẳng với Neo4j</a:t>
            </a:r>
            <a:endParaRPr lang="en-US" sz="3800" dirty="0"/>
          </a:p>
        </p:txBody>
      </p:sp>
      <p:sp>
        <p:nvSpPr>
          <p:cNvPr id="4" name="Text 2"/>
          <p:cNvSpPr txBox="1"/>
          <p:nvPr/>
        </p:nvSpPr>
        <p:spPr>
          <a:xfrm>
            <a:off x="640080" y="2834640"/>
            <a:ext cx="6400800" cy="731520"/>
          </a:xfrm>
          <a:prstGeom prst="rect">
            <a:avLst/>
          </a:prstGeom>
          <a:noFill/>
          <a:ln/>
        </p:spPr>
        <p:txBody>
          <a:bodyPr wrap="square" lIns="0" tIns="0" rIns="0" bIns="0" rtlCol="0" anchor="t"/>
          <a:lstStyle/>
          <a:p>
            <a:pPr indent="0" marL="0">
              <a:buNone/>
            </a:pPr>
            <a:r>
              <a:rPr lang="en-US" sz="1700" dirty="0">
                <a:solidFill>
                  <a:srgbClr val="C9D6FF"/>
                </a:solidFill>
                <a:latin typeface="Calibri" pitchFamily="34" charset="0"/>
                <a:ea typeface="Calibri" pitchFamily="34" charset="-122"/>
                <a:cs typeface="Calibri" pitchFamily="34" charset="-120"/>
              </a:rPr>
              <a:t>Hệ thống tri thức nhận dạng tứ giác và tính diện tích, chu vi bằng cơ sở dữ liệu đồ thị</a:t>
            </a:r>
            <a:endParaRPr lang="en-US" sz="1700" dirty="0"/>
          </a:p>
        </p:txBody>
      </p:sp>
      <p:sp>
        <p:nvSpPr>
          <p:cNvPr id="5" name="Text 3"/>
          <p:cNvSpPr txBox="1"/>
          <p:nvPr/>
        </p:nvSpPr>
        <p:spPr>
          <a:xfrm>
            <a:off x="640080" y="3977640"/>
            <a:ext cx="3840480" cy="1371600"/>
          </a:xfrm>
          <a:prstGeom prst="rect">
            <a:avLst/>
          </a:prstGeom>
          <a:noFill/>
          <a:ln/>
        </p:spPr>
        <p:txBody>
          <a:bodyPr wrap="square" lIns="0" tIns="0" rIns="0" bIns="0" rtlCol="0" anchor="t"/>
          <a:lstStyle/>
          <a:p>
            <a:pPr indent="0" marL="0">
              <a:spcAft>
                <a:spcPts val="400"/>
              </a:spcAft>
              <a:buNone/>
            </a:pPr>
            <a:r>
              <a:rPr lang="en-US" sz="1300" b="1" dirty="0">
                <a:solidFill>
                  <a:srgbClr val="9FB6FF"/>
                </a:solidFill>
                <a:latin typeface="Calibri" pitchFamily="34" charset="0"/>
                <a:ea typeface="Calibri" pitchFamily="34" charset="-122"/>
                <a:cs typeface="Calibri" pitchFamily="34" charset="-120"/>
              </a:rPr>
              <a:t>Sinh viên thực hiện</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2001230477 – Nguyễn Quốc Lộc</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2001230022 – Phan Tấn Anh</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2001230172 – Nguyễn Hải Đăng</a:t>
            </a:r>
            <a:endParaRPr lang="en-US" sz="1600" dirty="0"/>
          </a:p>
        </p:txBody>
      </p:sp>
      <p:sp>
        <p:nvSpPr>
          <p:cNvPr id="6" name="Text 4"/>
          <p:cNvSpPr txBox="1"/>
          <p:nvPr/>
        </p:nvSpPr>
        <p:spPr>
          <a:xfrm>
            <a:off x="4572000" y="3977640"/>
            <a:ext cx="2926080" cy="914400"/>
          </a:xfrm>
          <a:prstGeom prst="rect">
            <a:avLst/>
          </a:prstGeom>
          <a:noFill/>
          <a:ln/>
        </p:spPr>
        <p:txBody>
          <a:bodyPr wrap="square" lIns="0" tIns="0" rIns="0" bIns="0" rtlCol="0" anchor="t"/>
          <a:lstStyle/>
          <a:p>
            <a:pPr indent="0" marL="0">
              <a:spcAft>
                <a:spcPts val="400"/>
              </a:spcAft>
              <a:buNone/>
            </a:pPr>
            <a:r>
              <a:rPr lang="en-US" sz="1300" b="1" dirty="0">
                <a:solidFill>
                  <a:srgbClr val="9FB6FF"/>
                </a:solidFill>
                <a:latin typeface="Calibri" pitchFamily="34" charset="0"/>
                <a:ea typeface="Calibri" pitchFamily="34" charset="-122"/>
                <a:cs typeface="Calibri" pitchFamily="34" charset="-120"/>
              </a:rPr>
              <a:t>Giảng viên hướng dẫn</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ThS. Trần Quang Bình</a:t>
            </a:r>
            <a:endParaRPr lang="en-US" sz="1600" dirty="0"/>
          </a:p>
        </p:txBody>
      </p:sp>
      <p:sp>
        <p:nvSpPr>
          <p:cNvPr id="7" name="Shape 5"/>
          <p:cNvSpPr/>
          <p:nvPr/>
        </p:nvSpPr>
        <p:spPr>
          <a:xfrm>
            <a:off x="7635240" y="1554480"/>
            <a:ext cx="4023360" cy="3246120"/>
          </a:xfrm>
          <a:prstGeom prst="roundRect">
            <a:avLst>
              <a:gd name="adj" fmla="val 4225"/>
            </a:avLst>
          </a:prstGeom>
          <a:solidFill>
            <a:srgbClr val="FFFFFF"/>
          </a:solidFill>
          <a:ln w="12700">
            <a:solidFill>
              <a:srgbClr val="FFFFFF"/>
            </a:solidFill>
            <a:prstDash val="solid"/>
          </a:ln>
        </p:spPr>
      </p:sp>
      <p:pic>
        <p:nvPicPr>
          <p:cNvPr id="8" name="Image 0" descr="/tmp/claude-0/-home-claude/98539f31-3192-5884-a81c-346bec00204d/scratchpad/ppt/hier.png">    </p:cNvPr>
          <p:cNvPicPr>
            <a:picLocks noChangeAspect="1"/>
          </p:cNvPicPr>
          <p:nvPr/>
        </p:nvPicPr>
        <p:blipFill>
          <a:blip r:embed="rId1"/>
          <a:stretch>
            <a:fillRect/>
          </a:stretch>
        </p:blipFill>
        <p:spPr>
          <a:xfrm>
            <a:off x="7726680" y="1737360"/>
            <a:ext cx="3840480" cy="2203039"/>
          </a:xfrm>
          <a:prstGeom prst="rect">
            <a:avLst/>
          </a:prstGeom>
        </p:spPr>
      </p:pic>
      <p:sp>
        <p:nvSpPr>
          <p:cNvPr id="9" name="Text 6"/>
          <p:cNvSpPr txBox="1"/>
          <p:nvPr/>
        </p:nvSpPr>
        <p:spPr>
          <a:xfrm>
            <a:off x="7635240" y="4297680"/>
            <a:ext cx="4023360" cy="365760"/>
          </a:xfrm>
          <a:prstGeom prst="rect">
            <a:avLst/>
          </a:prstGeom>
          <a:noFill/>
          <a:ln/>
        </p:spPr>
        <p:txBody>
          <a:bodyPr wrap="square" lIns="0" tIns="0" rIns="0" bIns="0" rtlCol="0" anchor="t"/>
          <a:lstStyle/>
          <a:p>
            <a:pPr algn="ctr" indent="0" marL="0">
              <a:buNone/>
            </a:pPr>
            <a:r>
              <a:rPr lang="en-US" sz="1200" i="1" dirty="0">
                <a:solidFill>
                  <a:srgbClr val="5B6478"/>
                </a:solidFill>
                <a:latin typeface="Calibri" pitchFamily="34" charset="0"/>
                <a:ea typeface="Calibri" pitchFamily="34" charset="-122"/>
                <a:cs typeface="Calibri" pitchFamily="34" charset="-120"/>
              </a:rPr>
              <a:t>Sơ đồ phân cấp tứ giác lưu trong Neo4j</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Nội dung trình bày</a:t>
            </a:r>
            <a:endParaRPr lang="en-US" sz="32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4" name="Text 2"/>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48640" y="155448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6" name="Shape 4"/>
          <p:cNvSpPr/>
          <p:nvPr/>
        </p:nvSpPr>
        <p:spPr>
          <a:xfrm>
            <a:off x="868680" y="1874520"/>
            <a:ext cx="640080" cy="640080"/>
          </a:xfrm>
          <a:prstGeom prst="ellipse">
            <a:avLst/>
          </a:prstGeom>
          <a:solidFill>
            <a:srgbClr val="2F5BEA"/>
          </a:solidFill>
          <a:ln w="12700">
            <a:solidFill>
              <a:srgbClr val="2F5BEA"/>
            </a:solidFill>
            <a:prstDash val="solid"/>
          </a:ln>
        </p:spPr>
      </p:sp>
      <p:sp>
        <p:nvSpPr>
          <p:cNvPr id="7" name="Text 5"/>
          <p:cNvSpPr txBox="1"/>
          <p:nvPr/>
        </p:nvSpPr>
        <p:spPr>
          <a:xfrm>
            <a:off x="86868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8" name="Text 6"/>
          <p:cNvSpPr txBox="1"/>
          <p:nvPr/>
        </p:nvSpPr>
        <p:spPr>
          <a:xfrm>
            <a:off x="868680" y="265176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Đặt vấn đề &amp; mục tiêu</a:t>
            </a:r>
            <a:endParaRPr lang="en-US" sz="1700" dirty="0"/>
          </a:p>
        </p:txBody>
      </p:sp>
      <p:sp>
        <p:nvSpPr>
          <p:cNvPr id="9" name="Text 7"/>
          <p:cNvSpPr txBox="1"/>
          <p:nvPr/>
        </p:nvSpPr>
        <p:spPr>
          <a:xfrm>
            <a:off x="868680" y="306324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Bài toán nhận dạng tứ giác và vì sao cần mô hình hoá</a:t>
            </a:r>
            <a:endParaRPr lang="en-US" sz="1300" dirty="0"/>
          </a:p>
        </p:txBody>
      </p:sp>
      <p:sp>
        <p:nvSpPr>
          <p:cNvPr id="10" name="Shape 8"/>
          <p:cNvSpPr/>
          <p:nvPr/>
        </p:nvSpPr>
        <p:spPr>
          <a:xfrm>
            <a:off x="4297680" y="155448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Shape 9"/>
          <p:cNvSpPr/>
          <p:nvPr/>
        </p:nvSpPr>
        <p:spPr>
          <a:xfrm>
            <a:off x="4617720" y="1874520"/>
            <a:ext cx="640080" cy="640080"/>
          </a:xfrm>
          <a:prstGeom prst="ellipse">
            <a:avLst/>
          </a:prstGeom>
          <a:solidFill>
            <a:srgbClr val="2F5BEA"/>
          </a:solidFill>
          <a:ln w="12700">
            <a:solidFill>
              <a:srgbClr val="2F5BEA"/>
            </a:solidFill>
            <a:prstDash val="solid"/>
          </a:ln>
        </p:spPr>
      </p:sp>
      <p:sp>
        <p:nvSpPr>
          <p:cNvPr id="12" name="Text 10"/>
          <p:cNvSpPr txBox="1"/>
          <p:nvPr/>
        </p:nvSpPr>
        <p:spPr>
          <a:xfrm>
            <a:off x="461772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4617720" y="265176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Cơ sở lý thuyết</a:t>
            </a:r>
            <a:endParaRPr lang="en-US" sz="1700" dirty="0"/>
          </a:p>
        </p:txBody>
      </p:sp>
      <p:sp>
        <p:nvSpPr>
          <p:cNvPr id="14" name="Text 12"/>
          <p:cNvSpPr txBox="1"/>
          <p:nvPr/>
        </p:nvSpPr>
        <p:spPr>
          <a:xfrm>
            <a:off x="4617720" y="306324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Phân cấp tứ giác, dấu hiệu nhận biết, công thức</a:t>
            </a:r>
            <a:endParaRPr lang="en-US" sz="1300" dirty="0"/>
          </a:p>
        </p:txBody>
      </p:sp>
      <p:sp>
        <p:nvSpPr>
          <p:cNvPr id="15" name="Shape 13"/>
          <p:cNvSpPr/>
          <p:nvPr/>
        </p:nvSpPr>
        <p:spPr>
          <a:xfrm>
            <a:off x="8046720" y="155448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6" name="Shape 14"/>
          <p:cNvSpPr/>
          <p:nvPr/>
        </p:nvSpPr>
        <p:spPr>
          <a:xfrm>
            <a:off x="8366760" y="1874520"/>
            <a:ext cx="640080" cy="640080"/>
          </a:xfrm>
          <a:prstGeom prst="ellipse">
            <a:avLst/>
          </a:prstGeom>
          <a:solidFill>
            <a:srgbClr val="2F5BEA"/>
          </a:solidFill>
          <a:ln w="12700">
            <a:solidFill>
              <a:srgbClr val="2F5BEA"/>
            </a:solidFill>
            <a:prstDash val="solid"/>
          </a:ln>
        </p:spPr>
      </p:sp>
      <p:sp>
        <p:nvSpPr>
          <p:cNvPr id="17" name="Text 15"/>
          <p:cNvSpPr txBox="1"/>
          <p:nvPr/>
        </p:nvSpPr>
        <p:spPr>
          <a:xfrm>
            <a:off x="836676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03</a:t>
            </a:r>
            <a:endParaRPr lang="en-US" sz="1600" dirty="0"/>
          </a:p>
        </p:txBody>
      </p:sp>
      <p:sp>
        <p:nvSpPr>
          <p:cNvPr id="18" name="Text 16"/>
          <p:cNvSpPr txBox="1"/>
          <p:nvPr/>
        </p:nvSpPr>
        <p:spPr>
          <a:xfrm>
            <a:off x="8366760" y="265176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Mô hình dữ liệu Neo4j</a:t>
            </a:r>
            <a:endParaRPr lang="en-US" sz="1700" dirty="0"/>
          </a:p>
        </p:txBody>
      </p:sp>
      <p:sp>
        <p:nvSpPr>
          <p:cNvPr id="19" name="Text 17"/>
          <p:cNvSpPr txBox="1"/>
          <p:nvPr/>
        </p:nvSpPr>
        <p:spPr>
          <a:xfrm>
            <a:off x="8366760" y="306324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5 loại nút, 10 loại quan hệ</a:t>
            </a:r>
            <a:endParaRPr lang="en-US" sz="1300" dirty="0"/>
          </a:p>
        </p:txBody>
      </p:sp>
      <p:sp>
        <p:nvSpPr>
          <p:cNvPr id="20" name="Shape 18"/>
          <p:cNvSpPr/>
          <p:nvPr/>
        </p:nvSpPr>
        <p:spPr>
          <a:xfrm>
            <a:off x="548640" y="388620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1" name="Shape 19"/>
          <p:cNvSpPr/>
          <p:nvPr/>
        </p:nvSpPr>
        <p:spPr>
          <a:xfrm>
            <a:off x="868680" y="4206240"/>
            <a:ext cx="640080" cy="640080"/>
          </a:xfrm>
          <a:prstGeom prst="ellipse">
            <a:avLst/>
          </a:prstGeom>
          <a:solidFill>
            <a:srgbClr val="2F5BEA"/>
          </a:solidFill>
          <a:ln w="12700">
            <a:solidFill>
              <a:srgbClr val="2F5BEA"/>
            </a:solidFill>
            <a:prstDash val="solid"/>
          </a:ln>
        </p:spPr>
      </p:sp>
      <p:sp>
        <p:nvSpPr>
          <p:cNvPr id="22" name="Text 20"/>
          <p:cNvSpPr txBox="1"/>
          <p:nvPr/>
        </p:nvSpPr>
        <p:spPr>
          <a:xfrm>
            <a:off x="868680" y="42062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04</a:t>
            </a:r>
            <a:endParaRPr lang="en-US" sz="1600" dirty="0"/>
          </a:p>
        </p:txBody>
      </p:sp>
      <p:sp>
        <p:nvSpPr>
          <p:cNvPr id="23" name="Text 21"/>
          <p:cNvSpPr txBox="1"/>
          <p:nvPr/>
        </p:nvSpPr>
        <p:spPr>
          <a:xfrm>
            <a:off x="868680" y="498348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Thuật toán suy luận</a:t>
            </a:r>
            <a:endParaRPr lang="en-US" sz="1700" dirty="0"/>
          </a:p>
        </p:txBody>
      </p:sp>
      <p:sp>
        <p:nvSpPr>
          <p:cNvPr id="24" name="Text 22"/>
          <p:cNvSpPr txBox="1"/>
          <p:nvPr/>
        </p:nvSpPr>
        <p:spPr>
          <a:xfrm>
            <a:off x="868680" y="539496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Suy luận tiến trên đồ thị tri thức</a:t>
            </a:r>
            <a:endParaRPr lang="en-US" sz="1300" dirty="0"/>
          </a:p>
        </p:txBody>
      </p:sp>
      <p:sp>
        <p:nvSpPr>
          <p:cNvPr id="25" name="Shape 23"/>
          <p:cNvSpPr/>
          <p:nvPr/>
        </p:nvSpPr>
        <p:spPr>
          <a:xfrm>
            <a:off x="4297680" y="388620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6" name="Shape 24"/>
          <p:cNvSpPr/>
          <p:nvPr/>
        </p:nvSpPr>
        <p:spPr>
          <a:xfrm>
            <a:off x="4617720" y="4206240"/>
            <a:ext cx="640080" cy="640080"/>
          </a:xfrm>
          <a:prstGeom prst="ellipse">
            <a:avLst/>
          </a:prstGeom>
          <a:solidFill>
            <a:srgbClr val="2F5BEA"/>
          </a:solidFill>
          <a:ln w="12700">
            <a:solidFill>
              <a:srgbClr val="2F5BEA"/>
            </a:solidFill>
            <a:prstDash val="solid"/>
          </a:ln>
        </p:spPr>
      </p:sp>
      <p:sp>
        <p:nvSpPr>
          <p:cNvPr id="27" name="Text 25"/>
          <p:cNvSpPr txBox="1"/>
          <p:nvPr/>
        </p:nvSpPr>
        <p:spPr>
          <a:xfrm>
            <a:off x="4617720" y="42062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05</a:t>
            </a:r>
            <a:endParaRPr lang="en-US" sz="1600" dirty="0"/>
          </a:p>
        </p:txBody>
      </p:sp>
      <p:sp>
        <p:nvSpPr>
          <p:cNvPr id="28" name="Text 26"/>
          <p:cNvSpPr txBox="1"/>
          <p:nvPr/>
        </p:nvSpPr>
        <p:spPr>
          <a:xfrm>
            <a:off x="4617720" y="498348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Demo hệ thống</a:t>
            </a:r>
            <a:endParaRPr lang="en-US" sz="1700" dirty="0"/>
          </a:p>
        </p:txBody>
      </p:sp>
      <p:sp>
        <p:nvSpPr>
          <p:cNvPr id="29" name="Text 27"/>
          <p:cNvSpPr txBox="1"/>
          <p:nvPr/>
        </p:nvSpPr>
        <p:spPr>
          <a:xfrm>
            <a:off x="4617720" y="539496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Nhận dạng, tính toán, trò chơi Thử thách</a:t>
            </a:r>
            <a:endParaRPr lang="en-US" sz="1300" dirty="0"/>
          </a:p>
        </p:txBody>
      </p:sp>
      <p:sp>
        <p:nvSpPr>
          <p:cNvPr id="30" name="Shape 28"/>
          <p:cNvSpPr/>
          <p:nvPr/>
        </p:nvSpPr>
        <p:spPr>
          <a:xfrm>
            <a:off x="8046720" y="388620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1" name="Shape 29"/>
          <p:cNvSpPr/>
          <p:nvPr/>
        </p:nvSpPr>
        <p:spPr>
          <a:xfrm>
            <a:off x="8366760" y="4206240"/>
            <a:ext cx="640080" cy="640080"/>
          </a:xfrm>
          <a:prstGeom prst="ellipse">
            <a:avLst/>
          </a:prstGeom>
          <a:solidFill>
            <a:srgbClr val="2F5BEA"/>
          </a:solidFill>
          <a:ln w="12700">
            <a:solidFill>
              <a:srgbClr val="2F5BEA"/>
            </a:solidFill>
            <a:prstDash val="solid"/>
          </a:ln>
        </p:spPr>
      </p:sp>
      <p:sp>
        <p:nvSpPr>
          <p:cNvPr id="32" name="Text 30"/>
          <p:cNvSpPr txBox="1"/>
          <p:nvPr/>
        </p:nvSpPr>
        <p:spPr>
          <a:xfrm>
            <a:off x="8366760" y="42062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06</a:t>
            </a:r>
            <a:endParaRPr lang="en-US" sz="1600" dirty="0"/>
          </a:p>
        </p:txBody>
      </p:sp>
      <p:sp>
        <p:nvSpPr>
          <p:cNvPr id="33" name="Text 31"/>
          <p:cNvSpPr txBox="1"/>
          <p:nvPr/>
        </p:nvSpPr>
        <p:spPr>
          <a:xfrm>
            <a:off x="8366760" y="498348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Kết quả &amp; hướng phát triển</a:t>
            </a:r>
            <a:endParaRPr lang="en-US" sz="1700" dirty="0"/>
          </a:p>
        </p:txBody>
      </p:sp>
      <p:sp>
        <p:nvSpPr>
          <p:cNvPr id="34" name="Text 32"/>
          <p:cNvSpPr txBox="1"/>
          <p:nvPr/>
        </p:nvSpPr>
        <p:spPr>
          <a:xfrm>
            <a:off x="8366760" y="539496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Đánh giá, hạn chế, mở rộng</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Đặt vấn đề &amp; mục tiêu</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3</a:t>
            </a:r>
            <a:endParaRPr lang="en-US" sz="1000" dirty="0"/>
          </a:p>
        </p:txBody>
      </p:sp>
      <p:sp>
        <p:nvSpPr>
          <p:cNvPr id="7" name="Text 5"/>
          <p:cNvSpPr txBox="1"/>
          <p:nvPr/>
        </p:nvSpPr>
        <p:spPr>
          <a:xfrm>
            <a:off x="548640" y="1325880"/>
            <a:ext cx="5394960" cy="1188720"/>
          </a:xfrm>
          <a:prstGeom prst="rect">
            <a:avLst/>
          </a:prstGeom>
          <a:noFill/>
          <a:ln/>
        </p:spPr>
        <p:txBody>
          <a:bodyPr wrap="square" lIns="0" tIns="0" rIns="0" bIns="0" rtlCol="0" anchor="t"/>
          <a:lstStyle/>
          <a:p>
            <a:pPr indent="0" marL="0">
              <a:buNone/>
            </a:pPr>
            <a:r>
              <a:rPr lang="en-US" sz="1600" dirty="0">
                <a:solidFill>
                  <a:srgbClr val="1D2433"/>
                </a:solidFill>
                <a:latin typeface="Calibri" pitchFamily="34" charset="0"/>
                <a:ea typeface="Calibri" pitchFamily="34" charset="-122"/>
                <a:cs typeface="Calibri" pitchFamily="34" charset="-120"/>
              </a:rPr>
              <a:t>Các loại tứ giác có quan hệ bao hàm chằng chịt: hình vuông vừa là hình chữ nhật vừa là hình thoi; hình chữ nhật lại là hình bình hành, hình thang cân… Học sinh thường nhầm khi nhận dạng.</a:t>
            </a:r>
            <a:endParaRPr lang="en-US" sz="1600" dirty="0"/>
          </a:p>
        </p:txBody>
      </p:sp>
      <p:sp>
        <p:nvSpPr>
          <p:cNvPr id="8" name="Text 6"/>
          <p:cNvSpPr txBox="1"/>
          <p:nvPr/>
        </p:nvSpPr>
        <p:spPr>
          <a:xfrm>
            <a:off x="548640" y="2606040"/>
            <a:ext cx="5394960" cy="365760"/>
          </a:xfrm>
          <a:prstGeom prst="rect">
            <a:avLst/>
          </a:prstGeom>
          <a:noFill/>
          <a:ln/>
        </p:spPr>
        <p:txBody>
          <a:bodyPr wrap="square" lIns="0" tIns="0" rIns="0" bIns="0" rtlCol="0" anchor="t"/>
          <a:lstStyle/>
          <a:p>
            <a:pPr indent="0" marL="0">
              <a:buNone/>
            </a:pPr>
            <a:r>
              <a:rPr lang="en-US" sz="1600" b="1" dirty="0">
                <a:solidFill>
                  <a:srgbClr val="1B2540"/>
                </a:solidFill>
                <a:latin typeface="Calibri" pitchFamily="34" charset="0"/>
                <a:ea typeface="Calibri" pitchFamily="34" charset="-122"/>
                <a:cs typeface="Calibri" pitchFamily="34" charset="-120"/>
              </a:rPr>
              <a:t>Câu hỏi hệ thống cần trả lời:</a:t>
            </a:r>
            <a:endParaRPr lang="en-US" sz="1600" dirty="0"/>
          </a:p>
        </p:txBody>
      </p:sp>
      <p:sp>
        <p:nvSpPr>
          <p:cNvPr id="9" name="Shape 7"/>
          <p:cNvSpPr/>
          <p:nvPr/>
        </p:nvSpPr>
        <p:spPr>
          <a:xfrm>
            <a:off x="548640" y="3063240"/>
            <a:ext cx="5394960" cy="1371600"/>
          </a:xfrm>
          <a:prstGeom prst="roundRect">
            <a:avLst>
              <a:gd name="adj" fmla="val 8000"/>
            </a:avLst>
          </a:prstGeom>
          <a:solidFill>
            <a:srgbClr val="E3F6EE"/>
          </a:solidFill>
          <a:ln w="9525">
            <a:solidFill>
              <a:srgbClr val="E3F6EE"/>
            </a:solidFill>
            <a:prstDash val="solid"/>
          </a:ln>
        </p:spPr>
      </p:sp>
      <p:sp>
        <p:nvSpPr>
          <p:cNvPr id="10" name="Text 8"/>
          <p:cNvSpPr txBox="1"/>
          <p:nvPr/>
        </p:nvSpPr>
        <p:spPr>
          <a:xfrm>
            <a:off x="777240" y="3200400"/>
            <a:ext cx="4937760" cy="685800"/>
          </a:xfrm>
          <a:prstGeom prst="rect">
            <a:avLst/>
          </a:prstGeom>
          <a:noFill/>
          <a:ln/>
        </p:spPr>
        <p:txBody>
          <a:bodyPr wrap="square" lIns="0" tIns="0" rIns="0" bIns="0" rtlCol="0" anchor="t"/>
          <a:lstStyle/>
          <a:p>
            <a:pPr indent="0" marL="0">
              <a:buNone/>
            </a:pPr>
            <a:r>
              <a:rPr lang="en-US" sz="1500" i="1" dirty="0">
                <a:solidFill>
                  <a:srgbClr val="1D2433"/>
                </a:solidFill>
                <a:latin typeface="Calibri" pitchFamily="34" charset="0"/>
                <a:ea typeface="Calibri" pitchFamily="34" charset="-122"/>
                <a:cs typeface="Calibri" pitchFamily="34" charset="-120"/>
              </a:rPr>
              <a:t>“Hình bình hành có hai đường chéo vuông góc và bằng nhau là hình gì?”</a:t>
            </a:r>
            <a:endParaRPr lang="en-US" sz="1500" dirty="0"/>
          </a:p>
        </p:txBody>
      </p:sp>
      <p:sp>
        <p:nvSpPr>
          <p:cNvPr id="11" name="Text 9"/>
          <p:cNvSpPr txBox="1"/>
          <p:nvPr/>
        </p:nvSpPr>
        <p:spPr>
          <a:xfrm>
            <a:off x="777240" y="3886200"/>
            <a:ext cx="4937760" cy="411480"/>
          </a:xfrm>
          <a:prstGeom prst="rect">
            <a:avLst/>
          </a:prstGeom>
          <a:noFill/>
          <a:ln/>
        </p:spPr>
        <p:txBody>
          <a:bodyPr wrap="square" lIns="0" tIns="0" rIns="0" bIns="0" rtlCol="0" anchor="t"/>
          <a:lstStyle/>
          <a:p>
            <a:pPr indent="0" marL="0">
              <a:buNone/>
            </a:pPr>
            <a:r>
              <a:rPr lang="en-US" sz="1500" b="1" dirty="0">
                <a:solidFill>
                  <a:srgbClr val="0F8A5F"/>
                </a:solidFill>
                <a:latin typeface="Calibri" pitchFamily="34" charset="0"/>
                <a:ea typeface="Calibri" pitchFamily="34" charset="-122"/>
                <a:cs typeface="Calibri" pitchFamily="34" charset="-120"/>
              </a:rPr>
              <a:t>⟹ Hình vuông</a:t>
            </a:r>
            <a:endParaRPr lang="en-US" sz="1500" dirty="0"/>
          </a:p>
        </p:txBody>
      </p:sp>
      <p:sp>
        <p:nvSpPr>
          <p:cNvPr id="12" name="Shape 10"/>
          <p:cNvSpPr/>
          <p:nvPr/>
        </p:nvSpPr>
        <p:spPr>
          <a:xfrm>
            <a:off x="548640" y="4617720"/>
            <a:ext cx="5394960" cy="1371600"/>
          </a:xfrm>
          <a:prstGeom prst="roundRect">
            <a:avLst>
              <a:gd name="adj" fmla="val 8000"/>
            </a:avLst>
          </a:prstGeom>
          <a:solidFill>
            <a:srgbClr val="FFF4DC"/>
          </a:solidFill>
          <a:ln w="9525">
            <a:solidFill>
              <a:srgbClr val="FFF4DC"/>
            </a:solidFill>
            <a:prstDash val="solid"/>
          </a:ln>
        </p:spPr>
      </p:sp>
      <p:sp>
        <p:nvSpPr>
          <p:cNvPr id="13" name="Text 11"/>
          <p:cNvSpPr txBox="1"/>
          <p:nvPr/>
        </p:nvSpPr>
        <p:spPr>
          <a:xfrm>
            <a:off x="777240" y="4754880"/>
            <a:ext cx="4937760" cy="685800"/>
          </a:xfrm>
          <a:prstGeom prst="rect">
            <a:avLst/>
          </a:prstGeom>
          <a:noFill/>
          <a:ln/>
        </p:spPr>
        <p:txBody>
          <a:bodyPr wrap="square" lIns="0" tIns="0" rIns="0" bIns="0" rtlCol="0" anchor="t"/>
          <a:lstStyle/>
          <a:p>
            <a:pPr indent="0" marL="0">
              <a:buNone/>
            </a:pPr>
            <a:r>
              <a:rPr lang="en-US" sz="1500" i="1" dirty="0">
                <a:solidFill>
                  <a:srgbClr val="1D2433"/>
                </a:solidFill>
                <a:latin typeface="Calibri" pitchFamily="34" charset="0"/>
                <a:ea typeface="Calibri" pitchFamily="34" charset="-122"/>
                <a:cs typeface="Calibri" pitchFamily="34" charset="-120"/>
              </a:rPr>
              <a:t>“Hình thang có một cặp cạnh song song, cặp còn lại bằng nhau là hình gì?”</a:t>
            </a:r>
            <a:endParaRPr lang="en-US" sz="1500" dirty="0"/>
          </a:p>
        </p:txBody>
      </p:sp>
      <p:sp>
        <p:nvSpPr>
          <p:cNvPr id="14" name="Text 12"/>
          <p:cNvSpPr txBox="1"/>
          <p:nvPr/>
        </p:nvSpPr>
        <p:spPr>
          <a:xfrm>
            <a:off x="777240" y="5440680"/>
            <a:ext cx="4937760" cy="411480"/>
          </a:xfrm>
          <a:prstGeom prst="rect">
            <a:avLst/>
          </a:prstGeom>
          <a:noFill/>
          <a:ln/>
        </p:spPr>
        <p:txBody>
          <a:bodyPr wrap="square" lIns="0" tIns="0" rIns="0" bIns="0" rtlCol="0" anchor="t"/>
          <a:lstStyle/>
          <a:p>
            <a:pPr indent="0" marL="0">
              <a:buNone/>
            </a:pPr>
            <a:r>
              <a:rPr lang="en-US" sz="1500" b="1" dirty="0">
                <a:solidFill>
                  <a:srgbClr val="B45309"/>
                </a:solidFill>
                <a:latin typeface="Calibri" pitchFamily="34" charset="0"/>
                <a:ea typeface="Calibri" pitchFamily="34" charset="-122"/>
                <a:cs typeface="Calibri" pitchFamily="34" charset="-120"/>
              </a:rPr>
              <a:t>⟹ Chưa đủ dữ kiện: hình thang cân hoặc hình bình hành</a:t>
            </a:r>
            <a:endParaRPr lang="en-US" sz="1500" dirty="0"/>
          </a:p>
        </p:txBody>
      </p:sp>
      <p:sp>
        <p:nvSpPr>
          <p:cNvPr id="15" name="Text 13"/>
          <p:cNvSpPr txBox="1"/>
          <p:nvPr/>
        </p:nvSpPr>
        <p:spPr>
          <a:xfrm>
            <a:off x="6492240" y="1325880"/>
            <a:ext cx="5120640" cy="411480"/>
          </a:xfrm>
          <a:prstGeom prst="rect">
            <a:avLst/>
          </a:prstGeom>
          <a:noFill/>
          <a:ln/>
        </p:spPr>
        <p:txBody>
          <a:bodyPr wrap="square" lIns="0" tIns="0" rIns="0" bIns="0" rtlCol="0" anchor="t"/>
          <a:lstStyle/>
          <a:p>
            <a:pPr indent="0" marL="0">
              <a:buNone/>
            </a:pPr>
            <a:r>
              <a:rPr lang="en-US" sz="2000" b="1" dirty="0">
                <a:solidFill>
                  <a:srgbClr val="1B2540"/>
                </a:solidFill>
                <a:latin typeface="Cambria" pitchFamily="34" charset="0"/>
                <a:ea typeface="Cambria" pitchFamily="34" charset="-122"/>
                <a:cs typeface="Cambria" pitchFamily="34" charset="-120"/>
              </a:rPr>
              <a:t>Mục tiêu</a:t>
            </a:r>
            <a:endParaRPr lang="en-US" sz="2000" dirty="0"/>
          </a:p>
        </p:txBody>
      </p:sp>
      <p:sp>
        <p:nvSpPr>
          <p:cNvPr id="16" name="Shape 14"/>
          <p:cNvSpPr/>
          <p:nvPr/>
        </p:nvSpPr>
        <p:spPr>
          <a:xfrm>
            <a:off x="6492240" y="1920240"/>
            <a:ext cx="502920" cy="502920"/>
          </a:xfrm>
          <a:prstGeom prst="ellipse">
            <a:avLst/>
          </a:prstGeom>
          <a:solidFill>
            <a:srgbClr val="2F5BEA"/>
          </a:solidFill>
          <a:ln w="12700">
            <a:solidFill>
              <a:srgbClr val="2F5BEA"/>
            </a:solidFill>
            <a:prstDash val="solid"/>
          </a:ln>
        </p:spPr>
      </p:sp>
      <p:sp>
        <p:nvSpPr>
          <p:cNvPr id="17" name="Text 15"/>
          <p:cNvSpPr txBox="1"/>
          <p:nvPr/>
        </p:nvSpPr>
        <p:spPr>
          <a:xfrm>
            <a:off x="649224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8" name="Text 16"/>
          <p:cNvSpPr txBox="1"/>
          <p:nvPr/>
        </p:nvSpPr>
        <p:spPr>
          <a:xfrm>
            <a:off x="7178040" y="1874520"/>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Mô hình hoá tri thức</a:t>
            </a:r>
            <a:endParaRPr lang="en-US" sz="1700" dirty="0"/>
          </a:p>
        </p:txBody>
      </p:sp>
      <p:sp>
        <p:nvSpPr>
          <p:cNvPr id="19" name="Text 17"/>
          <p:cNvSpPr txBox="1"/>
          <p:nvPr/>
        </p:nvSpPr>
        <p:spPr>
          <a:xfrm>
            <a:off x="7178040" y="2240280"/>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Hình, tính chất, dấu hiệu nhận biết và công thức thành đồ thị trong Neo4j</a:t>
            </a:r>
            <a:endParaRPr lang="en-US" sz="1400" dirty="0"/>
          </a:p>
        </p:txBody>
      </p:sp>
      <p:sp>
        <p:nvSpPr>
          <p:cNvPr id="20" name="Shape 18"/>
          <p:cNvSpPr/>
          <p:nvPr/>
        </p:nvSpPr>
        <p:spPr>
          <a:xfrm>
            <a:off x="6492240" y="3035808"/>
            <a:ext cx="502920" cy="502920"/>
          </a:xfrm>
          <a:prstGeom prst="ellipse">
            <a:avLst/>
          </a:prstGeom>
          <a:solidFill>
            <a:srgbClr val="2F5BEA"/>
          </a:solidFill>
          <a:ln w="12700">
            <a:solidFill>
              <a:srgbClr val="2F5BEA"/>
            </a:solidFill>
            <a:prstDash val="solid"/>
          </a:ln>
        </p:spPr>
      </p:sp>
      <p:sp>
        <p:nvSpPr>
          <p:cNvPr id="21" name="Text 19"/>
          <p:cNvSpPr txBox="1"/>
          <p:nvPr/>
        </p:nvSpPr>
        <p:spPr>
          <a:xfrm>
            <a:off x="6492240" y="303580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2" name="Text 20"/>
          <p:cNvSpPr txBox="1"/>
          <p:nvPr/>
        </p:nvSpPr>
        <p:spPr>
          <a:xfrm>
            <a:off x="7178040" y="2990088"/>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Suy luận tự động</a:t>
            </a:r>
            <a:endParaRPr lang="en-US" sz="1700" dirty="0"/>
          </a:p>
        </p:txBody>
      </p:sp>
      <p:sp>
        <p:nvSpPr>
          <p:cNvPr id="23" name="Text 21"/>
          <p:cNvSpPr txBox="1"/>
          <p:nvPr/>
        </p:nvSpPr>
        <p:spPr>
          <a:xfrm>
            <a:off x="7178040" y="3355848"/>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Suy luận tiến bằng Cypher, đưa ra kết luận kèm lời giải từng bước</a:t>
            </a:r>
            <a:endParaRPr lang="en-US" sz="1400" dirty="0"/>
          </a:p>
        </p:txBody>
      </p:sp>
      <p:sp>
        <p:nvSpPr>
          <p:cNvPr id="24" name="Shape 22"/>
          <p:cNvSpPr/>
          <p:nvPr/>
        </p:nvSpPr>
        <p:spPr>
          <a:xfrm>
            <a:off x="6492240" y="4151376"/>
            <a:ext cx="502920" cy="502920"/>
          </a:xfrm>
          <a:prstGeom prst="ellipse">
            <a:avLst/>
          </a:prstGeom>
          <a:solidFill>
            <a:srgbClr val="2F5BEA"/>
          </a:solidFill>
          <a:ln w="12700">
            <a:solidFill>
              <a:srgbClr val="2F5BEA"/>
            </a:solidFill>
            <a:prstDash val="solid"/>
          </a:ln>
        </p:spPr>
      </p:sp>
      <p:sp>
        <p:nvSpPr>
          <p:cNvPr id="25" name="Text 23"/>
          <p:cNvSpPr txBox="1"/>
          <p:nvPr/>
        </p:nvSpPr>
        <p:spPr>
          <a:xfrm>
            <a:off x="6492240" y="415137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4"/>
          <p:cNvSpPr txBox="1"/>
          <p:nvPr/>
        </p:nvSpPr>
        <p:spPr>
          <a:xfrm>
            <a:off x="7178040" y="4105656"/>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Phát hiện bất thường</a:t>
            </a:r>
            <a:endParaRPr lang="en-US" sz="1700" dirty="0"/>
          </a:p>
        </p:txBody>
      </p:sp>
      <p:sp>
        <p:nvSpPr>
          <p:cNvPr id="27" name="Text 25"/>
          <p:cNvSpPr txBox="1"/>
          <p:nvPr/>
        </p:nvSpPr>
        <p:spPr>
          <a:xfrm>
            <a:off x="7178040" y="4471416"/>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Nhận ra giả thiết chưa đủ để kết luận hoặc mâu thuẫn</a:t>
            </a:r>
            <a:endParaRPr lang="en-US" sz="1400" dirty="0"/>
          </a:p>
        </p:txBody>
      </p:sp>
      <p:sp>
        <p:nvSpPr>
          <p:cNvPr id="28" name="Shape 26"/>
          <p:cNvSpPr/>
          <p:nvPr/>
        </p:nvSpPr>
        <p:spPr>
          <a:xfrm>
            <a:off x="6492240" y="5266944"/>
            <a:ext cx="502920" cy="502920"/>
          </a:xfrm>
          <a:prstGeom prst="ellipse">
            <a:avLst/>
          </a:prstGeom>
          <a:solidFill>
            <a:srgbClr val="2F5BEA"/>
          </a:solidFill>
          <a:ln w="12700">
            <a:solidFill>
              <a:srgbClr val="2F5BEA"/>
            </a:solidFill>
            <a:prstDash val="solid"/>
          </a:ln>
        </p:spPr>
      </p:sp>
      <p:sp>
        <p:nvSpPr>
          <p:cNvPr id="29" name="Text 27"/>
          <p:cNvSpPr txBox="1"/>
          <p:nvPr/>
        </p:nvSpPr>
        <p:spPr>
          <a:xfrm>
            <a:off x="6492240" y="526694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0" name="Text 28"/>
          <p:cNvSpPr txBox="1"/>
          <p:nvPr/>
        </p:nvSpPr>
        <p:spPr>
          <a:xfrm>
            <a:off x="7178040" y="5221224"/>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Tính toán &amp; giao diện</a:t>
            </a:r>
            <a:endParaRPr lang="en-US" sz="1700" dirty="0"/>
          </a:p>
        </p:txBody>
      </p:sp>
      <p:sp>
        <p:nvSpPr>
          <p:cNvPr id="31" name="Text 29"/>
          <p:cNvSpPr txBox="1"/>
          <p:nvPr/>
        </p:nvSpPr>
        <p:spPr>
          <a:xfrm>
            <a:off x="7178040" y="5586984"/>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Nhập số liệu để tính diện tích, chu vi; giao diện web trực quan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Cơ sở lý thuyết: phân cấp tứ giác</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Quan hệ “A là một B” — hình A là trường hợp đặc biệt của hình B</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4</a:t>
            </a:r>
            <a:endParaRPr lang="en-US" sz="1000" dirty="0"/>
          </a:p>
        </p:txBody>
      </p:sp>
      <p:sp>
        <p:nvSpPr>
          <p:cNvPr id="8" name="Shape 6"/>
          <p:cNvSpPr/>
          <p:nvPr/>
        </p:nvSpPr>
        <p:spPr>
          <a:xfrm>
            <a:off x="548640" y="1508760"/>
            <a:ext cx="6949440" cy="4754880"/>
          </a:xfrm>
          <a:prstGeom prst="roundRect">
            <a:avLst>
              <a:gd name="adj" fmla="val 2308"/>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pic>
        <p:nvPicPr>
          <p:cNvPr id="9" name="Image 0" descr="/tmp/claude-0/-home-claude/98539f31-3192-5884-a81c-346bec00204d/scratchpad/ppt/hier.png">    </p:cNvPr>
          <p:cNvPicPr>
            <a:picLocks noChangeAspect="1"/>
          </p:cNvPicPr>
          <p:nvPr/>
        </p:nvPicPr>
        <p:blipFill>
          <a:blip r:embed="rId1"/>
          <a:stretch>
            <a:fillRect/>
          </a:stretch>
        </p:blipFill>
        <p:spPr>
          <a:xfrm>
            <a:off x="685800" y="1828800"/>
            <a:ext cx="6675120" cy="3829092"/>
          </a:xfrm>
          <a:prstGeom prst="rect">
            <a:avLst/>
          </a:prstGeom>
        </p:spPr>
      </p:pic>
      <p:sp>
        <p:nvSpPr>
          <p:cNvPr id="10" name="Shape 7"/>
          <p:cNvSpPr/>
          <p:nvPr/>
        </p:nvSpPr>
        <p:spPr>
          <a:xfrm>
            <a:off x="7863840" y="1508760"/>
            <a:ext cx="3794760" cy="1417320"/>
          </a:xfrm>
          <a:prstGeom prst="roundRect">
            <a:avLst>
              <a:gd name="adj" fmla="val 7742"/>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Text 8"/>
          <p:cNvSpPr txBox="1"/>
          <p:nvPr/>
        </p:nvSpPr>
        <p:spPr>
          <a:xfrm>
            <a:off x="8092440" y="1673352"/>
            <a:ext cx="1005840" cy="685800"/>
          </a:xfrm>
          <a:prstGeom prst="rect">
            <a:avLst/>
          </a:prstGeom>
          <a:noFill/>
          <a:ln/>
        </p:spPr>
        <p:txBody>
          <a:bodyPr wrap="square" lIns="0" tIns="0" rIns="0" bIns="0" rtlCol="0" anchor="t"/>
          <a:lstStyle/>
          <a:p>
            <a:pPr indent="0" marL="0">
              <a:buNone/>
            </a:pPr>
            <a:r>
              <a:rPr lang="en-US" sz="4000" b="1" dirty="0">
                <a:solidFill>
                  <a:srgbClr val="2F5BEA"/>
                </a:solidFill>
                <a:latin typeface="Cambria" pitchFamily="34" charset="0"/>
                <a:ea typeface="Cambria" pitchFamily="34" charset="-122"/>
                <a:cs typeface="Cambria" pitchFamily="34" charset="-120"/>
              </a:rPr>
              <a:t>9</a:t>
            </a:r>
            <a:endParaRPr lang="en-US" sz="4000" dirty="0"/>
          </a:p>
        </p:txBody>
      </p:sp>
      <p:sp>
        <p:nvSpPr>
          <p:cNvPr id="12" name="Text 9"/>
          <p:cNvSpPr txBox="1"/>
          <p:nvPr/>
        </p:nvSpPr>
        <p:spPr>
          <a:xfrm>
            <a:off x="9098280" y="1801368"/>
            <a:ext cx="246888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loại hình</a:t>
            </a:r>
            <a:endParaRPr lang="en-US" sz="1700" dirty="0"/>
          </a:p>
        </p:txBody>
      </p:sp>
      <p:sp>
        <p:nvSpPr>
          <p:cNvPr id="13" name="Text 10"/>
          <p:cNvSpPr txBox="1"/>
          <p:nvPr/>
        </p:nvSpPr>
        <p:spPr>
          <a:xfrm>
            <a:off x="8092440" y="2331720"/>
            <a:ext cx="3429000" cy="54864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Tứ giác, hình thang, thang cân, thang vuông, bình hành, chữ nhật, thoi, vuông, diều</a:t>
            </a:r>
            <a:endParaRPr lang="en-US" sz="1250" dirty="0"/>
          </a:p>
        </p:txBody>
      </p:sp>
      <p:sp>
        <p:nvSpPr>
          <p:cNvPr id="14" name="Shape 11"/>
          <p:cNvSpPr/>
          <p:nvPr/>
        </p:nvSpPr>
        <p:spPr>
          <a:xfrm>
            <a:off x="7863840" y="3136392"/>
            <a:ext cx="3794760" cy="1417320"/>
          </a:xfrm>
          <a:prstGeom prst="roundRect">
            <a:avLst>
              <a:gd name="adj" fmla="val 7742"/>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5" name="Text 12"/>
          <p:cNvSpPr txBox="1"/>
          <p:nvPr/>
        </p:nvSpPr>
        <p:spPr>
          <a:xfrm>
            <a:off x="8092440" y="3300984"/>
            <a:ext cx="1005840" cy="685800"/>
          </a:xfrm>
          <a:prstGeom prst="rect">
            <a:avLst/>
          </a:prstGeom>
          <a:noFill/>
          <a:ln/>
        </p:spPr>
        <p:txBody>
          <a:bodyPr wrap="square" lIns="0" tIns="0" rIns="0" bIns="0" rtlCol="0" anchor="t"/>
          <a:lstStyle/>
          <a:p>
            <a:pPr indent="0" marL="0">
              <a:buNone/>
            </a:pPr>
            <a:r>
              <a:rPr lang="en-US" sz="4000" b="1" dirty="0">
                <a:solidFill>
                  <a:srgbClr val="2F5BEA"/>
                </a:solidFill>
                <a:latin typeface="Cambria" pitchFamily="34" charset="0"/>
                <a:ea typeface="Cambria" pitchFamily="34" charset="-122"/>
                <a:cs typeface="Cambria" pitchFamily="34" charset="-120"/>
              </a:rPr>
              <a:t>12</a:t>
            </a:r>
            <a:endParaRPr lang="en-US" sz="4000" dirty="0"/>
          </a:p>
        </p:txBody>
      </p:sp>
      <p:sp>
        <p:nvSpPr>
          <p:cNvPr id="16" name="Text 13"/>
          <p:cNvSpPr txBox="1"/>
          <p:nvPr/>
        </p:nvSpPr>
        <p:spPr>
          <a:xfrm>
            <a:off x="9098280" y="3429000"/>
            <a:ext cx="246888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quan hệ LA_MOT</a:t>
            </a:r>
            <a:endParaRPr lang="en-US" sz="1700" dirty="0"/>
          </a:p>
        </p:txBody>
      </p:sp>
      <p:sp>
        <p:nvSpPr>
          <p:cNvPr id="17" name="Text 14"/>
          <p:cNvSpPr txBox="1"/>
          <p:nvPr/>
        </p:nvSpPr>
        <p:spPr>
          <a:xfrm>
            <a:off x="8092440" y="3959352"/>
            <a:ext cx="3429000" cy="54864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Mũi tên đi từ hình đặc biệt lên hình tổng quát hơn</a:t>
            </a:r>
            <a:endParaRPr lang="en-US" sz="1250" dirty="0"/>
          </a:p>
        </p:txBody>
      </p:sp>
      <p:sp>
        <p:nvSpPr>
          <p:cNvPr id="18" name="Shape 15"/>
          <p:cNvSpPr/>
          <p:nvPr/>
        </p:nvSpPr>
        <p:spPr>
          <a:xfrm>
            <a:off x="7863840" y="4764024"/>
            <a:ext cx="3794760" cy="1417320"/>
          </a:xfrm>
          <a:prstGeom prst="roundRect">
            <a:avLst>
              <a:gd name="adj" fmla="val 7742"/>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9" name="Text 16"/>
          <p:cNvSpPr txBox="1"/>
          <p:nvPr/>
        </p:nvSpPr>
        <p:spPr>
          <a:xfrm>
            <a:off x="8092440" y="4928616"/>
            <a:ext cx="1005840" cy="685800"/>
          </a:xfrm>
          <a:prstGeom prst="rect">
            <a:avLst/>
          </a:prstGeom>
          <a:noFill/>
          <a:ln/>
        </p:spPr>
        <p:txBody>
          <a:bodyPr wrap="square" lIns="0" tIns="0" rIns="0" bIns="0" rtlCol="0" anchor="t"/>
          <a:lstStyle/>
          <a:p>
            <a:pPr indent="0" marL="0">
              <a:buNone/>
            </a:pPr>
            <a:r>
              <a:rPr lang="en-US" sz="4000" b="1" dirty="0">
                <a:solidFill>
                  <a:srgbClr val="2F5BEA"/>
                </a:solidFill>
                <a:latin typeface="Cambria" pitchFamily="34" charset="0"/>
                <a:ea typeface="Cambria" pitchFamily="34" charset="-122"/>
                <a:cs typeface="Cambria" pitchFamily="34" charset="-120"/>
              </a:rPr>
              <a:t>2</a:t>
            </a:r>
            <a:endParaRPr lang="en-US" sz="4000" dirty="0"/>
          </a:p>
        </p:txBody>
      </p:sp>
      <p:sp>
        <p:nvSpPr>
          <p:cNvPr id="20" name="Text 17"/>
          <p:cNvSpPr txBox="1"/>
          <p:nvPr/>
        </p:nvSpPr>
        <p:spPr>
          <a:xfrm>
            <a:off x="9098280" y="5056632"/>
            <a:ext cx="246888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hình cha</a:t>
            </a:r>
            <a:endParaRPr lang="en-US" sz="1700" dirty="0"/>
          </a:p>
        </p:txBody>
      </p:sp>
      <p:sp>
        <p:nvSpPr>
          <p:cNvPr id="21" name="Text 18"/>
          <p:cNvSpPr txBox="1"/>
          <p:nvPr/>
        </p:nvSpPr>
        <p:spPr>
          <a:xfrm>
            <a:off x="8092440" y="5586984"/>
            <a:ext cx="3429000" cy="54864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Hình vuông là hình chữ nhật và hình thoi ⇒ cấu trúc là đồ thị, không phải cây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Dấu hiệu nhận biết = luật suy luận</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26 dấu hiệu nhận biết trên 17 tính chất nguyên tử (cạnh, góc, đường chéo)</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5</a:t>
            </a:r>
            <a:endParaRPr lang="en-US" sz="1000" dirty="0"/>
          </a:p>
        </p:txBody>
      </p:sp>
      <p:sp>
        <p:nvSpPr>
          <p:cNvPr id="8" name="Shape 6"/>
          <p:cNvSpPr/>
          <p:nvPr/>
        </p:nvSpPr>
        <p:spPr>
          <a:xfrm>
            <a:off x="548640" y="1508760"/>
            <a:ext cx="6675120" cy="1051560"/>
          </a:xfrm>
          <a:prstGeom prst="roundRect">
            <a:avLst>
              <a:gd name="adj" fmla="val 10435"/>
            </a:avLst>
          </a:prstGeom>
          <a:solidFill>
            <a:srgbClr val="E8EEFF"/>
          </a:solidFill>
          <a:ln w="9525">
            <a:solidFill>
              <a:srgbClr val="E8EEFF"/>
            </a:solidFill>
            <a:prstDash val="solid"/>
          </a:ln>
        </p:spPr>
      </p:sp>
      <p:sp>
        <p:nvSpPr>
          <p:cNvPr id="9" name="Text 7"/>
          <p:cNvSpPr txBox="1"/>
          <p:nvPr/>
        </p:nvSpPr>
        <p:spPr>
          <a:xfrm>
            <a:off x="822960" y="1508760"/>
            <a:ext cx="6217920" cy="1051560"/>
          </a:xfrm>
          <a:prstGeom prst="rect">
            <a:avLst/>
          </a:prstGeom>
          <a:noFill/>
          <a:ln/>
        </p:spPr>
        <p:txBody>
          <a:bodyPr wrap="square" lIns="0" tIns="0" rIns="0" bIns="0" rtlCol="0" anchor="ctr"/>
          <a:lstStyle/>
          <a:p>
            <a:pPr indent="0" marL="0">
              <a:buNone/>
            </a:pPr>
            <a:r>
              <a:rPr lang="en-US" sz="2400" b="1" dirty="0">
                <a:solidFill>
                  <a:srgbClr val="2F5BEA"/>
                </a:solidFill>
                <a:latin typeface="Cambria" pitchFamily="34" charset="0"/>
                <a:ea typeface="Cambria" pitchFamily="34" charset="-122"/>
                <a:cs typeface="Cambria" pitchFamily="34" charset="-120"/>
              </a:rPr>
              <a:t>Hình X</a:t>
            </a:r>
            <a:pPr indent="0" marL="0">
              <a:buNone/>
            </a:pPr>
            <a:r>
              <a:rPr lang="en-US" sz="2400" dirty="0">
                <a:solidFill>
                  <a:srgbClr val="1D2433"/>
                </a:solidFill>
                <a:latin typeface="Cambria" pitchFamily="34" charset="0"/>
                <a:ea typeface="Cambria" pitchFamily="34" charset="-122"/>
                <a:cs typeface="Cambria" pitchFamily="34" charset="-120"/>
              </a:rPr>
              <a:t>  +  các tính chất P₁, P₂…  </a:t>
            </a:r>
            <a:pPr indent="0" marL="0">
              <a:buNone/>
            </a:pPr>
            <a:r>
              <a:rPr lang="en-US" sz="2400" b="1" dirty="0">
                <a:solidFill>
                  <a:srgbClr val="0F8A5F"/>
                </a:solidFill>
                <a:latin typeface="Cambria" pitchFamily="34" charset="0"/>
                <a:ea typeface="Cambria" pitchFamily="34" charset="-122"/>
                <a:cs typeface="Cambria" pitchFamily="34" charset="-120"/>
              </a:rPr>
              <a:t>⟹  Hình Y</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788920"/>
          <a:ext cx="6675120" cy="914400"/>
        </p:xfrm>
        <a:graphic>
          <a:graphicData uri="http://schemas.openxmlformats.org/drawingml/2006/table">
            <a:tbl>
              <a:tblPr/>
              <a:tblGrid>
                <a:gridCol w="777240"/>
                <a:gridCol w="1600200"/>
                <a:gridCol w="2743200"/>
                <a:gridCol w="15544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Mã</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Từ hình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Cần thêm</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DH06</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Tứ giác</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cặp cạnh đối song song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bình hành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DH14</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bình hành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đường chéo bằng nhau</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chữ nhật</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DH17</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bình hành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đường chéo vuông góc</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thoi</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DH20</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chữ nhật</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đường chéo vuông góc</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vuông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DH05</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thang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cạnh bên bằng nhau + không song song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thang cân</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11" name="Shape 8"/>
          <p:cNvSpPr/>
          <p:nvPr/>
        </p:nvSpPr>
        <p:spPr>
          <a:xfrm>
            <a:off x="7589520" y="1508760"/>
            <a:ext cx="4069080" cy="2011680"/>
          </a:xfrm>
          <a:prstGeom prst="roundRect">
            <a:avLst>
              <a:gd name="adj" fmla="val 5455"/>
            </a:avLst>
          </a:prstGeom>
          <a:solidFill>
            <a:srgbClr val="FFF4DC"/>
          </a:solidFill>
          <a:ln w="9525">
            <a:solidFill>
              <a:srgbClr val="F3D9A4"/>
            </a:solidFill>
            <a:prstDash val="solid"/>
          </a:ln>
        </p:spPr>
      </p:sp>
      <p:sp>
        <p:nvSpPr>
          <p:cNvPr id="12" name="Text 9"/>
          <p:cNvSpPr txBox="1"/>
          <p:nvPr/>
        </p:nvSpPr>
        <p:spPr>
          <a:xfrm>
            <a:off x="7818120" y="1691640"/>
            <a:ext cx="3657600" cy="365760"/>
          </a:xfrm>
          <a:prstGeom prst="rect">
            <a:avLst/>
          </a:prstGeom>
          <a:noFill/>
          <a:ln/>
        </p:spPr>
        <p:txBody>
          <a:bodyPr wrap="square" lIns="0" tIns="0" rIns="0" bIns="0" rtlCol="0" anchor="t"/>
          <a:lstStyle/>
          <a:p>
            <a:pPr indent="0" marL="0">
              <a:buNone/>
            </a:pPr>
            <a:r>
              <a:rPr lang="en-US" sz="1600" b="1" dirty="0">
                <a:solidFill>
                  <a:srgbClr val="B45309"/>
                </a:solidFill>
                <a:latin typeface="Calibri" pitchFamily="34" charset="0"/>
                <a:ea typeface="Calibri" pitchFamily="34" charset="-122"/>
                <a:cs typeface="Calibri" pitchFamily="34" charset="-120"/>
              </a:rPr>
              <a:t>Chưa đủ dữ kiện (luật gợi ý GY01)</a:t>
            </a:r>
            <a:endParaRPr lang="en-US" sz="1600" dirty="0"/>
          </a:p>
        </p:txBody>
      </p:sp>
      <p:sp>
        <p:nvSpPr>
          <p:cNvPr id="13" name="Text 10"/>
          <p:cNvSpPr txBox="1"/>
          <p:nvPr/>
        </p:nvSpPr>
        <p:spPr>
          <a:xfrm>
            <a:off x="7818120" y="2103120"/>
            <a:ext cx="3657600" cy="1645920"/>
          </a:xfrm>
          <a:prstGeom prst="rect">
            <a:avLst/>
          </a:prstGeom>
          <a:noFill/>
          <a:ln/>
        </p:spPr>
        <p:txBody>
          <a:bodyPr wrap="square" lIns="0" tIns="0" rIns="0" bIns="0" rtlCol="0" anchor="t"/>
          <a:lstStyle/>
          <a:p>
            <a:pPr indent="0" marL="0">
              <a:buNone/>
            </a:pPr>
            <a:r>
              <a:rPr lang="en-US" sz="1400" dirty="0">
                <a:solidFill>
                  <a:srgbClr val="1D2433"/>
                </a:solidFill>
                <a:latin typeface="Calibri" pitchFamily="34" charset="0"/>
                <a:ea typeface="Calibri" pitchFamily="34" charset="-122"/>
                <a:cs typeface="Calibri" pitchFamily="34" charset="-120"/>
              </a:rPr>
              <a:t>Hình thang có hai cạnh bên bằng nhau có thể là hình thang cân hoặc hình bình hành. Hệ thống không kết luận vội mà gợi ý cần thêm giả thiết.</a:t>
            </a:r>
            <a:endParaRPr lang="en-US" sz="1400" dirty="0"/>
          </a:p>
        </p:txBody>
      </p:sp>
      <p:sp>
        <p:nvSpPr>
          <p:cNvPr id="14" name="Shape 11"/>
          <p:cNvSpPr/>
          <p:nvPr/>
        </p:nvSpPr>
        <p:spPr>
          <a:xfrm>
            <a:off x="7589520" y="3703320"/>
            <a:ext cx="4069080" cy="1965960"/>
          </a:xfrm>
          <a:prstGeom prst="roundRect">
            <a:avLst>
              <a:gd name="adj" fmla="val 5581"/>
            </a:avLst>
          </a:prstGeom>
          <a:solidFill>
            <a:srgbClr val="FDECEB"/>
          </a:solidFill>
          <a:ln w="9525">
            <a:solidFill>
              <a:srgbClr val="F4C7C3"/>
            </a:solidFill>
            <a:prstDash val="solid"/>
          </a:ln>
        </p:spPr>
      </p:sp>
      <p:sp>
        <p:nvSpPr>
          <p:cNvPr id="15" name="Text 12"/>
          <p:cNvSpPr txBox="1"/>
          <p:nvPr/>
        </p:nvSpPr>
        <p:spPr>
          <a:xfrm>
            <a:off x="7818120" y="3886200"/>
            <a:ext cx="3657600" cy="365760"/>
          </a:xfrm>
          <a:prstGeom prst="rect">
            <a:avLst/>
          </a:prstGeom>
          <a:noFill/>
          <a:ln/>
        </p:spPr>
        <p:txBody>
          <a:bodyPr wrap="square" lIns="0" tIns="0" rIns="0" bIns="0" rtlCol="0" anchor="t"/>
          <a:lstStyle/>
          <a:p>
            <a:pPr indent="0" marL="0">
              <a:buNone/>
            </a:pPr>
            <a:r>
              <a:rPr lang="en-US" sz="1600" b="1" dirty="0">
                <a:solidFill>
                  <a:srgbClr val="C0362C"/>
                </a:solidFill>
                <a:latin typeface="Calibri" pitchFamily="34" charset="0"/>
                <a:ea typeface="Calibri" pitchFamily="34" charset="-122"/>
                <a:cs typeface="Calibri" pitchFamily="34" charset="-120"/>
              </a:rPr>
              <a:t>Mâu thuẫn (5 cặp MAU_THUAN)</a:t>
            </a:r>
            <a:endParaRPr lang="en-US" sz="1600" dirty="0"/>
          </a:p>
        </p:txBody>
      </p:sp>
      <p:sp>
        <p:nvSpPr>
          <p:cNvPr id="16" name="Text 13"/>
          <p:cNvSpPr txBox="1"/>
          <p:nvPr/>
        </p:nvSpPr>
        <p:spPr>
          <a:xfrm>
            <a:off x="7818120" y="4297680"/>
            <a:ext cx="3657600" cy="1280160"/>
          </a:xfrm>
          <a:prstGeom prst="rect">
            <a:avLst/>
          </a:prstGeom>
          <a:noFill/>
          <a:ln/>
        </p:spPr>
        <p:txBody>
          <a:bodyPr wrap="square" lIns="0" tIns="0" rIns="0" bIns="0" rtlCol="0" anchor="t"/>
          <a:lstStyle/>
          <a:p>
            <a:pPr indent="0" marL="0">
              <a:buNone/>
            </a:pPr>
            <a:r>
              <a:rPr lang="en-US" sz="1400" dirty="0">
                <a:solidFill>
                  <a:srgbClr val="1D2433"/>
                </a:solidFill>
                <a:latin typeface="Calibri" pitchFamily="34" charset="0"/>
                <a:ea typeface="Calibri" pitchFamily="34" charset="-122"/>
                <a:cs typeface="Calibri" pitchFamily="34" charset="-120"/>
              </a:rPr>
              <a:t>Ví dụ: “hai cặp cạnh đối song song” và “hai cạnh bên không song song” không thể cùng đúng ⇒ hệ thống báo giả thiết mâu thuẫn.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Vì sao chọn Neo4j?</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6</a:t>
            </a:r>
            <a:endParaRPr lang="en-US" sz="1000" dirty="0"/>
          </a:p>
        </p:txBody>
      </p:sp>
      <p:sp>
        <p:nvSpPr>
          <p:cNvPr id="7" name="Shape 5"/>
          <p:cNvSpPr/>
          <p:nvPr/>
        </p:nvSpPr>
        <p:spPr>
          <a:xfrm>
            <a:off x="2926080" y="1417320"/>
            <a:ext cx="4297680" cy="4754880"/>
          </a:xfrm>
          <a:prstGeom prst="roundRect">
            <a:avLst>
              <a:gd name="adj" fmla="val 2553"/>
            </a:avLst>
          </a:prstGeom>
          <a:solidFill>
            <a:srgbClr val="F1F3F7"/>
          </a:solidFill>
          <a:ln w="9525">
            <a:solidFill>
              <a:srgbClr val="F1F3F7"/>
            </a:solidFill>
            <a:prstDash val="solid"/>
          </a:ln>
        </p:spPr>
      </p:sp>
      <p:sp>
        <p:nvSpPr>
          <p:cNvPr id="8" name="Text 6"/>
          <p:cNvSpPr txBox="1"/>
          <p:nvPr/>
        </p:nvSpPr>
        <p:spPr>
          <a:xfrm>
            <a:off x="3154680" y="1554480"/>
            <a:ext cx="3886200" cy="411480"/>
          </a:xfrm>
          <a:prstGeom prst="rect">
            <a:avLst/>
          </a:prstGeom>
          <a:noFill/>
          <a:ln/>
        </p:spPr>
        <p:txBody>
          <a:bodyPr wrap="square" lIns="0" tIns="0" rIns="0" bIns="0" rtlCol="0" anchor="t"/>
          <a:lstStyle/>
          <a:p>
            <a:pPr indent="0" marL="0">
              <a:buNone/>
            </a:pPr>
            <a:r>
              <a:rPr lang="en-US" sz="1900" b="1" dirty="0">
                <a:solidFill>
                  <a:srgbClr val="5B6478"/>
                </a:solidFill>
                <a:latin typeface="Cambria" pitchFamily="34" charset="0"/>
                <a:ea typeface="Cambria" pitchFamily="34" charset="-122"/>
                <a:cs typeface="Cambria" pitchFamily="34" charset="-120"/>
              </a:rPr>
              <a:t>CSDL quan hệ (SQL)</a:t>
            </a:r>
            <a:endParaRPr lang="en-US" sz="1900" dirty="0"/>
          </a:p>
        </p:txBody>
      </p:sp>
      <p:sp>
        <p:nvSpPr>
          <p:cNvPr id="9" name="Shape 7"/>
          <p:cNvSpPr/>
          <p:nvPr/>
        </p:nvSpPr>
        <p:spPr>
          <a:xfrm>
            <a:off x="7315200" y="1417320"/>
            <a:ext cx="4343400" cy="4754880"/>
          </a:xfrm>
          <a:prstGeom prst="roundRect">
            <a:avLst>
              <a:gd name="adj" fmla="val 2526"/>
            </a:avLst>
          </a:prstGeom>
          <a:solidFill>
            <a:srgbClr val="E8EEFF"/>
          </a:solidFill>
          <a:ln w="9525">
            <a:solidFill>
              <a:srgbClr val="E8EEFF"/>
            </a:solidFill>
            <a:prstDash val="solid"/>
          </a:ln>
        </p:spPr>
      </p:sp>
      <p:sp>
        <p:nvSpPr>
          <p:cNvPr id="10" name="Text 8"/>
          <p:cNvSpPr txBox="1"/>
          <p:nvPr/>
        </p:nvSpPr>
        <p:spPr>
          <a:xfrm>
            <a:off x="7543800" y="1554480"/>
            <a:ext cx="3931920" cy="411480"/>
          </a:xfrm>
          <a:prstGeom prst="rect">
            <a:avLst/>
          </a:prstGeom>
          <a:noFill/>
          <a:ln/>
        </p:spPr>
        <p:txBody>
          <a:bodyPr wrap="square" lIns="0" tIns="0" rIns="0" bIns="0" rtlCol="0" anchor="t"/>
          <a:lstStyle/>
          <a:p>
            <a:pPr indent="0" marL="0">
              <a:buNone/>
            </a:pPr>
            <a:r>
              <a:rPr lang="en-US" sz="1900" b="1" dirty="0">
                <a:solidFill>
                  <a:srgbClr val="2F5BEA"/>
                </a:solidFill>
                <a:latin typeface="Cambria" pitchFamily="34" charset="0"/>
                <a:ea typeface="Cambria" pitchFamily="34" charset="-122"/>
                <a:cs typeface="Cambria" pitchFamily="34" charset="-120"/>
              </a:rPr>
              <a:t>Neo4j (đồ thị)</a:t>
            </a:r>
            <a:endParaRPr lang="en-US" sz="1900" dirty="0"/>
          </a:p>
        </p:txBody>
      </p:sp>
      <p:sp>
        <p:nvSpPr>
          <p:cNvPr id="11" name="Text 9"/>
          <p:cNvSpPr txBox="1"/>
          <p:nvPr/>
        </p:nvSpPr>
        <p:spPr>
          <a:xfrm>
            <a:off x="548640" y="210312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Lưu quan hệ</a:t>
            </a:r>
            <a:endParaRPr lang="en-US" sz="1600" dirty="0"/>
          </a:p>
        </p:txBody>
      </p:sp>
      <p:sp>
        <p:nvSpPr>
          <p:cNvPr id="12" name="Text 10"/>
          <p:cNvSpPr txBox="1"/>
          <p:nvPr/>
        </p:nvSpPr>
        <p:spPr>
          <a:xfrm>
            <a:off x="3154680" y="210312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Bảng trung gian + khoá ngoại</a:t>
            </a:r>
            <a:endParaRPr lang="en-US" sz="1450" dirty="0"/>
          </a:p>
        </p:txBody>
      </p:sp>
      <p:sp>
        <p:nvSpPr>
          <p:cNvPr id="13" name="Text 11"/>
          <p:cNvSpPr txBox="1"/>
          <p:nvPr/>
        </p:nvSpPr>
        <p:spPr>
          <a:xfrm>
            <a:off x="7543800" y="2103120"/>
            <a:ext cx="3931920" cy="731520"/>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Quan hệ là cạnh, lưu trực tiếp</a:t>
            </a:r>
            <a:endParaRPr lang="en-US" sz="1450" dirty="0"/>
          </a:p>
        </p:txBody>
      </p:sp>
      <p:sp>
        <p:nvSpPr>
          <p:cNvPr id="14" name="Text 12"/>
          <p:cNvSpPr txBox="1"/>
          <p:nvPr/>
        </p:nvSpPr>
        <p:spPr>
          <a:xfrm>
            <a:off x="548640" y="292608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Tìm mọi hình cha</a:t>
            </a:r>
            <a:endParaRPr lang="en-US" sz="1600" dirty="0"/>
          </a:p>
        </p:txBody>
      </p:sp>
      <p:sp>
        <p:nvSpPr>
          <p:cNvPr id="15" name="Text 13"/>
          <p:cNvSpPr txBox="1"/>
          <p:nvPr/>
        </p:nvSpPr>
        <p:spPr>
          <a:xfrm>
            <a:off x="3154680" y="292608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JOIN đệ quy (WITH RECURSIVE) phức tạp</a:t>
            </a:r>
            <a:endParaRPr lang="en-US" sz="1450" dirty="0"/>
          </a:p>
        </p:txBody>
      </p:sp>
      <p:sp>
        <p:nvSpPr>
          <p:cNvPr id="16" name="Text 14"/>
          <p:cNvSpPr txBox="1"/>
          <p:nvPr/>
        </p:nvSpPr>
        <p:spPr>
          <a:xfrm>
            <a:off x="7543800" y="2926080"/>
            <a:ext cx="3931920" cy="731520"/>
          </a:xfrm>
          <a:prstGeom prst="rect">
            <a:avLst/>
          </a:prstGeom>
          <a:noFill/>
          <a:ln/>
        </p:spPr>
        <p:txBody>
          <a:bodyPr wrap="square" lIns="0" tIns="0" rIns="0" bIns="0" rtlCol="0" anchor="ctr"/>
          <a:lstStyle/>
          <a:p>
            <a:pPr indent="0" marL="0">
              <a:buNone/>
            </a:pPr>
            <a:r>
              <a:rPr lang="en-US" sz="1300" dirty="0">
                <a:solidFill>
                  <a:srgbClr val="1D2433"/>
                </a:solidFill>
                <a:latin typeface="Consolas" pitchFamily="34" charset="0"/>
                <a:ea typeface="Consolas" pitchFamily="34" charset="-122"/>
                <a:cs typeface="Consolas" pitchFamily="34" charset="-120"/>
              </a:rPr>
              <a:t>Một dòng: (h)-[:LA_MOT*]-&gt;(cha)</a:t>
            </a:r>
            <a:endParaRPr lang="en-US" sz="1300" dirty="0"/>
          </a:p>
        </p:txBody>
      </p:sp>
      <p:sp>
        <p:nvSpPr>
          <p:cNvPr id="17" name="Text 15"/>
          <p:cNvSpPr txBox="1"/>
          <p:nvPr/>
        </p:nvSpPr>
        <p:spPr>
          <a:xfrm>
            <a:off x="548640" y="374904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Kế thừa tính chất</a:t>
            </a:r>
            <a:endParaRPr lang="en-US" sz="1600" dirty="0"/>
          </a:p>
        </p:txBody>
      </p:sp>
      <p:sp>
        <p:nvSpPr>
          <p:cNvPr id="18" name="Text 16"/>
          <p:cNvSpPr txBox="1"/>
          <p:nvPr/>
        </p:nvSpPr>
        <p:spPr>
          <a:xfrm>
            <a:off x="3154680" y="374904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Nhiều JOIN lồng nhau</a:t>
            </a:r>
            <a:endParaRPr lang="en-US" sz="1450" dirty="0"/>
          </a:p>
        </p:txBody>
      </p:sp>
      <p:sp>
        <p:nvSpPr>
          <p:cNvPr id="19" name="Text 17"/>
          <p:cNvSpPr txBox="1"/>
          <p:nvPr/>
        </p:nvSpPr>
        <p:spPr>
          <a:xfrm>
            <a:off x="7543800" y="3749040"/>
            <a:ext cx="3931920" cy="731520"/>
          </a:xfrm>
          <a:prstGeom prst="rect">
            <a:avLst/>
          </a:prstGeom>
          <a:noFill/>
          <a:ln/>
        </p:spPr>
        <p:txBody>
          <a:bodyPr wrap="square" lIns="0" tIns="0" rIns="0" bIns="0" rtlCol="0" anchor="ctr"/>
          <a:lstStyle/>
          <a:p>
            <a:pPr indent="0" marL="0">
              <a:buNone/>
            </a:pPr>
            <a:r>
              <a:rPr lang="en-US" sz="1300" dirty="0">
                <a:solidFill>
                  <a:srgbClr val="1D2433"/>
                </a:solidFill>
                <a:latin typeface="Consolas" pitchFamily="34" charset="0"/>
                <a:ea typeface="Consolas" pitchFamily="34" charset="-122"/>
                <a:cs typeface="Consolas" pitchFamily="34" charset="-120"/>
              </a:rPr>
              <a:t>(h)-[:LA_MOT*0..]-&gt;()-[:CO_TINH_CHAT]-&gt;(t)</a:t>
            </a:r>
            <a:endParaRPr lang="en-US" sz="1300" dirty="0"/>
          </a:p>
        </p:txBody>
      </p:sp>
      <p:sp>
        <p:nvSpPr>
          <p:cNvPr id="20" name="Text 18"/>
          <p:cNvSpPr txBox="1"/>
          <p:nvPr/>
        </p:nvSpPr>
        <p:spPr>
          <a:xfrm>
            <a:off x="548640" y="457200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Trực quan</a:t>
            </a:r>
            <a:endParaRPr lang="en-US" sz="1600" dirty="0"/>
          </a:p>
        </p:txBody>
      </p:sp>
      <p:sp>
        <p:nvSpPr>
          <p:cNvPr id="21" name="Text 19"/>
          <p:cNvSpPr txBox="1"/>
          <p:nvPr/>
        </p:nvSpPr>
        <p:spPr>
          <a:xfrm>
            <a:off x="3154680" y="457200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Chỉ có bảng</a:t>
            </a:r>
            <a:endParaRPr lang="en-US" sz="1450" dirty="0"/>
          </a:p>
        </p:txBody>
      </p:sp>
      <p:sp>
        <p:nvSpPr>
          <p:cNvPr id="22" name="Text 20"/>
          <p:cNvSpPr txBox="1"/>
          <p:nvPr/>
        </p:nvSpPr>
        <p:spPr>
          <a:xfrm>
            <a:off x="7543800" y="4572000"/>
            <a:ext cx="3931920" cy="731520"/>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Neo4j Browser vẽ đồ thị ngay</a:t>
            </a:r>
            <a:endParaRPr lang="en-US" sz="1450" dirty="0"/>
          </a:p>
        </p:txBody>
      </p:sp>
      <p:sp>
        <p:nvSpPr>
          <p:cNvPr id="23" name="Text 21"/>
          <p:cNvSpPr txBox="1"/>
          <p:nvPr/>
        </p:nvSpPr>
        <p:spPr>
          <a:xfrm>
            <a:off x="548640" y="539496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Thêm tri thức</a:t>
            </a:r>
            <a:endParaRPr lang="en-US" sz="1600" dirty="0"/>
          </a:p>
        </p:txBody>
      </p:sp>
      <p:sp>
        <p:nvSpPr>
          <p:cNvPr id="24" name="Text 22"/>
          <p:cNvSpPr txBox="1"/>
          <p:nvPr/>
        </p:nvSpPr>
        <p:spPr>
          <a:xfrm>
            <a:off x="3154680" y="539496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Có thể phải sửa lược đồ</a:t>
            </a:r>
            <a:endParaRPr lang="en-US" sz="1450" dirty="0"/>
          </a:p>
        </p:txBody>
      </p:sp>
      <p:sp>
        <p:nvSpPr>
          <p:cNvPr id="25" name="Text 23"/>
          <p:cNvSpPr txBox="1"/>
          <p:nvPr/>
        </p:nvSpPr>
        <p:spPr>
          <a:xfrm>
            <a:off x="7543800" y="5394960"/>
            <a:ext cx="3931920" cy="731520"/>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Thêm nút và cạnh, không sửa code</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Mô hình dữ liệu đồ thị trong Neo4j</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5 nhãn nút, 10 loại quan hệ</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7</a:t>
            </a:r>
            <a:endParaRPr lang="en-US" sz="1000" dirty="0"/>
          </a:p>
        </p:txBody>
      </p:sp>
      <p:sp>
        <p:nvSpPr>
          <p:cNvPr id="8" name="Shape 6"/>
          <p:cNvSpPr/>
          <p:nvPr/>
        </p:nvSpPr>
        <p:spPr>
          <a:xfrm>
            <a:off x="548640" y="1463040"/>
            <a:ext cx="7498080" cy="4800600"/>
          </a:xfrm>
          <a:prstGeom prst="roundRect">
            <a:avLst>
              <a:gd name="adj" fmla="val 228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pic>
        <p:nvPicPr>
          <p:cNvPr id="9" name="Image 0" descr="/tmp/claude-0/-home-claude/98539f31-3192-5884-a81c-346bec00204d/scratchpad/ppt/schema.png">    </p:cNvPr>
          <p:cNvPicPr>
            <a:picLocks noChangeAspect="1"/>
          </p:cNvPicPr>
          <p:nvPr/>
        </p:nvPicPr>
        <p:blipFill>
          <a:blip r:embed="rId1"/>
          <a:stretch>
            <a:fillRect/>
          </a:stretch>
        </p:blipFill>
        <p:spPr>
          <a:xfrm>
            <a:off x="685800" y="1691640"/>
            <a:ext cx="7223760" cy="3757744"/>
          </a:xfrm>
          <a:prstGeom prst="rect">
            <a:avLst/>
          </a:prstGeom>
        </p:spPr>
      </p:pic>
      <p:sp>
        <p:nvSpPr>
          <p:cNvPr id="10" name="Shape 7"/>
          <p:cNvSpPr/>
          <p:nvPr/>
        </p:nvSpPr>
        <p:spPr>
          <a:xfrm>
            <a:off x="8366760" y="146304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Text 8"/>
          <p:cNvSpPr txBox="1"/>
          <p:nvPr/>
        </p:nvSpPr>
        <p:spPr>
          <a:xfrm>
            <a:off x="8366760" y="1572768"/>
            <a:ext cx="1554480" cy="640080"/>
          </a:xfrm>
          <a:prstGeom prst="rect">
            <a:avLst/>
          </a:prstGeom>
          <a:noFill/>
          <a:ln/>
        </p:spPr>
        <p:txBody>
          <a:bodyPr wrap="square" lIns="0" tIns="0" rIns="0" bIns="0" rtlCol="0" anchor="t"/>
          <a:lstStyle/>
          <a:p>
            <a:pPr algn="ctr" indent="0" marL="0">
              <a:buNone/>
            </a:pPr>
            <a:r>
              <a:rPr lang="en-US" sz="3200" b="1" dirty="0">
                <a:solidFill>
                  <a:srgbClr val="2F5BEA"/>
                </a:solidFill>
                <a:latin typeface="Cambria" pitchFamily="34" charset="0"/>
                <a:ea typeface="Cambria" pitchFamily="34" charset="-122"/>
                <a:cs typeface="Cambria" pitchFamily="34" charset="-120"/>
              </a:rPr>
              <a:t>191</a:t>
            </a:r>
            <a:endParaRPr lang="en-US" sz="3200" dirty="0"/>
          </a:p>
        </p:txBody>
      </p:sp>
      <p:sp>
        <p:nvSpPr>
          <p:cNvPr id="12" name="Text 9"/>
          <p:cNvSpPr txBox="1"/>
          <p:nvPr/>
        </p:nvSpPr>
        <p:spPr>
          <a:xfrm>
            <a:off x="8458200" y="221284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nút</a:t>
            </a:r>
            <a:endParaRPr lang="en-US" sz="1250" dirty="0"/>
          </a:p>
        </p:txBody>
      </p:sp>
      <p:sp>
        <p:nvSpPr>
          <p:cNvPr id="13" name="Shape 10"/>
          <p:cNvSpPr/>
          <p:nvPr/>
        </p:nvSpPr>
        <p:spPr>
          <a:xfrm>
            <a:off x="10058400" y="146304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4" name="Text 11"/>
          <p:cNvSpPr txBox="1"/>
          <p:nvPr/>
        </p:nvSpPr>
        <p:spPr>
          <a:xfrm>
            <a:off x="10058400" y="1572768"/>
            <a:ext cx="1554480" cy="640080"/>
          </a:xfrm>
          <a:prstGeom prst="rect">
            <a:avLst/>
          </a:prstGeom>
          <a:noFill/>
          <a:ln/>
        </p:spPr>
        <p:txBody>
          <a:bodyPr wrap="square" lIns="0" tIns="0" rIns="0" bIns="0" rtlCol="0" anchor="t"/>
          <a:lstStyle/>
          <a:p>
            <a:pPr algn="ctr" indent="0" marL="0">
              <a:buNone/>
            </a:pPr>
            <a:r>
              <a:rPr lang="en-US" sz="3200" b="1" dirty="0">
                <a:solidFill>
                  <a:srgbClr val="2F5BEA"/>
                </a:solidFill>
                <a:latin typeface="Cambria" pitchFamily="34" charset="0"/>
                <a:ea typeface="Cambria" pitchFamily="34" charset="-122"/>
                <a:cs typeface="Cambria" pitchFamily="34" charset="-120"/>
              </a:rPr>
              <a:t>468</a:t>
            </a:r>
            <a:endParaRPr lang="en-US" sz="3200" dirty="0"/>
          </a:p>
        </p:txBody>
      </p:sp>
      <p:sp>
        <p:nvSpPr>
          <p:cNvPr id="15" name="Text 12"/>
          <p:cNvSpPr txBox="1"/>
          <p:nvPr/>
        </p:nvSpPr>
        <p:spPr>
          <a:xfrm>
            <a:off x="10149840" y="221284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quan hệ</a:t>
            </a:r>
            <a:endParaRPr lang="en-US" sz="1250" dirty="0"/>
          </a:p>
        </p:txBody>
      </p:sp>
      <p:sp>
        <p:nvSpPr>
          <p:cNvPr id="16" name="Shape 13"/>
          <p:cNvSpPr/>
          <p:nvPr/>
        </p:nvSpPr>
        <p:spPr>
          <a:xfrm>
            <a:off x="8366760" y="288036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7" name="Text 14"/>
          <p:cNvSpPr txBox="1"/>
          <p:nvPr/>
        </p:nvSpPr>
        <p:spPr>
          <a:xfrm>
            <a:off x="8366760" y="2990088"/>
            <a:ext cx="1554480" cy="640080"/>
          </a:xfrm>
          <a:prstGeom prst="rect">
            <a:avLst/>
          </a:prstGeom>
          <a:noFill/>
          <a:ln/>
        </p:spPr>
        <p:txBody>
          <a:bodyPr wrap="square" lIns="0" tIns="0" rIns="0" bIns="0" rtlCol="0" anchor="t"/>
          <a:lstStyle/>
          <a:p>
            <a:pPr algn="ctr" indent="0" marL="0">
              <a:buNone/>
            </a:pPr>
            <a:r>
              <a:rPr lang="en-US" sz="3200" b="1" dirty="0">
                <a:solidFill>
                  <a:srgbClr val="0F8A5F"/>
                </a:solidFill>
                <a:latin typeface="Cambria" pitchFamily="34" charset="0"/>
                <a:ea typeface="Cambria" pitchFamily="34" charset="-122"/>
                <a:cs typeface="Cambria" pitchFamily="34" charset="-120"/>
              </a:rPr>
              <a:t>26</a:t>
            </a:r>
            <a:endParaRPr lang="en-US" sz="3200" dirty="0"/>
          </a:p>
        </p:txBody>
      </p:sp>
      <p:sp>
        <p:nvSpPr>
          <p:cNvPr id="18" name="Text 15"/>
          <p:cNvSpPr txBox="1"/>
          <p:nvPr/>
        </p:nvSpPr>
        <p:spPr>
          <a:xfrm>
            <a:off x="8458200" y="363016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dấu hiệu nhận biết</a:t>
            </a:r>
            <a:endParaRPr lang="en-US" sz="1250" dirty="0"/>
          </a:p>
        </p:txBody>
      </p:sp>
      <p:sp>
        <p:nvSpPr>
          <p:cNvPr id="19" name="Shape 16"/>
          <p:cNvSpPr/>
          <p:nvPr/>
        </p:nvSpPr>
        <p:spPr>
          <a:xfrm>
            <a:off x="10058400" y="288036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0" name="Text 17"/>
          <p:cNvSpPr txBox="1"/>
          <p:nvPr/>
        </p:nvSpPr>
        <p:spPr>
          <a:xfrm>
            <a:off x="10058400" y="2990088"/>
            <a:ext cx="1554480" cy="640080"/>
          </a:xfrm>
          <a:prstGeom prst="rect">
            <a:avLst/>
          </a:prstGeom>
          <a:noFill/>
          <a:ln/>
        </p:spPr>
        <p:txBody>
          <a:bodyPr wrap="square" lIns="0" tIns="0" rIns="0" bIns="0" rtlCol="0" anchor="t"/>
          <a:lstStyle/>
          <a:p>
            <a:pPr algn="ctr" indent="0" marL="0">
              <a:buNone/>
            </a:pPr>
            <a:r>
              <a:rPr lang="en-US" sz="3200" b="1" dirty="0">
                <a:solidFill>
                  <a:srgbClr val="0F8A5F"/>
                </a:solidFill>
                <a:latin typeface="Cambria" pitchFamily="34" charset="0"/>
                <a:ea typeface="Cambria" pitchFamily="34" charset="-122"/>
                <a:cs typeface="Cambria" pitchFamily="34" charset="-120"/>
              </a:rPr>
              <a:t>68</a:t>
            </a:r>
            <a:endParaRPr lang="en-US" sz="3200" dirty="0"/>
          </a:p>
        </p:txBody>
      </p:sp>
      <p:sp>
        <p:nvSpPr>
          <p:cNvPr id="21" name="Text 18"/>
          <p:cNvSpPr txBox="1"/>
          <p:nvPr/>
        </p:nvSpPr>
        <p:spPr>
          <a:xfrm>
            <a:off x="10149840" y="363016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công thức tính</a:t>
            </a:r>
            <a:endParaRPr lang="en-US" sz="1250" dirty="0"/>
          </a:p>
        </p:txBody>
      </p:sp>
      <p:sp>
        <p:nvSpPr>
          <p:cNvPr id="22" name="Text 19"/>
          <p:cNvSpPr txBox="1"/>
          <p:nvPr/>
        </p:nvSpPr>
        <p:spPr>
          <a:xfrm>
            <a:off x="8366760" y="4343400"/>
            <a:ext cx="3291840" cy="320040"/>
          </a:xfrm>
          <a:prstGeom prst="rect">
            <a:avLst/>
          </a:prstGeom>
          <a:noFill/>
          <a:ln/>
        </p:spPr>
        <p:txBody>
          <a:bodyPr wrap="square" lIns="0" tIns="0" rIns="0" bIns="0" rtlCol="0" anchor="t"/>
          <a:lstStyle/>
          <a:p>
            <a:pPr indent="0" marL="0">
              <a:buNone/>
            </a:pPr>
            <a:r>
              <a:rPr lang="en-US" sz="1300" b="1" dirty="0">
                <a:solidFill>
                  <a:srgbClr val="1B2540"/>
                </a:solidFill>
                <a:latin typeface="Calibri" pitchFamily="34" charset="0"/>
                <a:ea typeface="Calibri" pitchFamily="34" charset="-122"/>
                <a:cs typeface="Calibri" pitchFamily="34" charset="-120"/>
              </a:rPr>
              <a:t>Ví dụ dấu hiệu DH17:</a:t>
            </a:r>
            <a:endParaRPr lang="en-US" sz="1300" dirty="0"/>
          </a:p>
        </p:txBody>
      </p:sp>
      <p:sp>
        <p:nvSpPr>
          <p:cNvPr id="23" name="Shape 20"/>
          <p:cNvSpPr/>
          <p:nvPr/>
        </p:nvSpPr>
        <p:spPr>
          <a:xfrm>
            <a:off x="8366760" y="4709160"/>
            <a:ext cx="3291840" cy="1554480"/>
          </a:xfrm>
          <a:prstGeom prst="roundRect">
            <a:avLst>
              <a:gd name="adj" fmla="val 5882"/>
            </a:avLst>
          </a:prstGeom>
          <a:solidFill>
            <a:srgbClr val="0F1729"/>
          </a:solidFill>
          <a:ln w="12700">
            <a:solidFill>
              <a:srgbClr val="0F1729"/>
            </a:solidFill>
            <a:prstDash val="solid"/>
          </a:ln>
        </p:spPr>
      </p:sp>
      <p:sp>
        <p:nvSpPr>
          <p:cNvPr id="24" name="Text 21"/>
          <p:cNvSpPr txBox="1"/>
          <p:nvPr/>
        </p:nvSpPr>
        <p:spPr>
          <a:xfrm>
            <a:off x="8595360" y="4873752"/>
            <a:ext cx="2834640" cy="1225296"/>
          </a:xfrm>
          <a:prstGeom prst="rect">
            <a:avLst/>
          </a:prstGeom>
          <a:noFill/>
          <a:ln/>
        </p:spPr>
        <p:txBody>
          <a:bodyPr wrap="square" lIns="0" tIns="0" rIns="0" bIns="0" rtlCol="0" anchor="t"/>
          <a:lstStyle/>
          <a:p>
            <a:pPr indent="0" marL="0">
              <a:buNone/>
            </a:pPr>
            <a:r>
              <a:rPr lang="en-US" sz="1150" dirty="0">
                <a:solidFill>
                  <a:srgbClr val="D6E2FF"/>
                </a:solidFill>
                <a:latin typeface="Consolas" pitchFamily="34" charset="0"/>
                <a:ea typeface="Consolas" pitchFamily="34" charset="-122"/>
                <a:cs typeface="Consolas" pitchFamily="34" charset="-120"/>
              </a:rPr>
              <a:t>(:DauHieu {ma:'DH17'})</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-[:AP_DUNG_CHO]-&gt;(Bình hành)</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-[:CAN]-&gt;(Chéo vuông góc)</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-[:KET_LUAN]-&gt;(Hình thoi)</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Thuật toán suy luận tiến (forward chaining)</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Lặp cho đến khi không suy ra thêm được gì — điểm bất động</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8</a:t>
            </a:r>
            <a:endParaRPr lang="en-US" sz="1000" dirty="0"/>
          </a:p>
        </p:txBody>
      </p:sp>
      <p:sp>
        <p:nvSpPr>
          <p:cNvPr id="8" name="Shape 6"/>
          <p:cNvSpPr/>
          <p:nvPr/>
        </p:nvSpPr>
        <p:spPr>
          <a:xfrm>
            <a:off x="54864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9" name="Shape 7"/>
          <p:cNvSpPr/>
          <p:nvPr/>
        </p:nvSpPr>
        <p:spPr>
          <a:xfrm>
            <a:off x="777240" y="1691640"/>
            <a:ext cx="502920" cy="502920"/>
          </a:xfrm>
          <a:prstGeom prst="ellipse">
            <a:avLst/>
          </a:prstGeom>
          <a:solidFill>
            <a:srgbClr val="2F5BEA"/>
          </a:solidFill>
          <a:ln w="12700">
            <a:solidFill>
              <a:srgbClr val="2F5BEA"/>
            </a:solidFill>
            <a:prstDash val="solid"/>
          </a:ln>
        </p:spPr>
      </p:sp>
      <p:sp>
        <p:nvSpPr>
          <p:cNvPr id="10" name="Text 8"/>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9"/>
          <p:cNvSpPr txBox="1"/>
          <p:nvPr/>
        </p:nvSpPr>
        <p:spPr>
          <a:xfrm>
            <a:off x="141732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Khởi tạo</a:t>
            </a:r>
            <a:endParaRPr lang="en-US" sz="1800" dirty="0"/>
          </a:p>
        </p:txBody>
      </p:sp>
      <p:sp>
        <p:nvSpPr>
          <p:cNvPr id="12" name="Text 10"/>
          <p:cNvSpPr txBox="1"/>
          <p:nvPr/>
        </p:nvSpPr>
        <p:spPr>
          <a:xfrm>
            <a:off x="77724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H = {hình ban đầu}</a:t>
            </a:r>
            <a:endParaRPr lang="en-US" sz="1350" dirty="0"/>
          </a:p>
          <a:p>
            <a:pPr indent="0" marL="0">
              <a:buNone/>
            </a:pPr>
            <a:r>
              <a:rPr lang="en-US" sz="1350" dirty="0">
                <a:solidFill>
                  <a:srgbClr val="1D2433"/>
                </a:solidFill>
                <a:latin typeface="Calibri" pitchFamily="34" charset="0"/>
                <a:ea typeface="Calibri" pitchFamily="34" charset="-122"/>
                <a:cs typeface="Calibri" pitchFamily="34" charset="-120"/>
              </a:rPr>
              <a:t>T = giả thiết đã chọn</a:t>
            </a:r>
            <a:endParaRPr lang="en-US" sz="1350" dirty="0"/>
          </a:p>
        </p:txBody>
      </p:sp>
      <p:sp>
        <p:nvSpPr>
          <p:cNvPr id="13" name="Text 11"/>
          <p:cNvSpPr txBox="1"/>
          <p:nvPr/>
        </p:nvSpPr>
        <p:spPr>
          <a:xfrm>
            <a:off x="3136392" y="2286000"/>
            <a:ext cx="320040" cy="457200"/>
          </a:xfrm>
          <a:prstGeom prst="rect">
            <a:avLst/>
          </a:prstGeom>
          <a:noFill/>
          <a:ln/>
        </p:spPr>
        <p:txBody>
          <a:bodyPr wrap="square" lIns="0" tIns="0" rIns="0" bIns="0" rtlCol="0" anchor="t"/>
          <a:lstStyle/>
          <a:p>
            <a:pPr algn="ctr" indent="0" marL="0">
              <a:buNone/>
            </a:pPr>
            <a:r>
              <a:rPr lang="en-US" sz="2000" dirty="0">
                <a:solidFill>
                  <a:srgbClr val="2F5BEA"/>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342900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5" name="Shape 13"/>
          <p:cNvSpPr/>
          <p:nvPr/>
        </p:nvSpPr>
        <p:spPr>
          <a:xfrm>
            <a:off x="3657600" y="1691640"/>
            <a:ext cx="502920" cy="502920"/>
          </a:xfrm>
          <a:prstGeom prst="ellipse">
            <a:avLst/>
          </a:prstGeom>
          <a:solidFill>
            <a:srgbClr val="2F5BEA"/>
          </a:solidFill>
          <a:ln w="12700">
            <a:solidFill>
              <a:srgbClr val="2F5BEA"/>
            </a:solidFill>
            <a:prstDash val="solid"/>
          </a:ln>
        </p:spPr>
      </p:sp>
      <p:sp>
        <p:nvSpPr>
          <p:cNvPr id="16" name="Text 14"/>
          <p:cNvSpPr txBox="1"/>
          <p:nvPr/>
        </p:nvSpPr>
        <p:spPr>
          <a:xfrm>
            <a:off x="365760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7" name="Text 15"/>
          <p:cNvSpPr txBox="1"/>
          <p:nvPr/>
        </p:nvSpPr>
        <p:spPr>
          <a:xfrm>
            <a:off x="429768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Mở rộng</a:t>
            </a:r>
            <a:endParaRPr lang="en-US" sz="1800" dirty="0"/>
          </a:p>
        </p:txBody>
      </p:sp>
      <p:sp>
        <p:nvSpPr>
          <p:cNvPr id="18" name="Text 16"/>
          <p:cNvSpPr txBox="1"/>
          <p:nvPr/>
        </p:nvSpPr>
        <p:spPr>
          <a:xfrm>
            <a:off x="365760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Thêm mọi hình cha (LA_MOT*) và tính chất kế thừa vào H, T</a:t>
            </a:r>
            <a:endParaRPr lang="en-US" sz="1350" dirty="0"/>
          </a:p>
        </p:txBody>
      </p:sp>
      <p:sp>
        <p:nvSpPr>
          <p:cNvPr id="19" name="Text 17"/>
          <p:cNvSpPr txBox="1"/>
          <p:nvPr/>
        </p:nvSpPr>
        <p:spPr>
          <a:xfrm>
            <a:off x="6016752" y="2286000"/>
            <a:ext cx="320040" cy="457200"/>
          </a:xfrm>
          <a:prstGeom prst="rect">
            <a:avLst/>
          </a:prstGeom>
          <a:noFill/>
          <a:ln/>
        </p:spPr>
        <p:txBody>
          <a:bodyPr wrap="square" lIns="0" tIns="0" rIns="0" bIns="0" rtlCol="0" anchor="t"/>
          <a:lstStyle/>
          <a:p>
            <a:pPr algn="ctr" indent="0" marL="0">
              <a:buNone/>
            </a:pPr>
            <a:r>
              <a:rPr lang="en-US" sz="2000" dirty="0">
                <a:solidFill>
                  <a:srgbClr val="2F5BEA"/>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630936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1" name="Shape 19"/>
          <p:cNvSpPr/>
          <p:nvPr/>
        </p:nvSpPr>
        <p:spPr>
          <a:xfrm>
            <a:off x="6537960" y="1691640"/>
            <a:ext cx="502920" cy="502920"/>
          </a:xfrm>
          <a:prstGeom prst="ellipse">
            <a:avLst/>
          </a:prstGeom>
          <a:solidFill>
            <a:srgbClr val="2F5BEA"/>
          </a:solidFill>
          <a:ln w="12700">
            <a:solidFill>
              <a:srgbClr val="2F5BEA"/>
            </a:solidFill>
            <a:prstDash val="solid"/>
          </a:ln>
        </p:spPr>
      </p:sp>
      <p:sp>
        <p:nvSpPr>
          <p:cNvPr id="22" name="Text 20"/>
          <p:cNvSpPr txBox="1"/>
          <p:nvPr/>
        </p:nvSpPr>
        <p:spPr>
          <a:xfrm>
            <a:off x="653796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3" name="Text 21"/>
          <p:cNvSpPr txBox="1"/>
          <p:nvPr/>
        </p:nvSpPr>
        <p:spPr>
          <a:xfrm>
            <a:off x="717804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Áp dụng luật</a:t>
            </a:r>
            <a:endParaRPr lang="en-US" sz="1800" dirty="0"/>
          </a:p>
        </p:txBody>
      </p:sp>
      <p:sp>
        <p:nvSpPr>
          <p:cNvPr id="24" name="Text 22"/>
          <p:cNvSpPr txBox="1"/>
          <p:nvPr/>
        </p:nvSpPr>
        <p:spPr>
          <a:xfrm>
            <a:off x="653796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Tìm dấu hiệu có hình ∈ H và mọi tính chất CAN ⊆ T ⟹ thêm hình KET_LUAN</a:t>
            </a:r>
            <a:endParaRPr lang="en-US" sz="1350" dirty="0"/>
          </a:p>
        </p:txBody>
      </p:sp>
      <p:sp>
        <p:nvSpPr>
          <p:cNvPr id="25" name="Text 23"/>
          <p:cNvSpPr txBox="1"/>
          <p:nvPr/>
        </p:nvSpPr>
        <p:spPr>
          <a:xfrm>
            <a:off x="8897112" y="2286000"/>
            <a:ext cx="320040" cy="457200"/>
          </a:xfrm>
          <a:prstGeom prst="rect">
            <a:avLst/>
          </a:prstGeom>
          <a:noFill/>
          <a:ln/>
        </p:spPr>
        <p:txBody>
          <a:bodyPr wrap="square" lIns="0" tIns="0" rIns="0" bIns="0" rtlCol="0" anchor="t"/>
          <a:lstStyle/>
          <a:p>
            <a:pPr algn="ctr" indent="0" marL="0">
              <a:buNone/>
            </a:pPr>
            <a:r>
              <a:rPr lang="en-US" sz="2000" dirty="0">
                <a:solidFill>
                  <a:srgbClr val="2F5BEA"/>
                </a:solidFill>
                <a:latin typeface="Calibri" pitchFamily="34" charset="0"/>
                <a:ea typeface="Calibri" pitchFamily="34" charset="-122"/>
                <a:cs typeface="Calibri" pitchFamily="34" charset="-120"/>
              </a:rPr>
              <a:t>➜</a:t>
            </a:r>
            <a:endParaRPr lang="en-US" sz="2000" dirty="0"/>
          </a:p>
        </p:txBody>
      </p:sp>
      <p:sp>
        <p:nvSpPr>
          <p:cNvPr id="26" name="Shape 24"/>
          <p:cNvSpPr/>
          <p:nvPr/>
        </p:nvSpPr>
        <p:spPr>
          <a:xfrm>
            <a:off x="918972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7" name="Shape 25"/>
          <p:cNvSpPr/>
          <p:nvPr/>
        </p:nvSpPr>
        <p:spPr>
          <a:xfrm>
            <a:off x="9418320" y="1691640"/>
            <a:ext cx="502920" cy="502920"/>
          </a:xfrm>
          <a:prstGeom prst="ellipse">
            <a:avLst/>
          </a:prstGeom>
          <a:solidFill>
            <a:srgbClr val="0F8A5F"/>
          </a:solidFill>
          <a:ln w="12700">
            <a:solidFill>
              <a:srgbClr val="0F8A5F"/>
            </a:solidFill>
            <a:prstDash val="solid"/>
          </a:ln>
        </p:spPr>
      </p:sp>
      <p:sp>
        <p:nvSpPr>
          <p:cNvPr id="28" name="Text 26"/>
          <p:cNvSpPr txBox="1"/>
          <p:nvPr/>
        </p:nvSpPr>
        <p:spPr>
          <a:xfrm>
            <a:off x="941832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9" name="Text 27"/>
          <p:cNvSpPr txBox="1"/>
          <p:nvPr/>
        </p:nvSpPr>
        <p:spPr>
          <a:xfrm>
            <a:off x="1005840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Kết luận</a:t>
            </a:r>
            <a:endParaRPr lang="en-US" sz="1800" dirty="0"/>
          </a:p>
        </p:txBody>
      </p:sp>
      <p:sp>
        <p:nvSpPr>
          <p:cNvPr id="30" name="Text 28"/>
          <p:cNvSpPr txBox="1"/>
          <p:nvPr/>
        </p:nvSpPr>
        <p:spPr>
          <a:xfrm>
            <a:off x="941832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Lặp đến khi hết luật mới; chọn hình cụ thể nhất, kiểm tra mâu thuẫn</a:t>
            </a:r>
            <a:endParaRPr lang="en-US" sz="1350" dirty="0"/>
          </a:p>
        </p:txBody>
      </p:sp>
      <p:sp>
        <p:nvSpPr>
          <p:cNvPr id="31" name="Text 29"/>
          <p:cNvSpPr txBox="1"/>
          <p:nvPr/>
        </p:nvSpPr>
        <p:spPr>
          <a:xfrm>
            <a:off x="548640" y="3840480"/>
            <a:ext cx="10972800" cy="365760"/>
          </a:xfrm>
          <a:prstGeom prst="rect">
            <a:avLst/>
          </a:prstGeom>
          <a:noFill/>
          <a:ln/>
        </p:spPr>
        <p:txBody>
          <a:bodyPr wrap="square" lIns="0" tIns="0" rIns="0" bIns="0" rtlCol="0" anchor="t"/>
          <a:lstStyle/>
          <a:p>
            <a:pPr indent="0" marL="0">
              <a:buNone/>
            </a:pPr>
            <a:r>
              <a:rPr lang="en-US" sz="1500" b="1" dirty="0">
                <a:solidFill>
                  <a:srgbClr val="1B2540"/>
                </a:solidFill>
                <a:latin typeface="Calibri" pitchFamily="34" charset="0"/>
                <a:ea typeface="Calibri" pitchFamily="34" charset="-122"/>
                <a:cs typeface="Calibri" pitchFamily="34" charset="-120"/>
              </a:rPr>
              <a:t>Câu Cypher cốt lõi — tìm các dấu hiệu thoả mãn trong mỗi vòng:</a:t>
            </a:r>
            <a:endParaRPr lang="en-US" sz="1500" dirty="0"/>
          </a:p>
        </p:txBody>
      </p:sp>
      <p:sp>
        <p:nvSpPr>
          <p:cNvPr id="32" name="Shape 30"/>
          <p:cNvSpPr/>
          <p:nvPr/>
        </p:nvSpPr>
        <p:spPr>
          <a:xfrm>
            <a:off x="548640" y="4251960"/>
            <a:ext cx="11109960" cy="2011680"/>
          </a:xfrm>
          <a:prstGeom prst="roundRect">
            <a:avLst>
              <a:gd name="adj" fmla="val 4545"/>
            </a:avLst>
          </a:prstGeom>
          <a:solidFill>
            <a:srgbClr val="0F1729"/>
          </a:solidFill>
          <a:ln w="12700">
            <a:solidFill>
              <a:srgbClr val="0F1729"/>
            </a:solidFill>
            <a:prstDash val="solid"/>
          </a:ln>
        </p:spPr>
      </p:sp>
      <p:sp>
        <p:nvSpPr>
          <p:cNvPr id="33" name="Text 31"/>
          <p:cNvSpPr txBox="1"/>
          <p:nvPr/>
        </p:nvSpPr>
        <p:spPr>
          <a:xfrm>
            <a:off x="777240" y="4416552"/>
            <a:ext cx="10652760" cy="1682496"/>
          </a:xfrm>
          <a:prstGeom prst="rect">
            <a:avLst/>
          </a:prstGeom>
          <a:noFill/>
          <a:ln/>
        </p:spPr>
        <p:txBody>
          <a:bodyPr wrap="square" lIns="0" tIns="0" rIns="0" bIns="0" rtlCol="0" anchor="t"/>
          <a:lstStyle/>
          <a:p>
            <a:pPr indent="0" marL="0">
              <a:buNone/>
            </a:pPr>
            <a:r>
              <a:rPr lang="en-US" sz="1300" dirty="0">
                <a:solidFill>
                  <a:srgbClr val="D6E2FF"/>
                </a:solidFill>
                <a:latin typeface="Consolas" pitchFamily="34" charset="0"/>
                <a:ea typeface="Consolas" pitchFamily="34" charset="-122"/>
                <a:cs typeface="Consolas" pitchFamily="34" charset="-120"/>
              </a:rPr>
              <a:t>MATCH (d:DauHieu)-[:AP_DUNG_CHO]-&gt;(h:Hinh)</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WHERE h.ma IN $hinh AND NOT d.ma IN $da_dung</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WITH d, h, [(d)-[:CAN]-&gt;(t:TinhChat) | t.ma] AS can</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WHERE all(x IN can WHERE x IN $tinh_chat)</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OPTIONAL MATCH (d)-[:KET_LUAN]-&gt;(k:Hinh)</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RETURN d.ma, h.ma AS ap_dung, can, k.ma AS ket_luan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Ví dụ suy luận</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Hình bình hành ABCD có hai đường chéo vuông góc và bằng nhau. ABCD là hình gì?</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9</a:t>
            </a:r>
            <a:endParaRPr lang="en-US" sz="1000" dirty="0"/>
          </a:p>
        </p:txBody>
      </p:sp>
      <p:sp>
        <p:nvSpPr>
          <p:cNvPr id="8" name="Shape 6"/>
          <p:cNvSpPr/>
          <p:nvPr/>
        </p:nvSpPr>
        <p:spPr>
          <a:xfrm>
            <a:off x="548640" y="1371600"/>
            <a:ext cx="4206240" cy="4892040"/>
          </a:xfrm>
          <a:prstGeom prst="roundRect">
            <a:avLst>
              <a:gd name="adj" fmla="val 260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9" name="Text 7"/>
          <p:cNvSpPr txBox="1"/>
          <p:nvPr/>
        </p:nvSpPr>
        <p:spPr>
          <a:xfrm>
            <a:off x="822960" y="1600200"/>
            <a:ext cx="3657600" cy="365760"/>
          </a:xfrm>
          <a:prstGeom prst="rect">
            <a:avLst/>
          </a:prstGeom>
          <a:noFill/>
          <a:ln/>
        </p:spPr>
        <p:txBody>
          <a:bodyPr wrap="square" lIns="0" tIns="0" rIns="0" bIns="0" rtlCol="0" anchor="t"/>
          <a:lstStyle/>
          <a:p>
            <a:pPr indent="0" marL="0">
              <a:buNone/>
            </a:pPr>
            <a:r>
              <a:rPr lang="en-US" sz="1400" b="1" dirty="0">
                <a:solidFill>
                  <a:srgbClr val="5B6478"/>
                </a:solidFill>
                <a:latin typeface="Calibri" pitchFamily="34" charset="0"/>
                <a:ea typeface="Calibri" pitchFamily="34" charset="-122"/>
                <a:cs typeface="Calibri" pitchFamily="34" charset="-120"/>
              </a:rPr>
              <a:t>Giả thiết</a:t>
            </a:r>
            <a:endParaRPr lang="en-US" sz="1400" dirty="0"/>
          </a:p>
        </p:txBody>
      </p:sp>
      <p:sp>
        <p:nvSpPr>
          <p:cNvPr id="10" name="Text 8"/>
          <p:cNvSpPr txBox="1"/>
          <p:nvPr/>
        </p:nvSpPr>
        <p:spPr>
          <a:xfrm>
            <a:off x="822960" y="1965960"/>
            <a:ext cx="3749040" cy="1280160"/>
          </a:xfrm>
          <a:prstGeom prst="rect">
            <a:avLst/>
          </a:prstGeom>
          <a:noFill/>
          <a:ln/>
        </p:spPr>
        <p:txBody>
          <a:bodyPr wrap="square" lIns="0" tIns="0" rIns="0" bIns="0" rtlCol="0" anchor="t"/>
          <a:lstStyle/>
          <a:p>
            <a:pPr indent="0" marL="0">
              <a:spcAft>
                <a:spcPts val="400"/>
              </a:spcAft>
              <a:buNone/>
            </a:pPr>
            <a:r>
              <a:rPr lang="en-US" sz="1700" b="1" dirty="0">
                <a:solidFill>
                  <a:srgbClr val="1D2433"/>
                </a:solidFill>
                <a:latin typeface="Calibri" pitchFamily="34" charset="0"/>
                <a:ea typeface="Calibri" pitchFamily="34" charset="-122"/>
                <a:cs typeface="Calibri" pitchFamily="34" charset="-120"/>
              </a:rPr>
              <a:t>Hình bình hành ABCD</a:t>
            </a:r>
            <a:endParaRPr lang="en-US" sz="1700" dirty="0"/>
          </a:p>
          <a:p>
            <a:pPr marL="342900" indent="-342900">
              <a:spcAft>
                <a:spcPts val="400"/>
              </a:spcAft>
              <a:buSzPct val="100000"/>
              <a:buChar char="•"/>
            </a:pPr>
            <a:r>
              <a:rPr lang="en-US" sz="1700" dirty="0">
                <a:solidFill>
                  <a:srgbClr val="1D2433"/>
                </a:solidFill>
                <a:latin typeface="Calibri" pitchFamily="34" charset="0"/>
                <a:ea typeface="Calibri" pitchFamily="34" charset="-122"/>
                <a:cs typeface="Calibri" pitchFamily="34" charset="-120"/>
              </a:rPr>
              <a:t>Hai đường chéo vuông góc</a:t>
            </a:r>
            <a:endParaRPr lang="en-US" sz="1700" dirty="0"/>
          </a:p>
          <a:p>
            <a:pPr marL="342900" indent="-342900">
              <a:spcAft>
                <a:spcPts val="400"/>
              </a:spcAft>
              <a:buSzPct val="100000"/>
              <a:buChar char="•"/>
            </a:pPr>
            <a:r>
              <a:rPr lang="en-US" sz="1700" dirty="0">
                <a:solidFill>
                  <a:srgbClr val="1D2433"/>
                </a:solidFill>
                <a:latin typeface="Calibri" pitchFamily="34" charset="0"/>
                <a:ea typeface="Calibri" pitchFamily="34" charset="-122"/>
                <a:cs typeface="Calibri" pitchFamily="34" charset="-120"/>
              </a:rPr>
              <a:t>Hai đường chéo bằng nhau</a:t>
            </a:r>
            <a:endParaRPr lang="en-US" sz="1700" dirty="0"/>
          </a:p>
        </p:txBody>
      </p:sp>
      <p:pic>
        <p:nvPicPr>
          <p:cNvPr id="11" name="Image 0" descr="/tmp/claude-0/-home-claude/98539f31-3192-5884-a81c-346bec00204d/scratchpad/ppt/f_hbh.png">    </p:cNvPr>
          <p:cNvPicPr>
            <a:picLocks noChangeAspect="1"/>
          </p:cNvPicPr>
          <p:nvPr/>
        </p:nvPicPr>
        <p:blipFill>
          <a:blip r:embed="rId1"/>
          <a:stretch>
            <a:fillRect/>
          </a:stretch>
        </p:blipFill>
        <p:spPr>
          <a:xfrm>
            <a:off x="1005840" y="3246120"/>
            <a:ext cx="3291840" cy="2188105"/>
          </a:xfrm>
          <a:prstGeom prst="rect">
            <a:avLst/>
          </a:prstGeom>
        </p:spPr>
      </p:pic>
      <p:sp>
        <p:nvSpPr>
          <p:cNvPr id="12" name="Text 9"/>
          <p:cNvSpPr txBox="1"/>
          <p:nvPr/>
        </p:nvSpPr>
        <p:spPr>
          <a:xfrm>
            <a:off x="822960" y="5486400"/>
            <a:ext cx="3749040" cy="594360"/>
          </a:xfrm>
          <a:prstGeom prst="rect">
            <a:avLst/>
          </a:prstGeom>
          <a:noFill/>
          <a:ln/>
        </p:spPr>
        <p:txBody>
          <a:bodyPr wrap="square" lIns="0" tIns="0" rIns="0" bIns="0" rtlCol="0" anchor="t"/>
          <a:lstStyle/>
          <a:p>
            <a:pPr indent="0" marL="0">
              <a:buNone/>
            </a:pPr>
            <a:r>
              <a:rPr lang="en-US" sz="3000" b="1" dirty="0">
                <a:solidFill>
                  <a:srgbClr val="0F8A5F"/>
                </a:solidFill>
                <a:latin typeface="Cambria" pitchFamily="34" charset="0"/>
                <a:ea typeface="Cambria" pitchFamily="34" charset="-122"/>
                <a:cs typeface="Cambria" pitchFamily="34" charset="-120"/>
              </a:rPr>
              <a:t>⟹ Hình vuông</a:t>
            </a:r>
            <a:endParaRPr lang="en-US" sz="3000" dirty="0"/>
          </a:p>
        </p:txBody>
      </p:sp>
      <p:sp>
        <p:nvSpPr>
          <p:cNvPr id="13" name="Shape 10"/>
          <p:cNvSpPr/>
          <p:nvPr/>
        </p:nvSpPr>
        <p:spPr>
          <a:xfrm>
            <a:off x="5029200" y="1371600"/>
            <a:ext cx="6629400" cy="4892040"/>
          </a:xfrm>
          <a:prstGeom prst="roundRect">
            <a:avLst>
              <a:gd name="adj" fmla="val 2243"/>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4" name="Text 11"/>
          <p:cNvSpPr txBox="1"/>
          <p:nvPr/>
        </p:nvSpPr>
        <p:spPr>
          <a:xfrm>
            <a:off x="5303520" y="1600200"/>
            <a:ext cx="6126480" cy="365760"/>
          </a:xfrm>
          <a:prstGeom prst="rect">
            <a:avLst/>
          </a:prstGeom>
          <a:noFill/>
          <a:ln/>
        </p:spPr>
        <p:txBody>
          <a:bodyPr wrap="square" lIns="0" tIns="0" rIns="0" bIns="0" rtlCol="0" anchor="t"/>
          <a:lstStyle/>
          <a:p>
            <a:pPr indent="0" marL="0">
              <a:buNone/>
            </a:pPr>
            <a:r>
              <a:rPr lang="en-US" sz="1400" b="1" dirty="0">
                <a:solidFill>
                  <a:srgbClr val="5B6478"/>
                </a:solidFill>
                <a:latin typeface="Calibri" pitchFamily="34" charset="0"/>
                <a:ea typeface="Calibri" pitchFamily="34" charset="-122"/>
                <a:cs typeface="Calibri" pitchFamily="34" charset="-120"/>
              </a:rPr>
              <a:t>Lời giải hệ thống đưa ra (2 vòng)</a:t>
            </a:r>
            <a:endParaRPr lang="en-US" sz="1400" dirty="0"/>
          </a:p>
        </p:txBody>
      </p:sp>
      <p:pic>
        <p:nvPicPr>
          <p:cNvPr id="15" name="Image 1" descr="/tmp/claude-0/-home-claude/98539f31-3192-5884-a81c-346bec00204d/scratchpad/ppt/c_steps.png">    </p:cNvPr>
          <p:cNvPicPr>
            <a:picLocks noChangeAspect="1"/>
          </p:cNvPicPr>
          <p:nvPr/>
        </p:nvPicPr>
        <p:blipFill>
          <a:blip r:embed="rId2"/>
          <a:stretch>
            <a:fillRect/>
          </a:stretch>
        </p:blipFill>
        <p:spPr>
          <a:xfrm>
            <a:off x="5257800" y="2011680"/>
            <a:ext cx="6217920" cy="1898712"/>
          </a:xfrm>
          <a:prstGeom prst="rect">
            <a:avLst/>
          </a:prstGeom>
        </p:spPr>
      </p:pic>
      <p:pic>
        <p:nvPicPr>
          <p:cNvPr id="16" name="Image 2" descr="/tmp/claude-0/-home-claude/98539f31-3192-5884-a81c-346bec00204d/scratchpad/ppt/hier_kq.png">    </p:cNvPr>
          <p:cNvPicPr>
            <a:picLocks noChangeAspect="1"/>
          </p:cNvPicPr>
          <p:nvPr/>
        </p:nvPicPr>
        <p:blipFill>
          <a:blip r:embed="rId3"/>
          <a:stretch>
            <a:fillRect/>
          </a:stretch>
        </p:blipFill>
        <p:spPr>
          <a:xfrm>
            <a:off x="6492240" y="4023360"/>
            <a:ext cx="3657600" cy="20981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Kiến trúc hệ thống</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10</a:t>
            </a:r>
            <a:endParaRPr lang="en-US" sz="1000" dirty="0"/>
          </a:p>
        </p:txBody>
      </p:sp>
      <p:sp>
        <p:nvSpPr>
          <p:cNvPr id="7" name="Shape 5"/>
          <p:cNvSpPr/>
          <p:nvPr/>
        </p:nvSpPr>
        <p:spPr>
          <a:xfrm>
            <a:off x="548640" y="1554480"/>
            <a:ext cx="2606040" cy="1737360"/>
          </a:xfrm>
          <a:prstGeom prst="roundRect">
            <a:avLst>
              <a:gd name="adj" fmla="val 6316"/>
            </a:avLst>
          </a:prstGeom>
          <a:solidFill>
            <a:srgbClr val="F1F3F7"/>
          </a:solidFill>
          <a:ln w="9525">
            <a:solidFill>
              <a:srgbClr val="F1F3F7"/>
            </a:solidFill>
            <a:prstDash val="solid"/>
          </a:ln>
          <a:effectLst>
            <a:outerShdw sx="100000" sy="100000" kx="0" ky="0" algn="bl" rotWithShape="0" blurRad="101600" dist="25400" dir="5400000">
              <a:srgbClr val="1B2540">
                <a:alpha val="12000"/>
              </a:srgbClr>
            </a:outerShdw>
          </a:effectLst>
        </p:spPr>
      </p:sp>
      <p:sp>
        <p:nvSpPr>
          <p:cNvPr id="8" name="Text 6"/>
          <p:cNvSpPr txBox="1"/>
          <p:nvPr/>
        </p:nvSpPr>
        <p:spPr>
          <a:xfrm>
            <a:off x="731520" y="1737360"/>
            <a:ext cx="2240280" cy="685800"/>
          </a:xfrm>
          <a:prstGeom prst="rect">
            <a:avLst/>
          </a:prstGeom>
          <a:noFill/>
          <a:ln/>
        </p:spPr>
        <p:txBody>
          <a:bodyPr wrap="square" lIns="0" tIns="0" rIns="0" bIns="0" rtlCol="0" anchor="ctr"/>
          <a:lstStyle/>
          <a:p>
            <a:pPr algn="ctr" indent="0" marL="0">
              <a:buNone/>
            </a:pPr>
            <a:r>
              <a:rPr lang="en-US" sz="1800" b="1" dirty="0">
                <a:solidFill>
                  <a:srgbClr val="1B2540"/>
                </a:solidFill>
                <a:latin typeface="Cambria" pitchFamily="34" charset="0"/>
                <a:ea typeface="Cambria" pitchFamily="34" charset="-122"/>
                <a:cs typeface="Cambria" pitchFamily="34" charset="-120"/>
              </a:rPr>
              <a:t>Trình duyệt</a:t>
            </a:r>
            <a:endParaRPr lang="en-US" sz="1800" dirty="0"/>
          </a:p>
        </p:txBody>
      </p:sp>
      <p:sp>
        <p:nvSpPr>
          <p:cNvPr id="9" name="Text 7"/>
          <p:cNvSpPr txBox="1"/>
          <p:nvPr/>
        </p:nvSpPr>
        <p:spPr>
          <a:xfrm>
            <a:off x="731520"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Người dùng chọn giả thiết, nhập số liệu</a:t>
            </a:r>
            <a:endParaRPr lang="en-US" sz="1300" dirty="0"/>
          </a:p>
        </p:txBody>
      </p:sp>
      <p:sp>
        <p:nvSpPr>
          <p:cNvPr id="10" name="Text 8"/>
          <p:cNvSpPr txBox="1"/>
          <p:nvPr/>
        </p:nvSpPr>
        <p:spPr>
          <a:xfrm>
            <a:off x="3136392" y="2057400"/>
            <a:ext cx="338328" cy="731520"/>
          </a:xfrm>
          <a:prstGeom prst="rect">
            <a:avLst/>
          </a:prstGeom>
          <a:noFill/>
          <a:ln/>
        </p:spPr>
        <p:txBody>
          <a:bodyPr wrap="square" lIns="0" tIns="0" rIns="0" bIns="0" rtlCol="0" anchor="ctr"/>
          <a:lstStyle/>
          <a:p>
            <a:pPr algn="ctr" indent="0" marL="0">
              <a:buNone/>
            </a:pPr>
            <a:r>
              <a:rPr lang="en-US" sz="2000" dirty="0">
                <a:solidFill>
                  <a:srgbClr val="5B6478"/>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456432" y="1554480"/>
            <a:ext cx="2606040" cy="1737360"/>
          </a:xfrm>
          <a:prstGeom prst="roundRect">
            <a:avLst>
              <a:gd name="adj" fmla="val 6316"/>
            </a:avLst>
          </a:prstGeom>
          <a:solidFill>
            <a:srgbClr val="E8EEFF"/>
          </a:solidFill>
          <a:ln w="9525">
            <a:solidFill>
              <a:srgbClr val="E8EEFF"/>
            </a:solidFill>
            <a:prstDash val="solid"/>
          </a:ln>
          <a:effectLst>
            <a:outerShdw sx="100000" sy="100000" kx="0" ky="0" algn="bl" rotWithShape="0" blurRad="101600" dist="25400" dir="5400000">
              <a:srgbClr val="1B2540">
                <a:alpha val="12000"/>
              </a:srgbClr>
            </a:outerShdw>
          </a:effectLst>
        </p:spPr>
      </p:sp>
      <p:sp>
        <p:nvSpPr>
          <p:cNvPr id="12" name="Text 10"/>
          <p:cNvSpPr txBox="1"/>
          <p:nvPr/>
        </p:nvSpPr>
        <p:spPr>
          <a:xfrm>
            <a:off x="3639312" y="1737360"/>
            <a:ext cx="2240280" cy="685800"/>
          </a:xfrm>
          <a:prstGeom prst="rect">
            <a:avLst/>
          </a:prstGeom>
          <a:noFill/>
          <a:ln/>
        </p:spPr>
        <p:txBody>
          <a:bodyPr wrap="square" lIns="0" tIns="0" rIns="0" bIns="0" rtlCol="0" anchor="ctr"/>
          <a:lstStyle/>
          <a:p>
            <a:pPr algn="ctr" indent="0" marL="0">
              <a:buNone/>
            </a:pPr>
            <a:r>
              <a:rPr lang="en-US" sz="1800" b="1" dirty="0">
                <a:solidFill>
                  <a:srgbClr val="2F5BEA"/>
                </a:solidFill>
                <a:latin typeface="Cambria" pitchFamily="34" charset="0"/>
                <a:ea typeface="Cambria" pitchFamily="34" charset="-122"/>
                <a:cs typeface="Cambria" pitchFamily="34" charset="-120"/>
              </a:rPr>
              <a:t>Flask (app.py)</a:t>
            </a:r>
            <a:endParaRPr lang="en-US" sz="1800" dirty="0"/>
          </a:p>
        </p:txBody>
      </p:sp>
      <p:sp>
        <p:nvSpPr>
          <p:cNvPr id="13" name="Text 11"/>
          <p:cNvSpPr txBox="1"/>
          <p:nvPr/>
        </p:nvSpPr>
        <p:spPr>
          <a:xfrm>
            <a:off x="3639312"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Nhận yêu cầu, hiển thị kết quả, sơ đồ SVG</a:t>
            </a:r>
            <a:endParaRPr lang="en-US" sz="1300" dirty="0"/>
          </a:p>
        </p:txBody>
      </p:sp>
      <p:sp>
        <p:nvSpPr>
          <p:cNvPr id="14" name="Text 12"/>
          <p:cNvSpPr txBox="1"/>
          <p:nvPr/>
        </p:nvSpPr>
        <p:spPr>
          <a:xfrm>
            <a:off x="6044184" y="2057400"/>
            <a:ext cx="338328" cy="731520"/>
          </a:xfrm>
          <a:prstGeom prst="rect">
            <a:avLst/>
          </a:prstGeom>
          <a:noFill/>
          <a:ln/>
        </p:spPr>
        <p:txBody>
          <a:bodyPr wrap="square" lIns="0" tIns="0" rIns="0" bIns="0" rtlCol="0" anchor="ctr"/>
          <a:lstStyle/>
          <a:p>
            <a:pPr algn="ctr" indent="0" marL="0">
              <a:buNone/>
            </a:pPr>
            <a:r>
              <a:rPr lang="en-US" sz="2000" dirty="0">
                <a:solidFill>
                  <a:srgbClr val="5B6478"/>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6364224" y="1554480"/>
            <a:ext cx="2606040" cy="1737360"/>
          </a:xfrm>
          <a:prstGeom prst="roundRect">
            <a:avLst>
              <a:gd name="adj" fmla="val 6316"/>
            </a:avLst>
          </a:prstGeom>
          <a:solidFill>
            <a:srgbClr val="E8EEFF"/>
          </a:solidFill>
          <a:ln w="9525">
            <a:solidFill>
              <a:srgbClr val="E8EEFF"/>
            </a:solidFill>
            <a:prstDash val="solid"/>
          </a:ln>
          <a:effectLst>
            <a:outerShdw sx="100000" sy="100000" kx="0" ky="0" algn="bl" rotWithShape="0" blurRad="101600" dist="25400" dir="5400000">
              <a:srgbClr val="1B2540">
                <a:alpha val="12000"/>
              </a:srgbClr>
            </a:outerShdw>
          </a:effectLst>
        </p:spPr>
      </p:sp>
      <p:sp>
        <p:nvSpPr>
          <p:cNvPr id="16" name="Text 14"/>
          <p:cNvSpPr txBox="1"/>
          <p:nvPr/>
        </p:nvSpPr>
        <p:spPr>
          <a:xfrm>
            <a:off x="6547104" y="1737360"/>
            <a:ext cx="2240280" cy="685800"/>
          </a:xfrm>
          <a:prstGeom prst="rect">
            <a:avLst/>
          </a:prstGeom>
          <a:noFill/>
          <a:ln/>
        </p:spPr>
        <p:txBody>
          <a:bodyPr wrap="square" lIns="0" tIns="0" rIns="0" bIns="0" rtlCol="0" anchor="ctr"/>
          <a:lstStyle/>
          <a:p>
            <a:pPr algn="ctr" indent="0" marL="0">
              <a:buNone/>
            </a:pPr>
            <a:r>
              <a:rPr lang="en-US" sz="1800" b="1" dirty="0">
                <a:solidFill>
                  <a:srgbClr val="2F5BEA"/>
                </a:solidFill>
                <a:latin typeface="Cambria" pitchFamily="34" charset="0"/>
                <a:ea typeface="Cambria" pitchFamily="34" charset="-122"/>
                <a:cs typeface="Cambria" pitchFamily="34" charset="-120"/>
              </a:rPr>
              <a:t>Bộ suy luận &amp; bộ tính toán</a:t>
            </a:r>
            <a:endParaRPr lang="en-US" sz="1800" dirty="0"/>
          </a:p>
        </p:txBody>
      </p:sp>
      <p:sp>
        <p:nvSpPr>
          <p:cNvPr id="17" name="Text 15"/>
          <p:cNvSpPr txBox="1"/>
          <p:nvPr/>
        </p:nvSpPr>
        <p:spPr>
          <a:xfrm>
            <a:off x="6547104"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engine.py · tinh_toan.py (Python)</a:t>
            </a:r>
            <a:endParaRPr lang="en-US" sz="1300" dirty="0"/>
          </a:p>
        </p:txBody>
      </p:sp>
      <p:sp>
        <p:nvSpPr>
          <p:cNvPr id="18" name="Text 16"/>
          <p:cNvSpPr txBox="1"/>
          <p:nvPr/>
        </p:nvSpPr>
        <p:spPr>
          <a:xfrm>
            <a:off x="8951976" y="2057400"/>
            <a:ext cx="338328" cy="731520"/>
          </a:xfrm>
          <a:prstGeom prst="rect">
            <a:avLst/>
          </a:prstGeom>
          <a:noFill/>
          <a:ln/>
        </p:spPr>
        <p:txBody>
          <a:bodyPr wrap="square" lIns="0" tIns="0" rIns="0" bIns="0" rtlCol="0" anchor="ctr"/>
          <a:lstStyle/>
          <a:p>
            <a:pPr algn="ctr" indent="0" marL="0">
              <a:buNone/>
            </a:pPr>
            <a:r>
              <a:rPr lang="en-US" sz="1100" dirty="0">
                <a:solidFill>
                  <a:srgbClr val="5B6478"/>
                </a:solidFill>
                <a:latin typeface="Calibri" pitchFamily="34" charset="0"/>
                <a:ea typeface="Calibri" pitchFamily="34" charset="-122"/>
                <a:cs typeface="Calibri" pitchFamily="34" charset="-120"/>
              </a:rPr>
              <a:t>Bolt</a:t>
            </a:r>
            <a:endParaRPr lang="en-US" sz="1100" dirty="0"/>
          </a:p>
          <a:p>
            <a:pPr algn="ctr" indent="0" marL="0">
              <a:buNone/>
            </a:pPr>
            <a:r>
              <a:rPr lang="en-US" sz="1100" dirty="0">
                <a:solidFill>
                  <a:srgbClr val="5B6478"/>
                </a:solidFill>
                <a:latin typeface="Calibri" pitchFamily="34" charset="0"/>
                <a:ea typeface="Calibri" pitchFamily="34" charset="-122"/>
                <a:cs typeface="Calibri" pitchFamily="34" charset="-120"/>
              </a:rPr>
              <a:t>⇄</a:t>
            </a:r>
            <a:endParaRPr lang="en-US" sz="1100" dirty="0"/>
          </a:p>
        </p:txBody>
      </p:sp>
      <p:sp>
        <p:nvSpPr>
          <p:cNvPr id="19" name="Shape 17"/>
          <p:cNvSpPr/>
          <p:nvPr/>
        </p:nvSpPr>
        <p:spPr>
          <a:xfrm>
            <a:off x="9272016" y="1554480"/>
            <a:ext cx="2606040" cy="1737360"/>
          </a:xfrm>
          <a:prstGeom prst="roundRect">
            <a:avLst>
              <a:gd name="adj" fmla="val 6316"/>
            </a:avLst>
          </a:prstGeom>
          <a:solidFill>
            <a:srgbClr val="E3F6EE"/>
          </a:solidFill>
          <a:ln w="9525">
            <a:solidFill>
              <a:srgbClr val="E3F6EE"/>
            </a:solidFill>
            <a:prstDash val="solid"/>
          </a:ln>
          <a:effectLst>
            <a:outerShdw sx="100000" sy="100000" kx="0" ky="0" algn="bl" rotWithShape="0" blurRad="101600" dist="25400" dir="5400000">
              <a:srgbClr val="1B2540">
                <a:alpha val="12000"/>
              </a:srgbClr>
            </a:outerShdw>
          </a:effectLst>
        </p:spPr>
      </p:sp>
      <p:sp>
        <p:nvSpPr>
          <p:cNvPr id="20" name="Text 18"/>
          <p:cNvSpPr txBox="1"/>
          <p:nvPr/>
        </p:nvSpPr>
        <p:spPr>
          <a:xfrm>
            <a:off x="9454896" y="1737360"/>
            <a:ext cx="2240280" cy="685800"/>
          </a:xfrm>
          <a:prstGeom prst="rect">
            <a:avLst/>
          </a:prstGeom>
          <a:noFill/>
          <a:ln/>
        </p:spPr>
        <p:txBody>
          <a:bodyPr wrap="square" lIns="0" tIns="0" rIns="0" bIns="0" rtlCol="0" anchor="ctr"/>
          <a:lstStyle/>
          <a:p>
            <a:pPr algn="ctr" indent="0" marL="0">
              <a:buNone/>
            </a:pPr>
            <a:r>
              <a:rPr lang="en-US" sz="1800" b="1" dirty="0">
                <a:solidFill>
                  <a:srgbClr val="0F8A5F"/>
                </a:solidFill>
                <a:latin typeface="Cambria" pitchFamily="34" charset="0"/>
                <a:ea typeface="Cambria" pitchFamily="34" charset="-122"/>
                <a:cs typeface="Cambria" pitchFamily="34" charset="-120"/>
              </a:rPr>
              <a:t>Neo4j</a:t>
            </a:r>
            <a:endParaRPr lang="en-US" sz="1800" dirty="0"/>
          </a:p>
        </p:txBody>
      </p:sp>
      <p:sp>
        <p:nvSpPr>
          <p:cNvPr id="21" name="Text 19"/>
          <p:cNvSpPr txBox="1"/>
          <p:nvPr/>
        </p:nvSpPr>
        <p:spPr>
          <a:xfrm>
            <a:off x="9454896"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Lưu tri thức, chạy truy vấn Cypher</a:t>
            </a:r>
            <a:endParaRPr lang="en-US" sz="1300" dirty="0"/>
          </a:p>
        </p:txBody>
      </p:sp>
      <p:sp>
        <p:nvSpPr>
          <p:cNvPr id="22" name="Text 20"/>
          <p:cNvSpPr txBox="1"/>
          <p:nvPr/>
        </p:nvSpPr>
        <p:spPr>
          <a:xfrm>
            <a:off x="548640" y="3611880"/>
            <a:ext cx="4572000" cy="365760"/>
          </a:xfrm>
          <a:prstGeom prst="rect">
            <a:avLst/>
          </a:prstGeom>
          <a:noFill/>
          <a:ln/>
        </p:spPr>
        <p:txBody>
          <a:bodyPr wrap="square" lIns="0" tIns="0" rIns="0" bIns="0" rtlCol="0" anchor="t"/>
          <a:lstStyle/>
          <a:p>
            <a:pPr indent="0" marL="0">
              <a:buNone/>
            </a:pPr>
            <a:r>
              <a:rPr lang="en-US" sz="1600" b="1" dirty="0">
                <a:solidFill>
                  <a:srgbClr val="1B2540"/>
                </a:solidFill>
                <a:latin typeface="Calibri" pitchFamily="34" charset="0"/>
                <a:ea typeface="Calibri" pitchFamily="34" charset="-122"/>
                <a:cs typeface="Calibri" pitchFamily="34" charset="-120"/>
              </a:rPr>
              <a:t>Công nghệ</a:t>
            </a:r>
            <a:endParaRPr lang="en-US" sz="1600" dirty="0"/>
          </a:p>
        </p:txBody>
      </p:sp>
      <p:sp>
        <p:nvSpPr>
          <p:cNvPr id="23" name="Shape 21"/>
          <p:cNvSpPr/>
          <p:nvPr/>
        </p:nvSpPr>
        <p:spPr>
          <a:xfrm>
            <a:off x="548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4" name="Text 22"/>
          <p:cNvSpPr txBox="1"/>
          <p:nvPr/>
        </p:nvSpPr>
        <p:spPr>
          <a:xfrm>
            <a:off x="731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Neo4j</a:t>
            </a:r>
            <a:endParaRPr lang="en-US" sz="1600" dirty="0"/>
          </a:p>
        </p:txBody>
      </p:sp>
      <p:sp>
        <p:nvSpPr>
          <p:cNvPr id="25" name="Text 23"/>
          <p:cNvSpPr txBox="1"/>
          <p:nvPr/>
        </p:nvSpPr>
        <p:spPr>
          <a:xfrm>
            <a:off x="731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CSDL đồ thị (Docker)</a:t>
            </a:r>
            <a:endParaRPr lang="en-US" sz="1200" dirty="0"/>
          </a:p>
        </p:txBody>
      </p:sp>
      <p:sp>
        <p:nvSpPr>
          <p:cNvPr id="26" name="Shape 24"/>
          <p:cNvSpPr/>
          <p:nvPr/>
        </p:nvSpPr>
        <p:spPr>
          <a:xfrm>
            <a:off x="2834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7" name="Text 25"/>
          <p:cNvSpPr txBox="1"/>
          <p:nvPr/>
        </p:nvSpPr>
        <p:spPr>
          <a:xfrm>
            <a:off x="3017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Cypher</a:t>
            </a:r>
            <a:endParaRPr lang="en-US" sz="1600" dirty="0"/>
          </a:p>
        </p:txBody>
      </p:sp>
      <p:sp>
        <p:nvSpPr>
          <p:cNvPr id="28" name="Text 26"/>
          <p:cNvSpPr txBox="1"/>
          <p:nvPr/>
        </p:nvSpPr>
        <p:spPr>
          <a:xfrm>
            <a:off x="3017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Ngôn ngữ truy vấn</a:t>
            </a:r>
            <a:endParaRPr lang="en-US" sz="1200" dirty="0"/>
          </a:p>
        </p:txBody>
      </p:sp>
      <p:sp>
        <p:nvSpPr>
          <p:cNvPr id="29" name="Shape 27"/>
          <p:cNvSpPr/>
          <p:nvPr/>
        </p:nvSpPr>
        <p:spPr>
          <a:xfrm>
            <a:off x="5120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0" name="Text 28"/>
          <p:cNvSpPr txBox="1"/>
          <p:nvPr/>
        </p:nvSpPr>
        <p:spPr>
          <a:xfrm>
            <a:off x="5303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Python 3</a:t>
            </a:r>
            <a:endParaRPr lang="en-US" sz="1600" dirty="0"/>
          </a:p>
        </p:txBody>
      </p:sp>
      <p:sp>
        <p:nvSpPr>
          <p:cNvPr id="31" name="Text 29"/>
          <p:cNvSpPr txBox="1"/>
          <p:nvPr/>
        </p:nvSpPr>
        <p:spPr>
          <a:xfrm>
            <a:off x="5303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Bộ suy luận, tính toán</a:t>
            </a:r>
            <a:endParaRPr lang="en-US" sz="1200" dirty="0"/>
          </a:p>
        </p:txBody>
      </p:sp>
      <p:sp>
        <p:nvSpPr>
          <p:cNvPr id="32" name="Shape 30"/>
          <p:cNvSpPr/>
          <p:nvPr/>
        </p:nvSpPr>
        <p:spPr>
          <a:xfrm>
            <a:off x="7406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3" name="Text 31"/>
          <p:cNvSpPr txBox="1"/>
          <p:nvPr/>
        </p:nvSpPr>
        <p:spPr>
          <a:xfrm>
            <a:off x="7589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Flask</a:t>
            </a:r>
            <a:endParaRPr lang="en-US" sz="1600" dirty="0"/>
          </a:p>
        </p:txBody>
      </p:sp>
      <p:sp>
        <p:nvSpPr>
          <p:cNvPr id="34" name="Text 32"/>
          <p:cNvSpPr txBox="1"/>
          <p:nvPr/>
        </p:nvSpPr>
        <p:spPr>
          <a:xfrm>
            <a:off x="7589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Giao diện web</a:t>
            </a:r>
            <a:endParaRPr lang="en-US" sz="1200" dirty="0"/>
          </a:p>
        </p:txBody>
      </p:sp>
      <p:sp>
        <p:nvSpPr>
          <p:cNvPr id="35" name="Shape 33"/>
          <p:cNvSpPr/>
          <p:nvPr/>
        </p:nvSpPr>
        <p:spPr>
          <a:xfrm>
            <a:off x="9692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6" name="Text 34"/>
          <p:cNvSpPr txBox="1"/>
          <p:nvPr/>
        </p:nvSpPr>
        <p:spPr>
          <a:xfrm>
            <a:off x="9875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unittest</a:t>
            </a:r>
            <a:endParaRPr lang="en-US" sz="1600" dirty="0"/>
          </a:p>
        </p:txBody>
      </p:sp>
      <p:sp>
        <p:nvSpPr>
          <p:cNvPr id="37" name="Text 35"/>
          <p:cNvSpPr txBox="1"/>
          <p:nvPr/>
        </p:nvSpPr>
        <p:spPr>
          <a:xfrm>
            <a:off x="9875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45 ca kiểm thử</a:t>
            </a:r>
            <a:endParaRPr lang="en-US" sz="1200" dirty="0"/>
          </a:p>
        </p:txBody>
      </p:sp>
      <p:sp>
        <p:nvSpPr>
          <p:cNvPr id="38" name="Text 36"/>
          <p:cNvSpPr txBox="1"/>
          <p:nvPr/>
        </p:nvSpPr>
        <p:spPr>
          <a:xfrm>
            <a:off x="548640" y="5257800"/>
            <a:ext cx="11109960" cy="914400"/>
          </a:xfrm>
          <a:prstGeom prst="rect">
            <a:avLst/>
          </a:prstGeom>
          <a:noFill/>
          <a:ln/>
        </p:spPr>
        <p:txBody>
          <a:bodyPr wrap="square" lIns="0" tIns="0" rIns="0" bIns="0" rtlCol="0" anchor="t"/>
          <a:lstStyle/>
          <a:p>
            <a:pPr indent="0" marL="0">
              <a:buNone/>
            </a:pPr>
            <a:r>
              <a:rPr lang="en-US" sz="1500" b="1" dirty="0">
                <a:solidFill>
                  <a:srgbClr val="1B2540"/>
                </a:solidFill>
                <a:latin typeface="Calibri" pitchFamily="34" charset="0"/>
                <a:ea typeface="Calibri" pitchFamily="34" charset="-122"/>
                <a:cs typeface="Calibri" pitchFamily="34" charset="-120"/>
              </a:rPr>
              <a:t>Luồng xử lý: </a:t>
            </a:r>
            <a:pPr indent="0" marL="0">
              <a:buNone/>
            </a:pPr>
            <a:r>
              <a:rPr lang="en-US" sz="1500" dirty="0">
                <a:solidFill>
                  <a:srgbClr val="1D2433"/>
                </a:solidFill>
                <a:latin typeface="Calibri" pitchFamily="34" charset="0"/>
                <a:ea typeface="Calibri" pitchFamily="34" charset="-122"/>
                <a:cs typeface="Calibri" pitchFamily="34" charset="-120"/>
              </a:rPr>
              <a:t>trình duyệt gửi yêu cầu → Flask gọi bộ suy luận → bộ suy luận gửi các câu Cypher tới Neo4j qua giao thức Bolt (cổng 7687) → lặp đến điểm bất động → trả về kết luận, lời giải, sơ đồ và danh sách câu Cypher đã chạy.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nhận dạng tứ giác</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11</a:t>
            </a:r>
            <a:endParaRPr lang="en-US" sz="1000" dirty="0"/>
          </a:p>
        </p:txBody>
      </p:sp>
      <p:pic>
        <p:nvPicPr>
          <p:cNvPr id="7" name="Image 0" descr="/tmp/claude-0/-home-claude/98539f31-3192-5884-a81c-346bec00204d/scratchpad/ppt/c_nhandang.png">    </p:cNvPr>
          <p:cNvPicPr>
            <a:picLocks noChangeAspect="1"/>
          </p:cNvPicPr>
          <p:nvPr/>
        </p:nvPicPr>
        <p:blipFill>
          <a:blip r:embed="rId1"/>
          <a:stretch>
            <a:fillRect/>
          </a:stretch>
        </p:blipFill>
        <p:spPr>
          <a:xfrm>
            <a:off x="548640" y="1371600"/>
            <a:ext cx="7863840" cy="3972218"/>
          </a:xfrm>
          <a:prstGeom prst="rect">
            <a:avLst/>
          </a:prstGeom>
        </p:spPr>
      </p:pic>
      <p:sp>
        <p:nvSpPr>
          <p:cNvPr id="8" name="Shape 5"/>
          <p:cNvSpPr/>
          <p:nvPr/>
        </p:nvSpPr>
        <p:spPr>
          <a:xfrm>
            <a:off x="8732520" y="1417320"/>
            <a:ext cx="457200" cy="457200"/>
          </a:xfrm>
          <a:prstGeom prst="ellipse">
            <a:avLst/>
          </a:prstGeom>
          <a:solidFill>
            <a:srgbClr val="2F5BEA"/>
          </a:solidFill>
          <a:ln w="12700">
            <a:solidFill>
              <a:srgbClr val="2F5BEA"/>
            </a:solidFill>
            <a:prstDash val="solid"/>
          </a:ln>
        </p:spPr>
      </p:sp>
      <p:sp>
        <p:nvSpPr>
          <p:cNvPr id="9" name="Text 6"/>
          <p:cNvSpPr txBox="1"/>
          <p:nvPr/>
        </p:nvSpPr>
        <p:spPr>
          <a:xfrm>
            <a:off x="873252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9326880" y="137160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Chọn hình ban đầu &amp; tích tính chất</a:t>
            </a:r>
            <a:endParaRPr lang="en-US" sz="1500" dirty="0"/>
          </a:p>
        </p:txBody>
      </p:sp>
      <p:sp>
        <p:nvSpPr>
          <p:cNvPr id="11" name="Text 8"/>
          <p:cNvSpPr txBox="1"/>
          <p:nvPr/>
        </p:nvSpPr>
        <p:spPr>
          <a:xfrm>
            <a:off x="9326880" y="181051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Các tính chất chia 3 nhóm: cạnh, góc, đường chéo</a:t>
            </a:r>
            <a:endParaRPr lang="en-US" sz="1250" dirty="0"/>
          </a:p>
        </p:txBody>
      </p:sp>
      <p:sp>
        <p:nvSpPr>
          <p:cNvPr id="12" name="Shape 9"/>
          <p:cNvSpPr/>
          <p:nvPr/>
        </p:nvSpPr>
        <p:spPr>
          <a:xfrm>
            <a:off x="8732520" y="2606040"/>
            <a:ext cx="457200" cy="457200"/>
          </a:xfrm>
          <a:prstGeom prst="ellipse">
            <a:avLst/>
          </a:prstGeom>
          <a:solidFill>
            <a:srgbClr val="2F5BEA"/>
          </a:solidFill>
          <a:ln w="12700">
            <a:solidFill>
              <a:srgbClr val="2F5BEA"/>
            </a:solidFill>
            <a:prstDash val="solid"/>
          </a:ln>
        </p:spPr>
      </p:sp>
      <p:sp>
        <p:nvSpPr>
          <p:cNvPr id="13" name="Text 10"/>
          <p:cNvSpPr txBox="1"/>
          <p:nvPr/>
        </p:nvSpPr>
        <p:spPr>
          <a:xfrm>
            <a:off x="8732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txBox="1"/>
          <p:nvPr/>
        </p:nvSpPr>
        <p:spPr>
          <a:xfrm>
            <a:off x="9326880" y="256032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Kết luận + lời giải từng bước</a:t>
            </a:r>
            <a:endParaRPr lang="en-US" sz="1500" dirty="0"/>
          </a:p>
        </p:txBody>
      </p:sp>
      <p:sp>
        <p:nvSpPr>
          <p:cNvPr id="15" name="Text 12"/>
          <p:cNvSpPr txBox="1"/>
          <p:nvPr/>
        </p:nvSpPr>
        <p:spPr>
          <a:xfrm>
            <a:off x="9326880" y="299923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Mỗi bước ghi rõ dấu hiệu, tính chất lấy từ giả thiết hay kế thừa</a:t>
            </a:r>
            <a:endParaRPr lang="en-US" sz="1250" dirty="0"/>
          </a:p>
        </p:txBody>
      </p:sp>
      <p:sp>
        <p:nvSpPr>
          <p:cNvPr id="16" name="Shape 13"/>
          <p:cNvSpPr/>
          <p:nvPr/>
        </p:nvSpPr>
        <p:spPr>
          <a:xfrm>
            <a:off x="8732520" y="3794760"/>
            <a:ext cx="457200" cy="457200"/>
          </a:xfrm>
          <a:prstGeom prst="ellipse">
            <a:avLst/>
          </a:prstGeom>
          <a:solidFill>
            <a:srgbClr val="2F5BEA"/>
          </a:solidFill>
          <a:ln w="12700">
            <a:solidFill>
              <a:srgbClr val="2F5BEA"/>
            </a:solidFill>
            <a:prstDash val="solid"/>
          </a:ln>
        </p:spPr>
      </p:sp>
      <p:sp>
        <p:nvSpPr>
          <p:cNvPr id="17" name="Text 14"/>
          <p:cNvSpPr txBox="1"/>
          <p:nvPr/>
        </p:nvSpPr>
        <p:spPr>
          <a:xfrm>
            <a:off x="8732520" y="37947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5"/>
          <p:cNvSpPr txBox="1"/>
          <p:nvPr/>
        </p:nvSpPr>
        <p:spPr>
          <a:xfrm>
            <a:off x="9326880" y="374904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Sơ đồ tô màu</a:t>
            </a:r>
            <a:endParaRPr lang="en-US" sz="1500" dirty="0"/>
          </a:p>
        </p:txBody>
      </p:sp>
      <p:sp>
        <p:nvSpPr>
          <p:cNvPr id="19" name="Text 16"/>
          <p:cNvSpPr txBox="1"/>
          <p:nvPr/>
        </p:nvSpPr>
        <p:spPr>
          <a:xfrm>
            <a:off x="9326880" y="418795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Hình ban đầu, các hình suy ra được, hình kết luận</a:t>
            </a:r>
            <a:endParaRPr lang="en-US" sz="1250" dirty="0"/>
          </a:p>
        </p:txBody>
      </p:sp>
      <p:sp>
        <p:nvSpPr>
          <p:cNvPr id="20" name="Shape 17"/>
          <p:cNvSpPr/>
          <p:nvPr/>
        </p:nvSpPr>
        <p:spPr>
          <a:xfrm>
            <a:off x="8732520" y="4983480"/>
            <a:ext cx="457200" cy="457200"/>
          </a:xfrm>
          <a:prstGeom prst="ellipse">
            <a:avLst/>
          </a:prstGeom>
          <a:solidFill>
            <a:srgbClr val="2F5BEA"/>
          </a:solidFill>
          <a:ln w="12700">
            <a:solidFill>
              <a:srgbClr val="2F5BEA"/>
            </a:solidFill>
            <a:prstDash val="solid"/>
          </a:ln>
        </p:spPr>
      </p:sp>
      <p:sp>
        <p:nvSpPr>
          <p:cNvPr id="21" name="Text 18"/>
          <p:cNvSpPr txBox="1"/>
          <p:nvPr/>
        </p:nvSpPr>
        <p:spPr>
          <a:xfrm>
            <a:off x="8732520" y="4983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19"/>
          <p:cNvSpPr txBox="1"/>
          <p:nvPr/>
        </p:nvSpPr>
        <p:spPr>
          <a:xfrm>
            <a:off x="9326880" y="493776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Minh bạch</a:t>
            </a:r>
            <a:endParaRPr lang="en-US" sz="1500" dirty="0"/>
          </a:p>
        </p:txBody>
      </p:sp>
      <p:sp>
        <p:nvSpPr>
          <p:cNvPr id="23" name="Text 20"/>
          <p:cNvSpPr txBox="1"/>
          <p:nvPr/>
        </p:nvSpPr>
        <p:spPr>
          <a:xfrm>
            <a:off x="9326880" y="537667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Xem được mọi câu Cypher đã chạy trên Neo4j</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chưa đủ dữ kiện và giả thiết mâu thuẫn</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12</a:t>
            </a:r>
            <a:endParaRPr lang="en-US" sz="1000" dirty="0"/>
          </a:p>
        </p:txBody>
      </p:sp>
      <p:sp>
        <p:nvSpPr>
          <p:cNvPr id="7" name="Text 5"/>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500" b="1" dirty="0">
                <a:solidFill>
                  <a:srgbClr val="B45309"/>
                </a:solidFill>
                <a:latin typeface="Calibri" pitchFamily="34" charset="0"/>
                <a:ea typeface="Calibri" pitchFamily="34" charset="-122"/>
                <a:cs typeface="Calibri" pitchFamily="34" charset="-120"/>
              </a:rPr>
              <a:t>Hình thang + hai cạnh bên bằng nhau</a:t>
            </a:r>
            <a:endParaRPr lang="en-US" sz="1500" dirty="0"/>
          </a:p>
        </p:txBody>
      </p:sp>
      <p:pic>
        <p:nvPicPr>
          <p:cNvPr id="8" name="Image 0" descr="/tmp/claude-0/-home-claude/98539f31-3192-5884-a81c-346bec00204d/scratchpad/ppt/c_chuadu.png">    </p:cNvPr>
          <p:cNvPicPr>
            <a:picLocks noChangeAspect="1"/>
          </p:cNvPicPr>
          <p:nvPr/>
        </p:nvPicPr>
        <p:blipFill>
          <a:blip r:embed="rId1"/>
          <a:stretch>
            <a:fillRect/>
          </a:stretch>
        </p:blipFill>
        <p:spPr>
          <a:xfrm>
            <a:off x="548640" y="1737360"/>
            <a:ext cx="5486400" cy="1816608"/>
          </a:xfrm>
          <a:prstGeom prst="rect">
            <a:avLst/>
          </a:prstGeom>
        </p:spPr>
      </p:pic>
      <p:sp>
        <p:nvSpPr>
          <p:cNvPr id="9" name="Text 6"/>
          <p:cNvSpPr txBox="1"/>
          <p:nvPr/>
        </p:nvSpPr>
        <p:spPr>
          <a:xfrm>
            <a:off x="6355080" y="1325880"/>
            <a:ext cx="5303520" cy="365760"/>
          </a:xfrm>
          <a:prstGeom prst="rect">
            <a:avLst/>
          </a:prstGeom>
          <a:noFill/>
          <a:ln/>
        </p:spPr>
        <p:txBody>
          <a:bodyPr wrap="square" lIns="0" tIns="0" rIns="0" bIns="0" rtlCol="0" anchor="t"/>
          <a:lstStyle/>
          <a:p>
            <a:pPr indent="0" marL="0">
              <a:buNone/>
            </a:pPr>
            <a:r>
              <a:rPr lang="en-US" sz="1500" b="1" dirty="0">
                <a:solidFill>
                  <a:srgbClr val="0F8A5F"/>
                </a:solidFill>
                <a:latin typeface="Calibri" pitchFamily="34" charset="0"/>
                <a:ea typeface="Calibri" pitchFamily="34" charset="-122"/>
                <a:cs typeface="Calibri" pitchFamily="34" charset="-120"/>
              </a:rPr>
              <a:t>Thêm “hai cạnh bên không song song”</a:t>
            </a:r>
            <a:endParaRPr lang="en-US" sz="1500" dirty="0"/>
          </a:p>
        </p:txBody>
      </p:sp>
      <p:pic>
        <p:nvPicPr>
          <p:cNvPr id="10" name="Image 1" descr="/tmp/claude-0/-home-claude/98539f31-3192-5884-a81c-346bec00204d/scratchpad/ppt/c_thangcan.png">    </p:cNvPr>
          <p:cNvPicPr>
            <a:picLocks noChangeAspect="1"/>
          </p:cNvPicPr>
          <p:nvPr/>
        </p:nvPicPr>
        <p:blipFill>
          <a:blip r:embed="rId2"/>
          <a:stretch>
            <a:fillRect/>
          </a:stretch>
        </p:blipFill>
        <p:spPr>
          <a:xfrm>
            <a:off x="6355080" y="1737360"/>
            <a:ext cx="5303520" cy="978205"/>
          </a:xfrm>
          <a:prstGeom prst="rect">
            <a:avLst/>
          </a:prstGeom>
        </p:spPr>
      </p:pic>
      <p:sp>
        <p:nvSpPr>
          <p:cNvPr id="11" name="Text 7"/>
          <p:cNvSpPr txBox="1"/>
          <p:nvPr/>
        </p:nvSpPr>
        <p:spPr>
          <a:xfrm>
            <a:off x="6355080" y="2971800"/>
            <a:ext cx="5303520" cy="365760"/>
          </a:xfrm>
          <a:prstGeom prst="rect">
            <a:avLst/>
          </a:prstGeom>
          <a:noFill/>
          <a:ln/>
        </p:spPr>
        <p:txBody>
          <a:bodyPr wrap="square" lIns="0" tIns="0" rIns="0" bIns="0" rtlCol="0" anchor="t"/>
          <a:lstStyle/>
          <a:p>
            <a:pPr indent="0" marL="0">
              <a:buNone/>
            </a:pPr>
            <a:r>
              <a:rPr lang="en-US" sz="1500" b="1" dirty="0">
                <a:solidFill>
                  <a:srgbClr val="C0362C"/>
                </a:solidFill>
                <a:latin typeface="Calibri" pitchFamily="34" charset="0"/>
                <a:ea typeface="Calibri" pitchFamily="34" charset="-122"/>
                <a:cs typeface="Calibri" pitchFamily="34" charset="-120"/>
              </a:rPr>
              <a:t>Hai cặp cạnh đối song song + hai cạnh bên không song song</a:t>
            </a:r>
            <a:endParaRPr lang="en-US" sz="1500" dirty="0"/>
          </a:p>
        </p:txBody>
      </p:sp>
      <p:pic>
        <p:nvPicPr>
          <p:cNvPr id="12" name="Image 2" descr="/tmp/claude-0/-home-claude/98539f31-3192-5884-a81c-346bec00204d/scratchpad/ppt/c_mauthuan.png">    </p:cNvPr>
          <p:cNvPicPr>
            <a:picLocks noChangeAspect="1"/>
          </p:cNvPicPr>
          <p:nvPr/>
        </p:nvPicPr>
        <p:blipFill>
          <a:blip r:embed="rId3"/>
          <a:stretch>
            <a:fillRect/>
          </a:stretch>
        </p:blipFill>
        <p:spPr>
          <a:xfrm>
            <a:off x="6355080" y="3383280"/>
            <a:ext cx="5303520" cy="1361237"/>
          </a:xfrm>
          <a:prstGeom prst="rect">
            <a:avLst/>
          </a:prstGeom>
        </p:spPr>
      </p:pic>
      <p:sp>
        <p:nvSpPr>
          <p:cNvPr id="13" name="Shape 8"/>
          <p:cNvSpPr/>
          <p:nvPr/>
        </p:nvSpPr>
        <p:spPr>
          <a:xfrm>
            <a:off x="548640" y="3840480"/>
            <a:ext cx="5486400" cy="2423160"/>
          </a:xfrm>
          <a:prstGeom prst="roundRect">
            <a:avLst>
              <a:gd name="adj" fmla="val 4528"/>
            </a:avLst>
          </a:prstGeom>
          <a:solidFill>
            <a:srgbClr val="E8EEFF"/>
          </a:solidFill>
          <a:ln w="9525">
            <a:solidFill>
              <a:srgbClr val="E8EEFF"/>
            </a:solidFill>
            <a:prstDash val="solid"/>
          </a:ln>
        </p:spPr>
      </p:sp>
      <p:sp>
        <p:nvSpPr>
          <p:cNvPr id="14" name="Text 9"/>
          <p:cNvSpPr txBox="1"/>
          <p:nvPr/>
        </p:nvSpPr>
        <p:spPr>
          <a:xfrm>
            <a:off x="777240" y="4023360"/>
            <a:ext cx="5029200" cy="2103120"/>
          </a:xfrm>
          <a:prstGeom prst="rect">
            <a:avLst/>
          </a:prstGeom>
          <a:noFill/>
          <a:ln/>
        </p:spPr>
        <p:txBody>
          <a:bodyPr wrap="square" lIns="0" tIns="0" rIns="0" bIns="0" rtlCol="0" anchor="t"/>
          <a:lstStyle/>
          <a:p>
            <a:pPr indent="0" marL="0">
              <a:spcAft>
                <a:spcPts val="600"/>
              </a:spcAft>
              <a:buNone/>
            </a:pPr>
            <a:r>
              <a:rPr lang="en-US" sz="1700" b="1" dirty="0">
                <a:solidFill>
                  <a:srgbClr val="2F5BEA"/>
                </a:solidFill>
                <a:latin typeface="Calibri" pitchFamily="34" charset="0"/>
                <a:ea typeface="Calibri" pitchFamily="34" charset="-122"/>
                <a:cs typeface="Calibri" pitchFamily="34" charset="-120"/>
              </a:rPr>
              <a:t>Điểm nổi bật</a:t>
            </a:r>
            <a:endParaRPr lang="en-US" sz="1500" dirty="0"/>
          </a:p>
          <a:p>
            <a:pPr marL="342900" indent="-342900">
              <a:spcAft>
                <a:spcPts val="600"/>
              </a:spcAft>
              <a:buSzPct val="100000"/>
              <a:buChar char="•"/>
            </a:pPr>
            <a:r>
              <a:rPr lang="en-US" sz="1500" dirty="0">
                <a:solidFill>
                  <a:srgbClr val="1D2433"/>
                </a:solidFill>
                <a:latin typeface="Calibri" pitchFamily="34" charset="0"/>
                <a:ea typeface="Calibri" pitchFamily="34" charset="-122"/>
                <a:cs typeface="Calibri" pitchFamily="34" charset="-120"/>
              </a:rPr>
              <a:t>Không kết luận vội khi thiếu dữ kiện — chỉ ra cần bổ sung giả thiết nào.</a:t>
            </a:r>
            <a:endParaRPr lang="en-US" sz="1500" dirty="0"/>
          </a:p>
          <a:p>
            <a:pPr marL="342900" indent="-342900">
              <a:spcAft>
                <a:spcPts val="600"/>
              </a:spcAft>
              <a:buSzPct val="100000"/>
              <a:buChar char="•"/>
            </a:pPr>
            <a:r>
              <a:rPr lang="en-US" sz="1500" dirty="0">
                <a:solidFill>
                  <a:srgbClr val="1D2433"/>
                </a:solidFill>
                <a:latin typeface="Calibri" pitchFamily="34" charset="0"/>
                <a:ea typeface="Calibri" pitchFamily="34" charset="-122"/>
                <a:cs typeface="Calibri" pitchFamily="34" charset="-120"/>
              </a:rPr>
              <a:t>Bổ sung đúng giả thiết thì kết luận được ngay.</a:t>
            </a:r>
            <a:endParaRPr lang="en-US" sz="1500" dirty="0"/>
          </a:p>
          <a:p>
            <a:pPr marL="342900" indent="-342900">
              <a:spcAft>
                <a:spcPts val="600"/>
              </a:spcAft>
              <a:buSzPct val="100000"/>
              <a:buChar char="•"/>
            </a:pPr>
            <a:r>
              <a:rPr lang="en-US" sz="1500" dirty="0">
                <a:solidFill>
                  <a:srgbClr val="1D2433"/>
                </a:solidFill>
                <a:latin typeface="Calibri" pitchFamily="34" charset="0"/>
                <a:ea typeface="Calibri" pitchFamily="34" charset="-122"/>
                <a:cs typeface="Calibri" pitchFamily="34" charset="-120"/>
              </a:rPr>
              <a:t>Phát hiện các giả thiết không thể cùng xảy ra.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tính diện tích, chu vi</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Ví dụ hình thoi — chỉ nhập hai đường chéo d₁ = 6 cm, d₂ = 8 cm</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13</a:t>
            </a:r>
            <a:endParaRPr lang="en-US" sz="1000" dirty="0"/>
          </a:p>
        </p:txBody>
      </p:sp>
      <p:pic>
        <p:nvPicPr>
          <p:cNvPr id="8" name="Image 0" descr="/tmp/claude-0/-home-claude/98539f31-3192-5884-a81c-346bec00204d/scratchpad/ppt/c_tt_form.png">    </p:cNvPr>
          <p:cNvPicPr>
            <a:picLocks noChangeAspect="1"/>
          </p:cNvPicPr>
          <p:nvPr/>
        </p:nvPicPr>
        <p:blipFill>
          <a:blip r:embed="rId1"/>
          <a:stretch>
            <a:fillRect/>
          </a:stretch>
        </p:blipFill>
        <p:spPr>
          <a:xfrm>
            <a:off x="548640" y="1417320"/>
            <a:ext cx="1996751" cy="4892040"/>
          </a:xfrm>
          <a:prstGeom prst="rect">
            <a:avLst/>
          </a:prstGeom>
        </p:spPr>
      </p:pic>
      <p:pic>
        <p:nvPicPr>
          <p:cNvPr id="9" name="Image 1" descr="/tmp/claude-0/-home-claude/98539f31-3192-5884-a81c-346bec00204d/scratchpad/ppt/c_tt_kq.png">    </p:cNvPr>
          <p:cNvPicPr>
            <a:picLocks noChangeAspect="1"/>
          </p:cNvPicPr>
          <p:nvPr/>
        </p:nvPicPr>
        <p:blipFill>
          <a:blip r:embed="rId2"/>
          <a:stretch>
            <a:fillRect/>
          </a:stretch>
        </p:blipFill>
        <p:spPr>
          <a:xfrm>
            <a:off x="3246120" y="1417320"/>
            <a:ext cx="8412480" cy="1794662"/>
          </a:xfrm>
          <a:prstGeom prst="rect">
            <a:avLst/>
          </a:prstGeom>
        </p:spPr>
      </p:pic>
      <p:pic>
        <p:nvPicPr>
          <p:cNvPr id="10" name="Image 2" descr="/tmp/claude-0/-home-claude/98539f31-3192-5884-a81c-346bec00204d/scratchpad/ppt/c_tt_steps.png">    </p:cNvPr>
          <p:cNvPicPr>
            <a:picLocks noChangeAspect="1"/>
          </p:cNvPicPr>
          <p:nvPr/>
        </p:nvPicPr>
        <p:blipFill>
          <a:blip r:embed="rId3"/>
          <a:stretch>
            <a:fillRect/>
          </a:stretch>
        </p:blipFill>
        <p:spPr>
          <a:xfrm>
            <a:off x="3246120" y="3291840"/>
            <a:ext cx="6263640" cy="2606200"/>
          </a:xfrm>
          <a:prstGeom prst="rect">
            <a:avLst/>
          </a:prstGeom>
        </p:spPr>
      </p:pic>
      <p:sp>
        <p:nvSpPr>
          <p:cNvPr id="11" name="Text 6"/>
          <p:cNvSpPr txBox="1"/>
          <p:nvPr/>
        </p:nvSpPr>
        <p:spPr>
          <a:xfrm>
            <a:off x="9692640" y="3429000"/>
            <a:ext cx="1965960" cy="2834640"/>
          </a:xfrm>
          <a:prstGeom prst="rect">
            <a:avLst/>
          </a:prstGeom>
          <a:noFill/>
          <a:ln/>
        </p:spPr>
        <p:txBody>
          <a:bodyPr wrap="square" lIns="0" tIns="0" rIns="0" bIns="0" rtlCol="0" anchor="t"/>
          <a:lstStyle/>
          <a:p>
            <a:pPr indent="0" marL="0">
              <a:spcAft>
                <a:spcPts val="600"/>
              </a:spcAft>
              <a:buNone/>
            </a:pPr>
            <a:r>
              <a:rPr lang="en-US" sz="1600" b="1" dirty="0">
                <a:solidFill>
                  <a:srgbClr val="2F5BEA"/>
                </a:solidFill>
                <a:latin typeface="Calibri" pitchFamily="34" charset="0"/>
                <a:ea typeface="Calibri" pitchFamily="34" charset="-122"/>
                <a:cs typeface="Calibri" pitchFamily="34" charset="-120"/>
              </a:rPr>
              <a:t>Cách tính</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Công thức lấy từ Neo4j</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Áp dụng lặp lại đến khi không tính thêm được</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Cảnh báo số liệu không nhất quán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Công thức diện tích &amp; chu vi trong đồ thị tri thức</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9 hình · 71 đại lượng · 68 công thức (kèm đường chéo, chiều cao, góc, bán kính…)</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691640"/>
                <a:gridCol w="3246120"/>
                <a:gridCol w="1600200"/>
                <a:gridCol w="6858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Hình</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Diện tích</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Chu vi</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Số CT</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Tứ giác</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d₁ · d₂ · sin φ</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c + d</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thang</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(a + b) · h   ;   S = m · h</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c + d</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diều</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d₁ · d₂</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2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thang vuông</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(a + b) · h</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h + c</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thang cân</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(a + b) · h</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+ 2c</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bình hành</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a · hₐ   ;   S = a · b · sin α</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2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chữ nhật</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2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thoi</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d₁ · d₂   ;   S = a · h   ;   S = a² · sin α</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4a</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vuông</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a²   ;   S = d² / 2</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4a</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8092440" y="1463040"/>
            <a:ext cx="3566160" cy="365760"/>
          </a:xfrm>
          <a:prstGeom prst="rect">
            <a:avLst/>
          </a:prstGeom>
          <a:noFill/>
          <a:ln/>
        </p:spPr>
        <p:txBody>
          <a:bodyPr wrap="square" lIns="0" tIns="0" rIns="0" bIns="0" rtlCol="0" anchor="t"/>
          <a:lstStyle/>
          <a:p>
            <a:pPr indent="0" marL="0">
              <a:buNone/>
            </a:pPr>
            <a:r>
              <a:rPr lang="en-US" sz="1500" b="1" dirty="0">
                <a:solidFill>
                  <a:srgbClr val="1B2540"/>
                </a:solidFill>
                <a:latin typeface="Calibri" pitchFamily="34" charset="0"/>
                <a:ea typeface="Calibri" pitchFamily="34" charset="-122"/>
                <a:cs typeface="Calibri" pitchFamily="34" charset="-120"/>
              </a:rPr>
              <a:t>Một công thức được lưu như sau:</a:t>
            </a:r>
            <a:endParaRPr lang="en-US" sz="1500" dirty="0"/>
          </a:p>
        </p:txBody>
      </p:sp>
      <p:sp>
        <p:nvSpPr>
          <p:cNvPr id="10" name="Shape 7"/>
          <p:cNvSpPr/>
          <p:nvPr/>
        </p:nvSpPr>
        <p:spPr>
          <a:xfrm>
            <a:off x="8092440" y="1874520"/>
            <a:ext cx="3566160" cy="2240280"/>
          </a:xfrm>
          <a:prstGeom prst="roundRect">
            <a:avLst>
              <a:gd name="adj" fmla="val 4082"/>
            </a:avLst>
          </a:prstGeom>
          <a:solidFill>
            <a:srgbClr val="0F1729"/>
          </a:solidFill>
          <a:ln w="12700">
            <a:solidFill>
              <a:srgbClr val="0F1729"/>
            </a:solidFill>
            <a:prstDash val="solid"/>
          </a:ln>
        </p:spPr>
      </p:sp>
      <p:sp>
        <p:nvSpPr>
          <p:cNvPr id="11" name="Text 8"/>
          <p:cNvSpPr txBox="1"/>
          <p:nvPr/>
        </p:nvSpPr>
        <p:spPr>
          <a:xfrm>
            <a:off x="8321040" y="2039112"/>
            <a:ext cx="3108960" cy="1911096"/>
          </a:xfrm>
          <a:prstGeom prst="rect">
            <a:avLst/>
          </a:prstGeom>
          <a:noFill/>
          <a:ln/>
        </p:spPr>
        <p:txBody>
          <a:bodyPr wrap="square" lIns="0" tIns="0" rIns="0" bIns="0" rtlCol="0" anchor="t"/>
          <a:lstStyle/>
          <a:p>
            <a:pPr indent="0" marL="0">
              <a:buNone/>
            </a:pPr>
            <a:r>
              <a:rPr lang="en-US" sz="1200" dirty="0">
                <a:solidFill>
                  <a:srgbClr val="D6E2FF"/>
                </a:solidFill>
                <a:latin typeface="Consolas" pitchFamily="34" charset="0"/>
                <a:ea typeface="Consolas" pitchFamily="34" charset="-122"/>
                <a:cs typeface="Consolas" pitchFamily="34" charset="-120"/>
              </a:rPr>
              <a:t>(:Hinh {ten:'Hình thoi'})</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  -[:CO_CONG_THUC]-&gt;</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(c:CongThuc {</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  hien_thi: 'S = ½·d₁·d₂',</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  bieu_thuc: '0.5*d1*d2'})</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(c)-[:CAN_BIEN]-&gt;(d₁), (d₂)</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(c)-[:TINH_RA]-&gt;(S)</a:t>
            </a:r>
            <a:endParaRPr lang="en-US" sz="1200" dirty="0"/>
          </a:p>
        </p:txBody>
      </p:sp>
      <p:sp>
        <p:nvSpPr>
          <p:cNvPr id="12" name="Shape 9"/>
          <p:cNvSpPr/>
          <p:nvPr/>
        </p:nvSpPr>
        <p:spPr>
          <a:xfrm>
            <a:off x="8092440" y="4389120"/>
            <a:ext cx="3566160" cy="1645920"/>
          </a:xfrm>
          <a:prstGeom prst="roundRect">
            <a:avLst>
              <a:gd name="adj" fmla="val 6667"/>
            </a:avLst>
          </a:prstGeom>
          <a:solidFill>
            <a:srgbClr val="E3F6EE"/>
          </a:solidFill>
          <a:ln w="9525">
            <a:solidFill>
              <a:srgbClr val="E3F6EE"/>
            </a:solidFill>
            <a:prstDash val="solid"/>
          </a:ln>
        </p:spPr>
      </p:sp>
      <p:sp>
        <p:nvSpPr>
          <p:cNvPr id="13" name="Text 10"/>
          <p:cNvSpPr txBox="1"/>
          <p:nvPr/>
        </p:nvSpPr>
        <p:spPr>
          <a:xfrm>
            <a:off x="8275320" y="4572000"/>
            <a:ext cx="3200400" cy="1325880"/>
          </a:xfrm>
          <a:prstGeom prst="rect">
            <a:avLst/>
          </a:prstGeom>
          <a:noFill/>
          <a:ln/>
        </p:spPr>
        <p:txBody>
          <a:bodyPr wrap="square" lIns="0" tIns="0" rIns="0" bIns="0" rtlCol="0" anchor="t"/>
          <a:lstStyle/>
          <a:p>
            <a:pPr indent="0" marL="0">
              <a:buNone/>
            </a:pPr>
            <a:r>
              <a:rPr lang="en-US" sz="1400" dirty="0">
                <a:solidFill>
                  <a:srgbClr val="1D2433"/>
                </a:solidFill>
                <a:latin typeface="Calibri" pitchFamily="34" charset="0"/>
                <a:ea typeface="Calibri" pitchFamily="34" charset="-122"/>
                <a:cs typeface="Calibri" pitchFamily="34" charset="-120"/>
              </a:rPr>
              <a:t>Muốn thêm công thức mới chỉ cần thêm một dòng vào data/cong_thuc.py rồi nạp lại — không phải sửa bộ tính toán.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trò chơi Thử thách</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Kéo 4 đỉnh để tạo ra hình được yêu cầu — Neo4j nhận dạng và chấm điểm</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15</a:t>
            </a:r>
            <a:endParaRPr lang="en-US" sz="1000" dirty="0"/>
          </a:p>
        </p:txBody>
      </p:sp>
      <p:pic>
        <p:nvPicPr>
          <p:cNvPr id="8" name="Image 0" descr="/tmp/claude-0/-home-claude/98539f31-3192-5884-a81c-346bec00204d/scratchpad/ppt/g_chinhxac.png">    </p:cNvPr>
          <p:cNvPicPr>
            <a:picLocks noChangeAspect="1"/>
          </p:cNvPicPr>
          <p:nvPr/>
        </p:nvPicPr>
        <p:blipFill>
          <a:blip r:embed="rId1"/>
          <a:stretch>
            <a:fillRect/>
          </a:stretch>
        </p:blipFill>
        <p:spPr>
          <a:xfrm>
            <a:off x="548640" y="1463040"/>
            <a:ext cx="4774019" cy="4800600"/>
          </a:xfrm>
          <a:prstGeom prst="rect">
            <a:avLst/>
          </a:prstGeom>
        </p:spPr>
      </p:pic>
      <p:sp>
        <p:nvSpPr>
          <p:cNvPr id="9" name="Shape 6"/>
          <p:cNvSpPr/>
          <p:nvPr/>
        </p:nvSpPr>
        <p:spPr>
          <a:xfrm>
            <a:off x="5688419" y="1481328"/>
            <a:ext cx="457200" cy="457200"/>
          </a:xfrm>
          <a:prstGeom prst="ellipse">
            <a:avLst/>
          </a:prstGeom>
          <a:solidFill>
            <a:srgbClr val="2F5BEA"/>
          </a:solidFill>
          <a:ln w="12700">
            <a:solidFill>
              <a:srgbClr val="2F5BEA"/>
            </a:solidFill>
            <a:prstDash val="solid"/>
          </a:ln>
        </p:spPr>
      </p:sp>
      <p:sp>
        <p:nvSpPr>
          <p:cNvPr id="10" name="Text 7"/>
          <p:cNvSpPr txBox="1"/>
          <p:nvPr/>
        </p:nvSpPr>
        <p:spPr>
          <a:xfrm>
            <a:off x="5688419" y="14813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8"/>
          <p:cNvSpPr txBox="1"/>
          <p:nvPr/>
        </p:nvSpPr>
        <p:spPr>
          <a:xfrm>
            <a:off x="6328499" y="1463040"/>
            <a:ext cx="5375821"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Kéo thả đỉnh</a:t>
            </a:r>
            <a:endParaRPr lang="en-US" sz="1700" dirty="0"/>
          </a:p>
        </p:txBody>
      </p:sp>
      <p:sp>
        <p:nvSpPr>
          <p:cNvPr id="12" name="Text 9"/>
          <p:cNvSpPr txBox="1"/>
          <p:nvPr/>
        </p:nvSpPr>
        <p:spPr>
          <a:xfrm>
            <a:off x="6328499" y="1847088"/>
            <a:ext cx="5375821"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Đỉnh dính vào lưới ô vuông ⇒ toạ độ nguyên</a:t>
            </a:r>
            <a:endParaRPr lang="en-US" sz="1350" dirty="0"/>
          </a:p>
        </p:txBody>
      </p:sp>
      <p:sp>
        <p:nvSpPr>
          <p:cNvPr id="13" name="Shape 10"/>
          <p:cNvSpPr/>
          <p:nvPr/>
        </p:nvSpPr>
        <p:spPr>
          <a:xfrm>
            <a:off x="5688419" y="2459736"/>
            <a:ext cx="457200" cy="457200"/>
          </a:xfrm>
          <a:prstGeom prst="ellipse">
            <a:avLst/>
          </a:prstGeom>
          <a:solidFill>
            <a:srgbClr val="2F5BEA"/>
          </a:solidFill>
          <a:ln w="12700">
            <a:solidFill>
              <a:srgbClr val="2F5BEA"/>
            </a:solidFill>
            <a:prstDash val="solid"/>
          </a:ln>
        </p:spPr>
      </p:sp>
      <p:sp>
        <p:nvSpPr>
          <p:cNvPr id="14" name="Text 11"/>
          <p:cNvSpPr txBox="1"/>
          <p:nvPr/>
        </p:nvSpPr>
        <p:spPr>
          <a:xfrm>
            <a:off x="5688419" y="24597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txBox="1"/>
          <p:nvPr/>
        </p:nvSpPr>
        <p:spPr>
          <a:xfrm>
            <a:off x="6328499" y="2441448"/>
            <a:ext cx="5375821"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Toạ độ → tính chất</a:t>
            </a:r>
            <a:endParaRPr lang="en-US" sz="1700" dirty="0"/>
          </a:p>
        </p:txBody>
      </p:sp>
      <p:sp>
        <p:nvSpPr>
          <p:cNvPr id="16" name="Text 13"/>
          <p:cNvSpPr txBox="1"/>
          <p:nvPr/>
        </p:nvSpPr>
        <p:spPr>
          <a:xfrm>
            <a:off x="6328499" y="2825496"/>
            <a:ext cx="5375821"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Song song ⇔ tích có hướng = 0; vuông góc ⇔ tích vô hướng = 0; bằng nhau ⇔ bình phương độ dài bằng nhau</a:t>
            </a:r>
            <a:endParaRPr lang="en-US" sz="1350" dirty="0"/>
          </a:p>
        </p:txBody>
      </p:sp>
      <p:sp>
        <p:nvSpPr>
          <p:cNvPr id="17" name="Shape 14"/>
          <p:cNvSpPr/>
          <p:nvPr/>
        </p:nvSpPr>
        <p:spPr>
          <a:xfrm>
            <a:off x="5688419" y="3438144"/>
            <a:ext cx="457200" cy="457200"/>
          </a:xfrm>
          <a:prstGeom prst="ellipse">
            <a:avLst/>
          </a:prstGeom>
          <a:solidFill>
            <a:srgbClr val="2F5BEA"/>
          </a:solidFill>
          <a:ln w="12700">
            <a:solidFill>
              <a:srgbClr val="2F5BEA"/>
            </a:solidFill>
            <a:prstDash val="solid"/>
          </a:ln>
        </p:spPr>
      </p:sp>
      <p:sp>
        <p:nvSpPr>
          <p:cNvPr id="18" name="Text 15"/>
          <p:cNvSpPr txBox="1"/>
          <p:nvPr/>
        </p:nvSpPr>
        <p:spPr>
          <a:xfrm>
            <a:off x="5688419" y="34381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6328499" y="3419856"/>
            <a:ext cx="5375821"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Neo4j suy luận</a:t>
            </a:r>
            <a:endParaRPr lang="en-US" sz="1700" dirty="0"/>
          </a:p>
        </p:txBody>
      </p:sp>
      <p:sp>
        <p:nvSpPr>
          <p:cNvPr id="20" name="Text 17"/>
          <p:cNvSpPr txBox="1"/>
          <p:nvPr/>
        </p:nvSpPr>
        <p:spPr>
          <a:xfrm>
            <a:off x="6328499" y="3803904"/>
            <a:ext cx="5375821"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Dùng chung bộ suy luận với trang Nhận dạng</a:t>
            </a:r>
            <a:endParaRPr lang="en-US" sz="1350" dirty="0"/>
          </a:p>
        </p:txBody>
      </p:sp>
      <p:sp>
        <p:nvSpPr>
          <p:cNvPr id="21" name="Shape 18"/>
          <p:cNvSpPr/>
          <p:nvPr/>
        </p:nvSpPr>
        <p:spPr>
          <a:xfrm>
            <a:off x="5688419" y="4416552"/>
            <a:ext cx="457200" cy="457200"/>
          </a:xfrm>
          <a:prstGeom prst="ellipse">
            <a:avLst/>
          </a:prstGeom>
          <a:solidFill>
            <a:srgbClr val="2F5BEA"/>
          </a:solidFill>
          <a:ln w="12700">
            <a:solidFill>
              <a:srgbClr val="2F5BEA"/>
            </a:solidFill>
            <a:prstDash val="solid"/>
          </a:ln>
        </p:spPr>
      </p:sp>
      <p:sp>
        <p:nvSpPr>
          <p:cNvPr id="22" name="Text 19"/>
          <p:cNvSpPr txBox="1"/>
          <p:nvPr/>
        </p:nvSpPr>
        <p:spPr>
          <a:xfrm>
            <a:off x="5688419" y="4416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0"/>
          <p:cNvSpPr txBox="1"/>
          <p:nvPr/>
        </p:nvSpPr>
        <p:spPr>
          <a:xfrm>
            <a:off x="6328499" y="4398264"/>
            <a:ext cx="5375821"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Chấm điểm</a:t>
            </a:r>
            <a:endParaRPr lang="en-US" sz="1700" dirty="0"/>
          </a:p>
        </p:txBody>
      </p:sp>
      <p:sp>
        <p:nvSpPr>
          <p:cNvPr id="24" name="Text 21"/>
          <p:cNvSpPr txBox="1"/>
          <p:nvPr/>
        </p:nvSpPr>
        <p:spPr>
          <a:xfrm>
            <a:off x="6328499" y="4782312"/>
            <a:ext cx="5375821"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Đúng hình ⇒ +100 điểm + tốc độ + chuỗi; trường hợp đặc biệt (LA_MOT) ⇒ “Gần đúng”</a:t>
            </a:r>
            <a:endParaRPr lang="en-US" sz="1350" dirty="0"/>
          </a:p>
        </p:txBody>
      </p:sp>
      <p:sp>
        <p:nvSpPr>
          <p:cNvPr id="25" name="Shape 22"/>
          <p:cNvSpPr/>
          <p:nvPr/>
        </p:nvSpPr>
        <p:spPr>
          <a:xfrm>
            <a:off x="5688419" y="5394960"/>
            <a:ext cx="457200" cy="457200"/>
          </a:xfrm>
          <a:prstGeom prst="ellipse">
            <a:avLst/>
          </a:prstGeom>
          <a:solidFill>
            <a:srgbClr val="0F8A5F"/>
          </a:solidFill>
          <a:ln w="12700">
            <a:solidFill>
              <a:srgbClr val="0F8A5F"/>
            </a:solidFill>
            <a:prstDash val="solid"/>
          </a:ln>
        </p:spPr>
      </p:sp>
      <p:sp>
        <p:nvSpPr>
          <p:cNvPr id="26" name="Text 23"/>
          <p:cNvSpPr txBox="1"/>
          <p:nvPr/>
        </p:nvSpPr>
        <p:spPr>
          <a:xfrm>
            <a:off x="5688419" y="5394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4"/>
          <p:cNvSpPr txBox="1"/>
          <p:nvPr/>
        </p:nvSpPr>
        <p:spPr>
          <a:xfrm>
            <a:off x="6328499" y="5376672"/>
            <a:ext cx="5375821"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Bảng xếp hạng</a:t>
            </a:r>
            <a:endParaRPr lang="en-US" sz="1700" dirty="0"/>
          </a:p>
        </p:txBody>
      </p:sp>
      <p:sp>
        <p:nvSpPr>
          <p:cNvPr id="28" name="Text 25"/>
          <p:cNvSpPr txBox="1"/>
          <p:nvPr/>
        </p:nvSpPr>
        <p:spPr>
          <a:xfrm>
            <a:off x="6328499" y="5760720"/>
            <a:ext cx="5375821"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(:LuotChoi)-[:HOAN_THANH]-&gt;(:Hinh) lưu trong Neo4j</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Kết quả đạt được</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16</a:t>
            </a:r>
            <a:endParaRPr lang="en-US" sz="1000" dirty="0"/>
          </a:p>
        </p:txBody>
      </p:sp>
      <p:sp>
        <p:nvSpPr>
          <p:cNvPr id="7" name="Shape 5"/>
          <p:cNvSpPr/>
          <p:nvPr/>
        </p:nvSpPr>
        <p:spPr>
          <a:xfrm>
            <a:off x="54864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8" name="Text 6"/>
          <p:cNvSpPr txBox="1"/>
          <p:nvPr/>
        </p:nvSpPr>
        <p:spPr>
          <a:xfrm>
            <a:off x="548640" y="1554480"/>
            <a:ext cx="2606040" cy="868680"/>
          </a:xfrm>
          <a:prstGeom prst="rect">
            <a:avLst/>
          </a:prstGeom>
          <a:noFill/>
          <a:ln/>
        </p:spPr>
        <p:txBody>
          <a:bodyPr wrap="square" lIns="0" tIns="0" rIns="0" bIns="0" rtlCol="0" anchor="t"/>
          <a:lstStyle/>
          <a:p>
            <a:pPr algn="ctr" indent="0" marL="0">
              <a:buNone/>
            </a:pPr>
            <a:r>
              <a:rPr lang="en-US" sz="4400" b="1" dirty="0">
                <a:solidFill>
                  <a:srgbClr val="2F5BEA"/>
                </a:solidFill>
                <a:latin typeface="Cambria" pitchFamily="34" charset="0"/>
                <a:ea typeface="Cambria" pitchFamily="34" charset="-122"/>
                <a:cs typeface="Cambria" pitchFamily="34" charset="-120"/>
              </a:rPr>
              <a:t>26</a:t>
            </a:r>
            <a:endParaRPr lang="en-US" sz="4400" dirty="0"/>
          </a:p>
        </p:txBody>
      </p:sp>
      <p:sp>
        <p:nvSpPr>
          <p:cNvPr id="9" name="Text 7"/>
          <p:cNvSpPr txBox="1"/>
          <p:nvPr/>
        </p:nvSpPr>
        <p:spPr>
          <a:xfrm>
            <a:off x="73152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dấu hiệu nhận biết</a:t>
            </a:r>
            <a:endParaRPr lang="en-US" sz="1350" dirty="0"/>
          </a:p>
        </p:txBody>
      </p:sp>
      <p:sp>
        <p:nvSpPr>
          <p:cNvPr id="10" name="Shape 8"/>
          <p:cNvSpPr/>
          <p:nvPr/>
        </p:nvSpPr>
        <p:spPr>
          <a:xfrm>
            <a:off x="338328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Text 9"/>
          <p:cNvSpPr txBox="1"/>
          <p:nvPr/>
        </p:nvSpPr>
        <p:spPr>
          <a:xfrm>
            <a:off x="3383280" y="1554480"/>
            <a:ext cx="2606040" cy="868680"/>
          </a:xfrm>
          <a:prstGeom prst="rect">
            <a:avLst/>
          </a:prstGeom>
          <a:noFill/>
          <a:ln/>
        </p:spPr>
        <p:txBody>
          <a:bodyPr wrap="square" lIns="0" tIns="0" rIns="0" bIns="0" rtlCol="0" anchor="t"/>
          <a:lstStyle/>
          <a:p>
            <a:pPr algn="ctr" indent="0" marL="0">
              <a:buNone/>
            </a:pPr>
            <a:r>
              <a:rPr lang="en-US" sz="4400" b="1" dirty="0">
                <a:solidFill>
                  <a:srgbClr val="2F5BEA"/>
                </a:solidFill>
                <a:latin typeface="Cambria" pitchFamily="34" charset="0"/>
                <a:ea typeface="Cambria" pitchFamily="34" charset="-122"/>
                <a:cs typeface="Cambria" pitchFamily="34" charset="-120"/>
              </a:rPr>
              <a:t>68</a:t>
            </a:r>
            <a:endParaRPr lang="en-US" sz="4400" dirty="0"/>
          </a:p>
        </p:txBody>
      </p:sp>
      <p:sp>
        <p:nvSpPr>
          <p:cNvPr id="12" name="Text 10"/>
          <p:cNvSpPr txBox="1"/>
          <p:nvPr/>
        </p:nvSpPr>
        <p:spPr>
          <a:xfrm>
            <a:off x="356616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công thức tính toán</a:t>
            </a:r>
            <a:endParaRPr lang="en-US" sz="1350" dirty="0"/>
          </a:p>
        </p:txBody>
      </p:sp>
      <p:sp>
        <p:nvSpPr>
          <p:cNvPr id="13" name="Shape 11"/>
          <p:cNvSpPr/>
          <p:nvPr/>
        </p:nvSpPr>
        <p:spPr>
          <a:xfrm>
            <a:off x="621792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4" name="Text 12"/>
          <p:cNvSpPr txBox="1"/>
          <p:nvPr/>
        </p:nvSpPr>
        <p:spPr>
          <a:xfrm>
            <a:off x="6217920" y="1554480"/>
            <a:ext cx="2606040" cy="868680"/>
          </a:xfrm>
          <a:prstGeom prst="rect">
            <a:avLst/>
          </a:prstGeom>
          <a:noFill/>
          <a:ln/>
        </p:spPr>
        <p:txBody>
          <a:bodyPr wrap="square" lIns="0" tIns="0" rIns="0" bIns="0" rtlCol="0" anchor="t"/>
          <a:lstStyle/>
          <a:p>
            <a:pPr algn="ctr" indent="0" marL="0">
              <a:buNone/>
            </a:pPr>
            <a:r>
              <a:rPr lang="en-US" sz="4400" b="1" dirty="0">
                <a:solidFill>
                  <a:srgbClr val="0F8A5F"/>
                </a:solidFill>
                <a:latin typeface="Cambria" pitchFamily="34" charset="0"/>
                <a:ea typeface="Cambria" pitchFamily="34" charset="-122"/>
                <a:cs typeface="Cambria" pitchFamily="34" charset="-120"/>
              </a:rPr>
              <a:t>187</a:t>
            </a:r>
            <a:endParaRPr lang="en-US" sz="4400" dirty="0"/>
          </a:p>
        </p:txBody>
      </p:sp>
      <p:sp>
        <p:nvSpPr>
          <p:cNvPr id="15" name="Text 13"/>
          <p:cNvSpPr txBox="1"/>
          <p:nvPr/>
        </p:nvSpPr>
        <p:spPr>
          <a:xfrm>
            <a:off x="640080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truy vấn khớp kết quả trên Neo4j thật</a:t>
            </a:r>
            <a:endParaRPr lang="en-US" sz="1350" dirty="0"/>
          </a:p>
        </p:txBody>
      </p:sp>
      <p:sp>
        <p:nvSpPr>
          <p:cNvPr id="16" name="Shape 14"/>
          <p:cNvSpPr/>
          <p:nvPr/>
        </p:nvSpPr>
        <p:spPr>
          <a:xfrm>
            <a:off x="905256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7" name="Text 15"/>
          <p:cNvSpPr txBox="1"/>
          <p:nvPr/>
        </p:nvSpPr>
        <p:spPr>
          <a:xfrm>
            <a:off x="9052560" y="1554480"/>
            <a:ext cx="2606040" cy="868680"/>
          </a:xfrm>
          <a:prstGeom prst="rect">
            <a:avLst/>
          </a:prstGeom>
          <a:noFill/>
          <a:ln/>
        </p:spPr>
        <p:txBody>
          <a:bodyPr wrap="square" lIns="0" tIns="0" rIns="0" bIns="0" rtlCol="0" anchor="t"/>
          <a:lstStyle/>
          <a:p>
            <a:pPr algn="ctr" indent="0" marL="0">
              <a:buNone/>
            </a:pPr>
            <a:r>
              <a:rPr lang="en-US" sz="4400" b="1" dirty="0">
                <a:solidFill>
                  <a:srgbClr val="0F8A5F"/>
                </a:solidFill>
                <a:latin typeface="Cambria" pitchFamily="34" charset="0"/>
                <a:ea typeface="Cambria" pitchFamily="34" charset="-122"/>
                <a:cs typeface="Cambria" pitchFamily="34" charset="-120"/>
              </a:rPr>
              <a:t>45/45</a:t>
            </a:r>
            <a:endParaRPr lang="en-US" sz="4400" dirty="0"/>
          </a:p>
        </p:txBody>
      </p:sp>
      <p:sp>
        <p:nvSpPr>
          <p:cNvPr id="18" name="Text 16"/>
          <p:cNvSpPr txBox="1"/>
          <p:nvPr/>
        </p:nvSpPr>
        <p:spPr>
          <a:xfrm>
            <a:off x="923544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ca kiểm thử tự động đạt</a:t>
            </a:r>
            <a:endParaRPr lang="en-US" sz="1350" dirty="0"/>
          </a:p>
        </p:txBody>
      </p:sp>
      <p:sp>
        <p:nvSpPr>
          <p:cNvPr id="19" name="Shape 17"/>
          <p:cNvSpPr/>
          <p:nvPr/>
        </p:nvSpPr>
        <p:spPr>
          <a:xfrm>
            <a:off x="548640" y="35204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0" name="Shape 18"/>
          <p:cNvSpPr/>
          <p:nvPr/>
        </p:nvSpPr>
        <p:spPr>
          <a:xfrm>
            <a:off x="777240" y="3867912"/>
            <a:ext cx="502920" cy="502920"/>
          </a:xfrm>
          <a:prstGeom prst="ellipse">
            <a:avLst/>
          </a:prstGeom>
          <a:solidFill>
            <a:srgbClr val="0F8A5F"/>
          </a:solidFill>
          <a:ln w="12700">
            <a:solidFill>
              <a:srgbClr val="0F8A5F"/>
            </a:solidFill>
            <a:prstDash val="solid"/>
          </a:ln>
        </p:spPr>
      </p:sp>
      <p:sp>
        <p:nvSpPr>
          <p:cNvPr id="21" name="Text 19"/>
          <p:cNvSpPr txBox="1"/>
          <p:nvPr/>
        </p:nvSpPr>
        <p:spPr>
          <a:xfrm>
            <a:off x="777240" y="38679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2" name="Text 20"/>
          <p:cNvSpPr txBox="1"/>
          <p:nvPr/>
        </p:nvSpPr>
        <p:spPr>
          <a:xfrm>
            <a:off x="1463040" y="37033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Nhận dạng tứ giác</a:t>
            </a:r>
            <a:endParaRPr lang="en-US" sz="1700" dirty="0"/>
          </a:p>
        </p:txBody>
      </p:sp>
      <p:sp>
        <p:nvSpPr>
          <p:cNvPr id="23" name="Text 21"/>
          <p:cNvSpPr txBox="1"/>
          <p:nvPr/>
        </p:nvSpPr>
        <p:spPr>
          <a:xfrm>
            <a:off x="1463040" y="41148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Lời giải từng bước, phát hiện thiếu dữ kiện và mâu thuẫn</a:t>
            </a:r>
            <a:endParaRPr lang="en-US" sz="1350" dirty="0"/>
          </a:p>
        </p:txBody>
      </p:sp>
      <p:sp>
        <p:nvSpPr>
          <p:cNvPr id="24" name="Shape 22"/>
          <p:cNvSpPr/>
          <p:nvPr/>
        </p:nvSpPr>
        <p:spPr>
          <a:xfrm>
            <a:off x="6172200" y="35204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5" name="Shape 23"/>
          <p:cNvSpPr/>
          <p:nvPr/>
        </p:nvSpPr>
        <p:spPr>
          <a:xfrm>
            <a:off x="6400800" y="3867912"/>
            <a:ext cx="502920" cy="502920"/>
          </a:xfrm>
          <a:prstGeom prst="ellipse">
            <a:avLst/>
          </a:prstGeom>
          <a:solidFill>
            <a:srgbClr val="0F8A5F"/>
          </a:solidFill>
          <a:ln w="12700">
            <a:solidFill>
              <a:srgbClr val="0F8A5F"/>
            </a:solidFill>
            <a:prstDash val="solid"/>
          </a:ln>
        </p:spPr>
      </p:sp>
      <p:sp>
        <p:nvSpPr>
          <p:cNvPr id="26" name="Text 24"/>
          <p:cNvSpPr txBox="1"/>
          <p:nvPr/>
        </p:nvSpPr>
        <p:spPr>
          <a:xfrm>
            <a:off x="6400800" y="38679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7" name="Text 25"/>
          <p:cNvSpPr txBox="1"/>
          <p:nvPr/>
        </p:nvSpPr>
        <p:spPr>
          <a:xfrm>
            <a:off x="7086600" y="37033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Tính diện tích, chu vi</a:t>
            </a:r>
            <a:endParaRPr lang="en-US" sz="1700" dirty="0"/>
          </a:p>
        </p:txBody>
      </p:sp>
      <p:sp>
        <p:nvSpPr>
          <p:cNvPr id="28" name="Text 26"/>
          <p:cNvSpPr txBox="1"/>
          <p:nvPr/>
        </p:nvSpPr>
        <p:spPr>
          <a:xfrm>
            <a:off x="7086600" y="41148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Nhập số liệu bất kỳ, tính mọi đại lượng liên quan</a:t>
            </a:r>
            <a:endParaRPr lang="en-US" sz="1350" dirty="0"/>
          </a:p>
        </p:txBody>
      </p:sp>
      <p:sp>
        <p:nvSpPr>
          <p:cNvPr id="29" name="Shape 27"/>
          <p:cNvSpPr/>
          <p:nvPr/>
        </p:nvSpPr>
        <p:spPr>
          <a:xfrm>
            <a:off x="548640" y="48920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0" name="Shape 28"/>
          <p:cNvSpPr/>
          <p:nvPr/>
        </p:nvSpPr>
        <p:spPr>
          <a:xfrm>
            <a:off x="777240" y="5239512"/>
            <a:ext cx="502920" cy="502920"/>
          </a:xfrm>
          <a:prstGeom prst="ellipse">
            <a:avLst/>
          </a:prstGeom>
          <a:solidFill>
            <a:srgbClr val="0F8A5F"/>
          </a:solidFill>
          <a:ln w="12700">
            <a:solidFill>
              <a:srgbClr val="0F8A5F"/>
            </a:solidFill>
            <a:prstDash val="solid"/>
          </a:ln>
        </p:spPr>
      </p:sp>
      <p:sp>
        <p:nvSpPr>
          <p:cNvPr id="31" name="Text 29"/>
          <p:cNvSpPr txBox="1"/>
          <p:nvPr/>
        </p:nvSpPr>
        <p:spPr>
          <a:xfrm>
            <a:off x="777240" y="52395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32" name="Text 30"/>
          <p:cNvSpPr txBox="1"/>
          <p:nvPr/>
        </p:nvSpPr>
        <p:spPr>
          <a:xfrm>
            <a:off x="1463040" y="50749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Trò chơi Thử thách</a:t>
            </a:r>
            <a:endParaRPr lang="en-US" sz="1700" dirty="0"/>
          </a:p>
        </p:txBody>
      </p:sp>
      <p:sp>
        <p:nvSpPr>
          <p:cNvPr id="33" name="Text 31"/>
          <p:cNvSpPr txBox="1"/>
          <p:nvPr/>
        </p:nvSpPr>
        <p:spPr>
          <a:xfrm>
            <a:off x="1463040" y="54864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Kéo thả 4 đỉnh, Neo4j chấm điểm, bảng xếp hạng lưu trong Neo4j</a:t>
            </a:r>
            <a:endParaRPr lang="en-US" sz="1350" dirty="0"/>
          </a:p>
        </p:txBody>
      </p:sp>
      <p:sp>
        <p:nvSpPr>
          <p:cNvPr id="34" name="Shape 32"/>
          <p:cNvSpPr/>
          <p:nvPr/>
        </p:nvSpPr>
        <p:spPr>
          <a:xfrm>
            <a:off x="6172200" y="48920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5" name="Shape 33"/>
          <p:cNvSpPr/>
          <p:nvPr/>
        </p:nvSpPr>
        <p:spPr>
          <a:xfrm>
            <a:off x="6400800" y="5239512"/>
            <a:ext cx="502920" cy="502920"/>
          </a:xfrm>
          <a:prstGeom prst="ellipse">
            <a:avLst/>
          </a:prstGeom>
          <a:solidFill>
            <a:srgbClr val="0F8A5F"/>
          </a:solidFill>
          <a:ln w="12700">
            <a:solidFill>
              <a:srgbClr val="0F8A5F"/>
            </a:solidFill>
            <a:prstDash val="solid"/>
          </a:ln>
        </p:spPr>
      </p:sp>
      <p:sp>
        <p:nvSpPr>
          <p:cNvPr id="36" name="Text 34"/>
          <p:cNvSpPr txBox="1"/>
          <p:nvPr/>
        </p:nvSpPr>
        <p:spPr>
          <a:xfrm>
            <a:off x="6400800" y="52395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37" name="Text 35"/>
          <p:cNvSpPr txBox="1"/>
          <p:nvPr/>
        </p:nvSpPr>
        <p:spPr>
          <a:xfrm>
            <a:off x="7086600" y="50749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Tra cứu, tài liệu &amp; mã nguồn</a:t>
            </a:r>
            <a:endParaRPr lang="en-US" sz="1700" dirty="0"/>
          </a:p>
        </p:txBody>
      </p:sp>
      <p:sp>
        <p:nvSpPr>
          <p:cNvPr id="38" name="Text 36"/>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Đồ thị tri thức, báo cáo, hướng dẫn sử dụng, GitHub, API JSON</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Hạn chế &amp; hướng phát triển</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17</a:t>
            </a:r>
            <a:endParaRPr lang="en-US" sz="1000" dirty="0"/>
          </a:p>
        </p:txBody>
      </p:sp>
      <p:sp>
        <p:nvSpPr>
          <p:cNvPr id="7" name="Shape 5"/>
          <p:cNvSpPr/>
          <p:nvPr/>
        </p:nvSpPr>
        <p:spPr>
          <a:xfrm>
            <a:off x="548640" y="1417320"/>
            <a:ext cx="5440680" cy="4846320"/>
          </a:xfrm>
          <a:prstGeom prst="roundRect">
            <a:avLst>
              <a:gd name="adj" fmla="val 2264"/>
            </a:avLst>
          </a:prstGeom>
          <a:solidFill>
            <a:srgbClr val="F1F3F7"/>
          </a:solidFill>
          <a:ln w="9525">
            <a:solidFill>
              <a:srgbClr val="F1F3F7"/>
            </a:solidFill>
            <a:prstDash val="solid"/>
          </a:ln>
        </p:spPr>
      </p:sp>
      <p:sp>
        <p:nvSpPr>
          <p:cNvPr id="8" name="Text 6"/>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5B6478"/>
                </a:solidFill>
                <a:latin typeface="Cambria" pitchFamily="34" charset="0"/>
                <a:ea typeface="Cambria" pitchFamily="34" charset="-122"/>
                <a:cs typeface="Cambria" pitchFamily="34" charset="-120"/>
              </a:rPr>
              <a:t>Hạn chế</a:t>
            </a:r>
            <a:endParaRPr lang="en-US" sz="2200" dirty="0"/>
          </a:p>
        </p:txBody>
      </p:sp>
      <p:sp>
        <p:nvSpPr>
          <p:cNvPr id="9" name="Text 7"/>
          <p:cNvSpPr txBox="1"/>
          <p:nvPr/>
        </p:nvSpPr>
        <p:spPr>
          <a:xfrm>
            <a:off x="822960" y="2240280"/>
            <a:ext cx="493776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Nhận dạng từ toạ độ mới có ở trò chơi Thử thách và chỉ với toạ độ nguyên trên lưới.</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Chưa phân biệt từng cạnh cụ thể (AB, CD…) trong lời giải.</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Chỉ xét tứ giác lồi.</a:t>
            </a:r>
            <a:endParaRPr lang="en-US" sz="1600" dirty="0"/>
          </a:p>
        </p:txBody>
      </p:sp>
      <p:sp>
        <p:nvSpPr>
          <p:cNvPr id="10" name="Shape 8"/>
          <p:cNvSpPr/>
          <p:nvPr/>
        </p:nvSpPr>
        <p:spPr>
          <a:xfrm>
            <a:off x="6217920" y="1417320"/>
            <a:ext cx="5440680" cy="4846320"/>
          </a:xfrm>
          <a:prstGeom prst="roundRect">
            <a:avLst>
              <a:gd name="adj" fmla="val 2264"/>
            </a:avLst>
          </a:prstGeom>
          <a:solidFill>
            <a:srgbClr val="E8EEFF"/>
          </a:solidFill>
          <a:ln w="9525">
            <a:solidFill>
              <a:srgbClr val="E8EEFF"/>
            </a:solidFill>
            <a:prstDash val="solid"/>
          </a:ln>
        </p:spPr>
      </p:sp>
      <p:sp>
        <p:nvSpPr>
          <p:cNvPr id="11" name="Text 9"/>
          <p:cNvSpPr txBox="1"/>
          <p:nvPr/>
        </p:nvSpPr>
        <p:spPr>
          <a:xfrm>
            <a:off x="6492240" y="1645920"/>
            <a:ext cx="4846320" cy="457200"/>
          </a:xfrm>
          <a:prstGeom prst="rect">
            <a:avLst/>
          </a:prstGeom>
          <a:noFill/>
          <a:ln/>
        </p:spPr>
        <p:txBody>
          <a:bodyPr wrap="square" lIns="0" tIns="0" rIns="0" bIns="0" rtlCol="0" anchor="t"/>
          <a:lstStyle/>
          <a:p>
            <a:pPr indent="0" marL="0">
              <a:buNone/>
            </a:pPr>
            <a:r>
              <a:rPr lang="en-US" sz="2200" b="1" dirty="0">
                <a:solidFill>
                  <a:srgbClr val="2F5BEA"/>
                </a:solidFill>
                <a:latin typeface="Cambria" pitchFamily="34" charset="0"/>
                <a:ea typeface="Cambria" pitchFamily="34" charset="-122"/>
                <a:cs typeface="Cambria" pitchFamily="34" charset="-120"/>
              </a:rPr>
              <a:t>Hướng phát triển</a:t>
            </a:r>
            <a:endParaRPr lang="en-US" sz="2200" dirty="0"/>
          </a:p>
        </p:txBody>
      </p:sp>
      <p:sp>
        <p:nvSpPr>
          <p:cNvPr id="12" name="Text 10"/>
          <p:cNvSpPr txBox="1"/>
          <p:nvPr/>
        </p:nvSpPr>
        <p:spPr>
          <a:xfrm>
            <a:off x="6492240" y="2240280"/>
            <a:ext cx="493776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Dùng toạ độ 4 đỉnh để tính luôn diện tích, chu vi; cho nhập toạ độ số thực.</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Thêm nút :Canh, :Goc, :DuongCheo để lời giải chi tiết như bài làm của học sinh.</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Mở rộng sang tam giác, đa giác.</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Mở rộng lượt chơi (:LuotChoi) thành hồ sơ người học để gợi ý thử thách, bài tập.</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540"/>
        </a:solidFill>
      </p:bgPr>
    </p:bg>
    <p:spTree>
      <p:nvGrpSpPr>
        <p:cNvPr id="1" name=""/>
        <p:cNvGrpSpPr/>
        <p:nvPr/>
      </p:nvGrpSpPr>
      <p:grpSpPr>
        <a:xfrm>
          <a:off x="0" y="0"/>
          <a:ext cx="0" cy="0"/>
          <a:chOff x="0" y="0"/>
          <a:chExt cx="0" cy="0"/>
        </a:xfrm>
      </p:grpSpPr>
      <p:sp>
        <p:nvSpPr>
          <p:cNvPr id="2" name="Text 0"/>
          <p:cNvSpPr txBox="1"/>
          <p:nvPr/>
        </p:nvSpPr>
        <p:spPr>
          <a:xfrm>
            <a:off x="640080" y="1828800"/>
            <a:ext cx="10881360" cy="1097280"/>
          </a:xfrm>
          <a:prstGeom prst="rect">
            <a:avLst/>
          </a:prstGeom>
          <a:noFill/>
          <a:ln/>
        </p:spPr>
        <p:txBody>
          <a:bodyPr wrap="square" lIns="0" tIns="0" rIns="0" bIns="0" rtlCol="0" anchor="t"/>
          <a:lstStyle/>
          <a:p>
            <a:pPr algn="ctr" indent="0" marL="0">
              <a:buNone/>
            </a:pPr>
            <a:r>
              <a:rPr lang="en-US" sz="4000" b="1" dirty="0">
                <a:solidFill>
                  <a:srgbClr val="FFFFFF"/>
                </a:solidFill>
                <a:latin typeface="Cambria" pitchFamily="34" charset="0"/>
                <a:ea typeface="Cambria" pitchFamily="34" charset="-122"/>
                <a:cs typeface="Cambria" pitchFamily="34" charset="-120"/>
              </a:rPr>
              <a:t>Cảm ơn thầy và các bạn đã lắng nghe!</a:t>
            </a:r>
            <a:endParaRPr lang="en-US" sz="4000" dirty="0"/>
          </a:p>
        </p:txBody>
      </p:sp>
      <p:sp>
        <p:nvSpPr>
          <p:cNvPr id="3" name="Text 1"/>
          <p:cNvSpPr txBox="1"/>
          <p:nvPr/>
        </p:nvSpPr>
        <p:spPr>
          <a:xfrm>
            <a:off x="640080" y="2926080"/>
            <a:ext cx="10881360" cy="548640"/>
          </a:xfrm>
          <a:prstGeom prst="rect">
            <a:avLst/>
          </a:prstGeom>
          <a:noFill/>
          <a:ln/>
        </p:spPr>
        <p:txBody>
          <a:bodyPr wrap="square" lIns="0" tIns="0" rIns="0" bIns="0" rtlCol="0" anchor="t"/>
          <a:lstStyle/>
          <a:p>
            <a:pPr algn="ctr" indent="0" marL="0">
              <a:buNone/>
            </a:pPr>
            <a:r>
              <a:rPr lang="en-US" sz="2200" dirty="0">
                <a:solidFill>
                  <a:srgbClr val="C9D6FF"/>
                </a:solidFill>
                <a:latin typeface="Calibri" pitchFamily="34" charset="0"/>
                <a:ea typeface="Calibri" pitchFamily="34" charset="-122"/>
                <a:cs typeface="Calibri" pitchFamily="34" charset="-120"/>
              </a:rPr>
              <a:t>Hỏi &amp; đáp</a:t>
            </a:r>
            <a:endParaRPr lang="en-US" sz="2200" dirty="0"/>
          </a:p>
        </p:txBody>
      </p:sp>
      <p:sp>
        <p:nvSpPr>
          <p:cNvPr id="4" name="Text 2"/>
          <p:cNvSpPr txBox="1"/>
          <p:nvPr/>
        </p:nvSpPr>
        <p:spPr>
          <a:xfrm>
            <a:off x="640080" y="3840480"/>
            <a:ext cx="10881360" cy="411480"/>
          </a:xfrm>
          <a:prstGeom prst="rect">
            <a:avLst/>
          </a:prstGeom>
          <a:noFill/>
          <a:ln/>
        </p:spPr>
        <p:txBody>
          <a:bodyPr wrap="square" lIns="0" tIns="0" rIns="0" bIns="0" rtlCol="0" anchor="t"/>
          <a:lstStyle/>
          <a:p>
            <a:pPr algn="ctr" indent="0" marL="0">
              <a:buNone/>
            </a:pPr>
            <a:r>
              <a:rPr lang="en-US" sz="1500" dirty="0">
                <a:solidFill>
                  <a:srgbClr val="9FB6FF"/>
                </a:solidFill>
                <a:latin typeface="Consolas" pitchFamily="34" charset="0"/>
                <a:ea typeface="Consolas" pitchFamily="34" charset="-122"/>
                <a:cs typeface="Consolas" pitchFamily="34" charset="-120"/>
              </a:rPr>
              <a:t>Mã nguồn: github.com/LocHegNguyen76/Nhom9_Neo4j</a:t>
            </a:r>
            <a:endParaRPr lang="en-US" sz="1500" dirty="0"/>
          </a:p>
        </p:txBody>
      </p:sp>
      <p:sp>
        <p:nvSpPr>
          <p:cNvPr id="5" name="Text 3"/>
          <p:cNvSpPr txBox="1"/>
          <p:nvPr/>
        </p:nvSpPr>
        <p:spPr>
          <a:xfrm>
            <a:off x="640080" y="5760720"/>
            <a:ext cx="10881360" cy="365760"/>
          </a:xfrm>
          <a:prstGeom prst="rect">
            <a:avLst/>
          </a:prstGeom>
          <a:noFill/>
          <a:ln/>
        </p:spPr>
        <p:txBody>
          <a:bodyPr wrap="square" lIns="0" tIns="0" rIns="0" bIns="0" rtlCol="0" anchor="t"/>
          <a:lstStyle/>
          <a:p>
            <a:pPr algn="ctr" indent="0" marL="0">
              <a:buNone/>
            </a:pPr>
            <a:r>
              <a:rPr lang="en-US" sz="1400" dirty="0">
                <a:solidFill>
                  <a:srgbClr val="C9D6FF"/>
                </a:solidFill>
                <a:latin typeface="Calibri" pitchFamily="34" charset="0"/>
                <a:ea typeface="Calibri" pitchFamily="34" charset="-122"/>
                <a:cs typeface="Calibri" pitchFamily="34" charset="-120"/>
              </a:rPr>
              <a:t>Nguyễn Quốc Lộc  ·  Phan Tấn Anh  ·  Nguyễn Hải Đăng     |     GVHD: ThS. Trần Quang Bình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Mô hình hoá tứ giác trong hình học phẳng với Neo4j</dc:title>
  <dc:subject>PptxGenJS Presentation</dc:subject>
  <dc:creator>Nguyễn Quốc Lộc, Phan Tấn Anh, Nguyễn Hải Đăng</dc:creator>
  <cp:lastModifiedBy>Nguyễn Quốc Lộc, Phan Tấn Anh, Nguyễn Hải Đăng</cp:lastModifiedBy>
  <cp:revision>1</cp:revision>
  <dcterms:created xsi:type="dcterms:W3CDTF">2026-09-30T10:14:16Z</dcterms:created>
  <dcterms:modified xsi:type="dcterms:W3CDTF">2026-09-30T10:14:16Z</dcterms:modified>
</cp:coreProperties>
</file>