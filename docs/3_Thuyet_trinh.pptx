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Nhóm em gồm Lộc, Tấn Anh và Hải Đăng, xin trình bày đồ án Mô hình hoá tứ giác trong hình học phẳng với Neo4j, dưới sự hướng dẫn của thầy Trần Quang Bình. Hình bên phải chính là sơ đồ phân cấp các loại tứ giác mà nhóm lưu trong Neo4j.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6 phần: đặt vấn đề, cơ sở lý thuyết, mô hình dữ liệu trong Neo4j, thuật toán suy luận, demo hệ thống và cuối cùng là kết quả, hướng phát triển.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loại tứ giác có quan hệ bao hàm với nhau rất chằng chịt. Hệ thống cần trả lời được các câu hỏi như: hình bình hành có hai đường chéo vuông góc và bằng nhau là hình gì — đáp án là hình vuông. Hay hình thang có cặp cạnh còn lại bằng nhau — ở đây chưa đủ dữ kiện, vì có thể là hình thang cân hoặc hình bình hành. Nhóm đặt ra 4 mục tiêu như bên phải.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phân cấp. Mỗi mũi tên là quan hệ 'là một'. Điểm đáng chú ý: hình vuông có hai hình cha là hình chữ nhật và hình thoi; hình thoi cũng có hai cha là hình bình hành và hình diều. Vì vậy cấu trúc này là một đồ thị chứ không phải cây — rất phù hợp để lưu bằng Neo4j.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dấu hiệu nhận biết được mô hình hoá thành một luật: nếu là hình X và có thêm các tính chất P thì là hình Y. Bảng bên trái là một vài ví dụ. Ngoài 25 luật kết luận, có 1 luật gợi ý cho trường hợp chưa đủ dữ kiện, và 5 cặp tính chất mâu thuẫn để phát hiện giả thiết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Tại sao dùng Neo4j thay vì SQL? Dữ liệu của bài toán vốn là đồ thị. Muốn tìm mọi hình cha của hình vuông, SQL phải viết truy vấn đệ quy phức tạp, còn Cypher chỉ cần một mẫu LA_MOT sao. Việc kế thừa tính chất từ hình cha cũng chỉ là một đường đi. Ngoài ra Neo4j Browser vẽ đồ thị trực quan và dễ mở rộng tri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lược đồ đồ thị. Nút Hình ở trung tâm, có quan hệ LA_MOT với chính nó để tạo sơ đồ phân cấp. Mỗi Dấu hiệu nối tới hình áp dụng, các tính chất cần có và hình kết luận. Phần công thức: mỗi Công thức nối tới các Đại lượng đầu vào qua CAN_BIEN và đại lượng kết quả qua TINH_RA. Tổng cộng 191 nút và 468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Thuật toán là suy luận tiến. Bắt đầu với hình ban đầu và các giả thiết. Mỗi vòng, hệ thống thêm các hình cha và tính chất kế thừa, rồi dùng câu Cypher bên dưới để tìm những dấu hiệu có đủ điều kiện. Hình kết luận được thêm vào và lặp lại cho đến khi không còn dấu hiệu mới. Cuối cùng chọn hình cụ thể nhất và kiểm tra mâu thuẫn.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cụ thể: hình bình hành có hai đường chéo vuông góc và bằng nhau. Vòng 1, hệ thống áp dụng DH14 ra hình chữ nhật và DH17 ra hình thoi. Vòng 2, từ hình chữ nhật cộng hai đường chéo vuông góc, áp dụng DH20 ra hình vuông. Hình vuông là kết luận cụ thể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gồm 4 phần: trình duyệt, ứng dụng Flask, bộ suy luận và bộ tính toán viết bằng Python, và Neo4j lưu toàn bộ tri thức. Python kết nối Neo4j qua giao thức Bolt. Mọi truy vấn tri thức đều chạy trên Neo4j; Python chỉ điều khiển vòng lặp.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demo trực tiếp nếu có thể.) Trang nhận dạng: bên trái chọn hình ban đầu và tích các tính chất, bấm Suy luận. Bên phải là kết luận Hình vuông, lời giải 4 bước, sơ đồ phân cấp được tô màu, và cuối trang có danh sách các câu Cypher đã chạy trên Neo4j.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hay nhất của hệ thống. Với hình thang có hai cạnh bên bằng nhau, hệ thống không kết luận là hình thang cân mà cảnh báo có thể là hình bình hành. Khi thêm giả thiết hai cạnh bên không song song, kết luận ngay là hình thang cân. Và nếu chọn hai giả thiết mâu thuẫn, hệ thống báo đỏ kèm lý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Chức năng thứ hai là tính toán. Chọn hình thoi, chỉ nhập hai đường chéo 6 và 8. Hệ thống lấy 12 công thức của hình thoi từ Neo4j và áp dụng lần lượt: ra diện tích 24, cạnh 5, góc, chiều cao 4,8, bán kính nội tiếp 2,4 và chu vi 20, kèm lời giải từng bước. Nếu nhập số liệu mâu thuẫn, ví dụ hình vuông cạnh 5 mà diện tích 30, hệ thống sẽ cảnh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tóm tắt công thức diện tích và chu vi của 9 hình. Mỗi công thức được lưu thành nút CongThuc, nối với các đại lượng đầu vào qua CAN_BIEN và đại lượng kết quả qua TINH_RA. Nhờ vậy thêm công thức mới rất đơn giản.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hệ thống có 26 dấu hiệu nhận biết và 68 công thức. Toàn bộ 115 truy vấn mà ứng dụng gửi tới Neo4j đều cho kết quả khớp với kết quả tính độc lập, và 32 ca kiểm thử tự động đều đạt. Nhóm hoàn thành 4 nhóm chức năng như bên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Hạn chế hiện tại: nhận dạng dựa trên tính chất định tính, chưa nhận toạ độ; lời giải chưa chi tiết tới từng cạnh; chỉ xét tứ giác lồi. Hướng phát triển: cho nhập toạ độ đỉnh, mở rộng sang tam giác, đa giác và gợi ý bài tập dựa trên lịch sử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xin cảm ơn thầy và các bạn đã lắng nghe. Nhóm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540"/>
        </a:solidFill>
      </p:bgPr>
    </p:bg>
    <p:spTree>
      <p:nvGrpSpPr>
        <p:cNvPr id="1" name=""/>
        <p:cNvGrpSpPr/>
        <p:nvPr/>
      </p:nvGrpSpPr>
      <p:grpSpPr>
        <a:xfrm>
          <a:off x="0" y="0"/>
          <a:ext cx="0" cy="0"/>
          <a:chOff x="0" y="0"/>
          <a:chExt cx="0" cy="0"/>
        </a:xfrm>
      </p:grpSpPr>
      <p:sp>
        <p:nvSpPr>
          <p:cNvPr id="2" name="Text 0"/>
          <p:cNvSpPr txBox="1"/>
          <p:nvPr/>
        </p:nvSpPr>
        <p:spPr>
          <a:xfrm>
            <a:off x="640080" y="640080"/>
            <a:ext cx="5486400" cy="320040"/>
          </a:xfrm>
          <a:prstGeom prst="rect">
            <a:avLst/>
          </a:prstGeom>
          <a:noFill/>
          <a:ln/>
        </p:spPr>
        <p:txBody>
          <a:bodyPr wrap="square" lIns="0" tIns="0" rIns="0" bIns="0" rtlCol="0" anchor="t"/>
          <a:lstStyle/>
          <a:p>
            <a:pPr indent="0" marL="0">
              <a:buNone/>
            </a:pPr>
            <a:r>
              <a:rPr lang="en-US" sz="1400" b="1" spc="300" kern="0" dirty="0">
                <a:solidFill>
                  <a:srgbClr val="9FB6FF"/>
                </a:solidFill>
                <a:latin typeface="Calibri" pitchFamily="34" charset="0"/>
                <a:ea typeface="Calibri" pitchFamily="34" charset="-122"/>
                <a:cs typeface="Calibri" pitchFamily="34" charset="-120"/>
              </a:rPr>
              <a:t>ĐỒ ÁN MÔN HỌC</a:t>
            </a:r>
            <a:endParaRPr lang="en-US" sz="1400" dirty="0"/>
          </a:p>
        </p:txBody>
      </p:sp>
      <p:sp>
        <p:nvSpPr>
          <p:cNvPr id="3" name="Text 1"/>
          <p:cNvSpPr txBox="1"/>
          <p:nvPr/>
        </p:nvSpPr>
        <p:spPr>
          <a:xfrm>
            <a:off x="640080" y="1051560"/>
            <a:ext cx="6675120" cy="17373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Mô hình hoá tứ giác trong hình học phẳng với Neo4j</a:t>
            </a:r>
            <a:endParaRPr lang="en-US" sz="3800" dirty="0"/>
          </a:p>
        </p:txBody>
      </p:sp>
      <p:sp>
        <p:nvSpPr>
          <p:cNvPr id="4" name="Text 2"/>
          <p:cNvSpPr txBox="1"/>
          <p:nvPr/>
        </p:nvSpPr>
        <p:spPr>
          <a:xfrm>
            <a:off x="640080" y="2834640"/>
            <a:ext cx="6400800" cy="731520"/>
          </a:xfrm>
          <a:prstGeom prst="rect">
            <a:avLst/>
          </a:prstGeom>
          <a:noFill/>
          <a:ln/>
        </p:spPr>
        <p:txBody>
          <a:bodyPr wrap="square" lIns="0" tIns="0" rIns="0" bIns="0" rtlCol="0" anchor="t"/>
          <a:lstStyle/>
          <a:p>
            <a:pPr indent="0" marL="0">
              <a:buNone/>
            </a:pPr>
            <a:r>
              <a:rPr lang="en-US" sz="1700" dirty="0">
                <a:solidFill>
                  <a:srgbClr val="C9D6FF"/>
                </a:solidFill>
                <a:latin typeface="Calibri" pitchFamily="34" charset="0"/>
                <a:ea typeface="Calibri" pitchFamily="34" charset="-122"/>
                <a:cs typeface="Calibri" pitchFamily="34" charset="-120"/>
              </a:rPr>
              <a:t>Hệ thống tri thức nhận dạng tứ giác và tính diện tích, chu vi bằng cơ sở dữ liệu đồ thị</a:t>
            </a:r>
            <a:endParaRPr lang="en-US" sz="1700" dirty="0"/>
          </a:p>
        </p:txBody>
      </p:sp>
      <p:sp>
        <p:nvSpPr>
          <p:cNvPr id="5" name="Text 3"/>
          <p:cNvSpPr txBox="1"/>
          <p:nvPr/>
        </p:nvSpPr>
        <p:spPr>
          <a:xfrm>
            <a:off x="640080" y="3977640"/>
            <a:ext cx="3840480" cy="1371600"/>
          </a:xfrm>
          <a:prstGeom prst="rect">
            <a:avLst/>
          </a:prstGeom>
          <a:noFill/>
          <a:ln/>
        </p:spPr>
        <p:txBody>
          <a:bodyPr wrap="square" lIns="0" tIns="0" rIns="0" bIns="0" rtlCol="0" anchor="t"/>
          <a:lstStyle/>
          <a:p>
            <a:pPr indent="0" marL="0">
              <a:spcAft>
                <a:spcPts val="400"/>
              </a:spcAft>
              <a:buNone/>
            </a:pPr>
            <a:r>
              <a:rPr lang="en-US" sz="1300" b="1" dirty="0">
                <a:solidFill>
                  <a:srgbClr val="9FB6FF"/>
                </a:solidFill>
                <a:latin typeface="Calibri" pitchFamily="34" charset="0"/>
                <a:ea typeface="Calibri" pitchFamily="34" charset="-122"/>
                <a:cs typeface="Calibri" pitchFamily="34" charset="-120"/>
              </a:rPr>
              <a:t>Sinh viên thực hiện</a:t>
            </a:r>
            <a:endParaRPr lang="en-US" sz="1600" dirty="0"/>
          </a:p>
          <a:p>
            <a:pPr indent="0" marL="0">
              <a:spcAft>
                <a:spcPts val="400"/>
              </a:spcAft>
              <a:buNone/>
            </a:pPr>
            <a:r>
              <a:rPr lang="en-US" sz="1600" dirty="0">
                <a:solidFill>
                  <a:srgbClr val="FFFFFF"/>
                </a:solidFill>
                <a:latin typeface="Calibri" pitchFamily="34" charset="0"/>
                <a:ea typeface="Calibri" pitchFamily="34" charset="-122"/>
                <a:cs typeface="Calibri" pitchFamily="34" charset="-120"/>
              </a:rPr>
              <a:t>2001230477 – Nguyễn Quốc Lộc</a:t>
            </a:r>
            <a:endParaRPr lang="en-US" sz="1600" dirty="0"/>
          </a:p>
          <a:p>
            <a:pPr indent="0" marL="0">
              <a:spcAft>
                <a:spcPts val="400"/>
              </a:spcAft>
              <a:buNone/>
            </a:pPr>
            <a:r>
              <a:rPr lang="en-US" sz="1600" dirty="0">
                <a:solidFill>
                  <a:srgbClr val="FFFFFF"/>
                </a:solidFill>
                <a:latin typeface="Calibri" pitchFamily="34" charset="0"/>
                <a:ea typeface="Calibri" pitchFamily="34" charset="-122"/>
                <a:cs typeface="Calibri" pitchFamily="34" charset="-120"/>
              </a:rPr>
              <a:t>2001230022 – Phan Tấn Anh</a:t>
            </a:r>
            <a:endParaRPr lang="en-US" sz="1600" dirty="0"/>
          </a:p>
          <a:p>
            <a:pPr indent="0" marL="0">
              <a:spcAft>
                <a:spcPts val="400"/>
              </a:spcAft>
              <a:buNone/>
            </a:pPr>
            <a:r>
              <a:rPr lang="en-US" sz="1600" dirty="0">
                <a:solidFill>
                  <a:srgbClr val="FFFFFF"/>
                </a:solidFill>
                <a:latin typeface="Calibri" pitchFamily="34" charset="0"/>
                <a:ea typeface="Calibri" pitchFamily="34" charset="-122"/>
                <a:cs typeface="Calibri" pitchFamily="34" charset="-120"/>
              </a:rPr>
              <a:t>2001230172 – Nguyễn Hải Đăng</a:t>
            </a:r>
            <a:endParaRPr lang="en-US" sz="1600" dirty="0"/>
          </a:p>
        </p:txBody>
      </p:sp>
      <p:sp>
        <p:nvSpPr>
          <p:cNvPr id="6" name="Text 4"/>
          <p:cNvSpPr txBox="1"/>
          <p:nvPr/>
        </p:nvSpPr>
        <p:spPr>
          <a:xfrm>
            <a:off x="4572000" y="3977640"/>
            <a:ext cx="2926080" cy="914400"/>
          </a:xfrm>
          <a:prstGeom prst="rect">
            <a:avLst/>
          </a:prstGeom>
          <a:noFill/>
          <a:ln/>
        </p:spPr>
        <p:txBody>
          <a:bodyPr wrap="square" lIns="0" tIns="0" rIns="0" bIns="0" rtlCol="0" anchor="t"/>
          <a:lstStyle/>
          <a:p>
            <a:pPr indent="0" marL="0">
              <a:spcAft>
                <a:spcPts val="400"/>
              </a:spcAft>
              <a:buNone/>
            </a:pPr>
            <a:r>
              <a:rPr lang="en-US" sz="1300" b="1" dirty="0">
                <a:solidFill>
                  <a:srgbClr val="9FB6FF"/>
                </a:solidFill>
                <a:latin typeface="Calibri" pitchFamily="34" charset="0"/>
                <a:ea typeface="Calibri" pitchFamily="34" charset="-122"/>
                <a:cs typeface="Calibri" pitchFamily="34" charset="-120"/>
              </a:rPr>
              <a:t>Giảng viên hướng dẫn</a:t>
            </a:r>
            <a:endParaRPr lang="en-US" sz="1600" dirty="0"/>
          </a:p>
          <a:p>
            <a:pPr indent="0" marL="0">
              <a:spcAft>
                <a:spcPts val="400"/>
              </a:spcAft>
              <a:buNone/>
            </a:pPr>
            <a:r>
              <a:rPr lang="en-US" sz="1600" dirty="0">
                <a:solidFill>
                  <a:srgbClr val="FFFFFF"/>
                </a:solidFill>
                <a:latin typeface="Calibri" pitchFamily="34" charset="0"/>
                <a:ea typeface="Calibri" pitchFamily="34" charset="-122"/>
                <a:cs typeface="Calibri" pitchFamily="34" charset="-120"/>
              </a:rPr>
              <a:t>ThS. Trần Quang Bình</a:t>
            </a:r>
            <a:endParaRPr lang="en-US" sz="1600" dirty="0"/>
          </a:p>
        </p:txBody>
      </p:sp>
      <p:sp>
        <p:nvSpPr>
          <p:cNvPr id="7" name="Shape 5"/>
          <p:cNvSpPr/>
          <p:nvPr/>
        </p:nvSpPr>
        <p:spPr>
          <a:xfrm>
            <a:off x="7635240" y="1554480"/>
            <a:ext cx="4023360" cy="3246120"/>
          </a:xfrm>
          <a:prstGeom prst="roundRect">
            <a:avLst>
              <a:gd name="adj" fmla="val 4225"/>
            </a:avLst>
          </a:prstGeom>
          <a:solidFill>
            <a:srgbClr val="FFFFFF"/>
          </a:solidFill>
          <a:ln w="12700">
            <a:solidFill>
              <a:srgbClr val="FFFFFF"/>
            </a:solidFill>
            <a:prstDash val="solid"/>
          </a:ln>
        </p:spPr>
      </p:sp>
      <p:pic>
        <p:nvPicPr>
          <p:cNvPr id="8" name="Image 0" descr="/tmp/claude-0/-home-claude/98539f31-3192-5884-a81c-346bec00204d/scratchpad/ppt/hier.png">    </p:cNvPr>
          <p:cNvPicPr>
            <a:picLocks noChangeAspect="1"/>
          </p:cNvPicPr>
          <p:nvPr/>
        </p:nvPicPr>
        <p:blipFill>
          <a:blip r:embed="rId1"/>
          <a:stretch>
            <a:fillRect/>
          </a:stretch>
        </p:blipFill>
        <p:spPr>
          <a:xfrm>
            <a:off x="7726680" y="1737360"/>
            <a:ext cx="3840480" cy="2203039"/>
          </a:xfrm>
          <a:prstGeom prst="rect">
            <a:avLst/>
          </a:prstGeom>
        </p:spPr>
      </p:pic>
      <p:sp>
        <p:nvSpPr>
          <p:cNvPr id="9" name="Text 6"/>
          <p:cNvSpPr txBox="1"/>
          <p:nvPr/>
        </p:nvSpPr>
        <p:spPr>
          <a:xfrm>
            <a:off x="7635240" y="4297680"/>
            <a:ext cx="4023360" cy="365760"/>
          </a:xfrm>
          <a:prstGeom prst="rect">
            <a:avLst/>
          </a:prstGeom>
          <a:noFill/>
          <a:ln/>
        </p:spPr>
        <p:txBody>
          <a:bodyPr wrap="square" lIns="0" tIns="0" rIns="0" bIns="0" rtlCol="0" anchor="t"/>
          <a:lstStyle/>
          <a:p>
            <a:pPr algn="ctr" indent="0" marL="0">
              <a:buNone/>
            </a:pPr>
            <a:r>
              <a:rPr lang="en-US" sz="1200" i="1" dirty="0">
                <a:solidFill>
                  <a:srgbClr val="5B6478"/>
                </a:solidFill>
                <a:latin typeface="Calibri" pitchFamily="34" charset="0"/>
                <a:ea typeface="Calibri" pitchFamily="34" charset="-122"/>
                <a:cs typeface="Calibri" pitchFamily="34" charset="-120"/>
              </a:rPr>
              <a:t>Sơ đồ phân cấp tứ giác lưu trong Neo4j</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Nội dung trình bày</a:t>
            </a:r>
            <a:endParaRPr lang="en-US" sz="32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4" name="Text 2"/>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554480"/>
            <a:ext cx="3474720" cy="2011680"/>
          </a:xfrm>
          <a:prstGeom prst="roundRect">
            <a:avLst>
              <a:gd name="adj" fmla="val 5455"/>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6" name="Shape 4"/>
          <p:cNvSpPr/>
          <p:nvPr/>
        </p:nvSpPr>
        <p:spPr>
          <a:xfrm>
            <a:off x="868680" y="1874520"/>
            <a:ext cx="640080" cy="640080"/>
          </a:xfrm>
          <a:prstGeom prst="ellipse">
            <a:avLst/>
          </a:prstGeom>
          <a:solidFill>
            <a:srgbClr val="2F5BEA"/>
          </a:solidFill>
          <a:ln w="12700">
            <a:solidFill>
              <a:srgbClr val="2F5BEA"/>
            </a:solidFill>
            <a:prstDash val="solid"/>
          </a:ln>
        </p:spPr>
      </p:sp>
      <p:sp>
        <p:nvSpPr>
          <p:cNvPr id="7" name="Text 5"/>
          <p:cNvSpPr txBox="1"/>
          <p:nvPr/>
        </p:nvSpPr>
        <p:spPr>
          <a:xfrm>
            <a:off x="868680"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Text 6"/>
          <p:cNvSpPr txBox="1"/>
          <p:nvPr/>
        </p:nvSpPr>
        <p:spPr>
          <a:xfrm>
            <a:off x="868680" y="2651760"/>
            <a:ext cx="3063240" cy="411480"/>
          </a:xfrm>
          <a:prstGeom prst="rect">
            <a:avLst/>
          </a:prstGeom>
          <a:noFill/>
          <a:ln/>
        </p:spPr>
        <p:txBody>
          <a:bodyPr wrap="square" lIns="0" tIns="0" rIns="0" bIns="0" rtlCol="0" anchor="t"/>
          <a:lstStyle/>
          <a:p>
            <a:pPr indent="0" marL="0">
              <a:buNone/>
            </a:pPr>
            <a:r>
              <a:rPr lang="en-US" sz="1700" b="1" dirty="0">
                <a:solidFill>
                  <a:srgbClr val="1B2540"/>
                </a:solidFill>
                <a:latin typeface="Cambria" pitchFamily="34" charset="0"/>
                <a:ea typeface="Cambria" pitchFamily="34" charset="-122"/>
                <a:cs typeface="Cambria" pitchFamily="34" charset="-120"/>
              </a:rPr>
              <a:t>Đặt vấn đề &amp; mục tiêu</a:t>
            </a:r>
            <a:endParaRPr lang="en-US" sz="1700" dirty="0"/>
          </a:p>
        </p:txBody>
      </p:sp>
      <p:sp>
        <p:nvSpPr>
          <p:cNvPr id="9" name="Text 7"/>
          <p:cNvSpPr txBox="1"/>
          <p:nvPr/>
        </p:nvSpPr>
        <p:spPr>
          <a:xfrm>
            <a:off x="868680" y="3063240"/>
            <a:ext cx="2926080" cy="411480"/>
          </a:xfrm>
          <a:prstGeom prst="rect">
            <a:avLst/>
          </a:prstGeom>
          <a:noFill/>
          <a:ln/>
        </p:spPr>
        <p:txBody>
          <a:bodyPr wrap="square" lIns="0" tIns="0" rIns="0" bIns="0" rtlCol="0" anchor="t"/>
          <a:lstStyle/>
          <a:p>
            <a:pPr indent="0" marL="0">
              <a:buNone/>
            </a:pPr>
            <a:r>
              <a:rPr lang="en-US" sz="1300" dirty="0">
                <a:solidFill>
                  <a:srgbClr val="5B6478"/>
                </a:solidFill>
                <a:latin typeface="Calibri" pitchFamily="34" charset="0"/>
                <a:ea typeface="Calibri" pitchFamily="34" charset="-122"/>
                <a:cs typeface="Calibri" pitchFamily="34" charset="-120"/>
              </a:rPr>
              <a:t>Bài toán nhận dạng tứ giác và vì sao cần mô hình hoá</a:t>
            </a:r>
            <a:endParaRPr lang="en-US" sz="1300" dirty="0"/>
          </a:p>
        </p:txBody>
      </p:sp>
      <p:sp>
        <p:nvSpPr>
          <p:cNvPr id="10" name="Shape 8"/>
          <p:cNvSpPr/>
          <p:nvPr/>
        </p:nvSpPr>
        <p:spPr>
          <a:xfrm>
            <a:off x="4297680" y="1554480"/>
            <a:ext cx="3474720" cy="2011680"/>
          </a:xfrm>
          <a:prstGeom prst="roundRect">
            <a:avLst>
              <a:gd name="adj" fmla="val 5455"/>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1" name="Shape 9"/>
          <p:cNvSpPr/>
          <p:nvPr/>
        </p:nvSpPr>
        <p:spPr>
          <a:xfrm>
            <a:off x="4617720" y="1874520"/>
            <a:ext cx="640080" cy="640080"/>
          </a:xfrm>
          <a:prstGeom prst="ellipse">
            <a:avLst/>
          </a:prstGeom>
          <a:solidFill>
            <a:srgbClr val="2F5BEA"/>
          </a:solidFill>
          <a:ln w="12700">
            <a:solidFill>
              <a:srgbClr val="2F5BEA"/>
            </a:solidFill>
            <a:prstDash val="solid"/>
          </a:ln>
        </p:spPr>
      </p:sp>
      <p:sp>
        <p:nvSpPr>
          <p:cNvPr id="12" name="Text 10"/>
          <p:cNvSpPr txBox="1"/>
          <p:nvPr/>
        </p:nvSpPr>
        <p:spPr>
          <a:xfrm>
            <a:off x="4617720"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3" name="Text 11"/>
          <p:cNvSpPr txBox="1"/>
          <p:nvPr/>
        </p:nvSpPr>
        <p:spPr>
          <a:xfrm>
            <a:off x="4617720" y="2651760"/>
            <a:ext cx="3063240" cy="411480"/>
          </a:xfrm>
          <a:prstGeom prst="rect">
            <a:avLst/>
          </a:prstGeom>
          <a:noFill/>
          <a:ln/>
        </p:spPr>
        <p:txBody>
          <a:bodyPr wrap="square" lIns="0" tIns="0" rIns="0" bIns="0" rtlCol="0" anchor="t"/>
          <a:lstStyle/>
          <a:p>
            <a:pPr indent="0" marL="0">
              <a:buNone/>
            </a:pPr>
            <a:r>
              <a:rPr lang="en-US" sz="1700" b="1" dirty="0">
                <a:solidFill>
                  <a:srgbClr val="1B2540"/>
                </a:solidFill>
                <a:latin typeface="Cambria" pitchFamily="34" charset="0"/>
                <a:ea typeface="Cambria" pitchFamily="34" charset="-122"/>
                <a:cs typeface="Cambria" pitchFamily="34" charset="-120"/>
              </a:rPr>
              <a:t>Cơ sở lý thuyết</a:t>
            </a:r>
            <a:endParaRPr lang="en-US" sz="1700" dirty="0"/>
          </a:p>
        </p:txBody>
      </p:sp>
      <p:sp>
        <p:nvSpPr>
          <p:cNvPr id="14" name="Text 12"/>
          <p:cNvSpPr txBox="1"/>
          <p:nvPr/>
        </p:nvSpPr>
        <p:spPr>
          <a:xfrm>
            <a:off x="4617720" y="3063240"/>
            <a:ext cx="2926080" cy="411480"/>
          </a:xfrm>
          <a:prstGeom prst="rect">
            <a:avLst/>
          </a:prstGeom>
          <a:noFill/>
          <a:ln/>
        </p:spPr>
        <p:txBody>
          <a:bodyPr wrap="square" lIns="0" tIns="0" rIns="0" bIns="0" rtlCol="0" anchor="t"/>
          <a:lstStyle/>
          <a:p>
            <a:pPr indent="0" marL="0">
              <a:buNone/>
            </a:pPr>
            <a:r>
              <a:rPr lang="en-US" sz="1300" dirty="0">
                <a:solidFill>
                  <a:srgbClr val="5B6478"/>
                </a:solidFill>
                <a:latin typeface="Calibri" pitchFamily="34" charset="0"/>
                <a:ea typeface="Calibri" pitchFamily="34" charset="-122"/>
                <a:cs typeface="Calibri" pitchFamily="34" charset="-120"/>
              </a:rPr>
              <a:t>Phân cấp tứ giác, dấu hiệu nhận biết, công thức</a:t>
            </a:r>
            <a:endParaRPr lang="en-US" sz="1300" dirty="0"/>
          </a:p>
        </p:txBody>
      </p:sp>
      <p:sp>
        <p:nvSpPr>
          <p:cNvPr id="15" name="Shape 13"/>
          <p:cNvSpPr/>
          <p:nvPr/>
        </p:nvSpPr>
        <p:spPr>
          <a:xfrm>
            <a:off x="8046720" y="1554480"/>
            <a:ext cx="3474720" cy="2011680"/>
          </a:xfrm>
          <a:prstGeom prst="roundRect">
            <a:avLst>
              <a:gd name="adj" fmla="val 5455"/>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6" name="Shape 14"/>
          <p:cNvSpPr/>
          <p:nvPr/>
        </p:nvSpPr>
        <p:spPr>
          <a:xfrm>
            <a:off x="8366760" y="1874520"/>
            <a:ext cx="640080" cy="640080"/>
          </a:xfrm>
          <a:prstGeom prst="ellipse">
            <a:avLst/>
          </a:prstGeom>
          <a:solidFill>
            <a:srgbClr val="2F5BEA"/>
          </a:solidFill>
          <a:ln w="12700">
            <a:solidFill>
              <a:srgbClr val="2F5BEA"/>
            </a:solidFill>
            <a:prstDash val="solid"/>
          </a:ln>
        </p:spPr>
      </p:sp>
      <p:sp>
        <p:nvSpPr>
          <p:cNvPr id="17" name="Text 15"/>
          <p:cNvSpPr txBox="1"/>
          <p:nvPr/>
        </p:nvSpPr>
        <p:spPr>
          <a:xfrm>
            <a:off x="8366760"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8" name="Text 16"/>
          <p:cNvSpPr txBox="1"/>
          <p:nvPr/>
        </p:nvSpPr>
        <p:spPr>
          <a:xfrm>
            <a:off x="8366760" y="2651760"/>
            <a:ext cx="3063240" cy="411480"/>
          </a:xfrm>
          <a:prstGeom prst="rect">
            <a:avLst/>
          </a:prstGeom>
          <a:noFill/>
          <a:ln/>
        </p:spPr>
        <p:txBody>
          <a:bodyPr wrap="square" lIns="0" tIns="0" rIns="0" bIns="0" rtlCol="0" anchor="t"/>
          <a:lstStyle/>
          <a:p>
            <a:pPr indent="0" marL="0">
              <a:buNone/>
            </a:pPr>
            <a:r>
              <a:rPr lang="en-US" sz="1700" b="1" dirty="0">
                <a:solidFill>
                  <a:srgbClr val="1B2540"/>
                </a:solidFill>
                <a:latin typeface="Cambria" pitchFamily="34" charset="0"/>
                <a:ea typeface="Cambria" pitchFamily="34" charset="-122"/>
                <a:cs typeface="Cambria" pitchFamily="34" charset="-120"/>
              </a:rPr>
              <a:t>Mô hình dữ liệu Neo4j</a:t>
            </a:r>
            <a:endParaRPr lang="en-US" sz="1700" dirty="0"/>
          </a:p>
        </p:txBody>
      </p:sp>
      <p:sp>
        <p:nvSpPr>
          <p:cNvPr id="19" name="Text 17"/>
          <p:cNvSpPr txBox="1"/>
          <p:nvPr/>
        </p:nvSpPr>
        <p:spPr>
          <a:xfrm>
            <a:off x="8366760" y="3063240"/>
            <a:ext cx="2926080" cy="411480"/>
          </a:xfrm>
          <a:prstGeom prst="rect">
            <a:avLst/>
          </a:prstGeom>
          <a:noFill/>
          <a:ln/>
        </p:spPr>
        <p:txBody>
          <a:bodyPr wrap="square" lIns="0" tIns="0" rIns="0" bIns="0" rtlCol="0" anchor="t"/>
          <a:lstStyle/>
          <a:p>
            <a:pPr indent="0" marL="0">
              <a:buNone/>
            </a:pPr>
            <a:r>
              <a:rPr lang="en-US" sz="1300" dirty="0">
                <a:solidFill>
                  <a:srgbClr val="5B6478"/>
                </a:solidFill>
                <a:latin typeface="Calibri" pitchFamily="34" charset="0"/>
                <a:ea typeface="Calibri" pitchFamily="34" charset="-122"/>
                <a:cs typeface="Calibri" pitchFamily="34" charset="-120"/>
              </a:rPr>
              <a:t>5 loại nút, 10 loại quan hệ</a:t>
            </a:r>
            <a:endParaRPr lang="en-US" sz="1300" dirty="0"/>
          </a:p>
        </p:txBody>
      </p:sp>
      <p:sp>
        <p:nvSpPr>
          <p:cNvPr id="20" name="Shape 18"/>
          <p:cNvSpPr/>
          <p:nvPr/>
        </p:nvSpPr>
        <p:spPr>
          <a:xfrm>
            <a:off x="548640" y="3886200"/>
            <a:ext cx="3474720" cy="2011680"/>
          </a:xfrm>
          <a:prstGeom prst="roundRect">
            <a:avLst>
              <a:gd name="adj" fmla="val 5455"/>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21" name="Shape 19"/>
          <p:cNvSpPr/>
          <p:nvPr/>
        </p:nvSpPr>
        <p:spPr>
          <a:xfrm>
            <a:off x="868680" y="4206240"/>
            <a:ext cx="640080" cy="640080"/>
          </a:xfrm>
          <a:prstGeom prst="ellipse">
            <a:avLst/>
          </a:prstGeom>
          <a:solidFill>
            <a:srgbClr val="2F5BEA"/>
          </a:solidFill>
          <a:ln w="12700">
            <a:solidFill>
              <a:srgbClr val="2F5BEA"/>
            </a:solidFill>
            <a:prstDash val="solid"/>
          </a:ln>
        </p:spPr>
      </p:sp>
      <p:sp>
        <p:nvSpPr>
          <p:cNvPr id="22" name="Text 20"/>
          <p:cNvSpPr txBox="1"/>
          <p:nvPr/>
        </p:nvSpPr>
        <p:spPr>
          <a:xfrm>
            <a:off x="868680" y="42062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3" name="Text 21"/>
          <p:cNvSpPr txBox="1"/>
          <p:nvPr/>
        </p:nvSpPr>
        <p:spPr>
          <a:xfrm>
            <a:off x="868680" y="4983480"/>
            <a:ext cx="3063240" cy="411480"/>
          </a:xfrm>
          <a:prstGeom prst="rect">
            <a:avLst/>
          </a:prstGeom>
          <a:noFill/>
          <a:ln/>
        </p:spPr>
        <p:txBody>
          <a:bodyPr wrap="square" lIns="0" tIns="0" rIns="0" bIns="0" rtlCol="0" anchor="t"/>
          <a:lstStyle/>
          <a:p>
            <a:pPr indent="0" marL="0">
              <a:buNone/>
            </a:pPr>
            <a:r>
              <a:rPr lang="en-US" sz="1700" b="1" dirty="0">
                <a:solidFill>
                  <a:srgbClr val="1B2540"/>
                </a:solidFill>
                <a:latin typeface="Cambria" pitchFamily="34" charset="0"/>
                <a:ea typeface="Cambria" pitchFamily="34" charset="-122"/>
                <a:cs typeface="Cambria" pitchFamily="34" charset="-120"/>
              </a:rPr>
              <a:t>Thuật toán suy luận</a:t>
            </a:r>
            <a:endParaRPr lang="en-US" sz="1700" dirty="0"/>
          </a:p>
        </p:txBody>
      </p:sp>
      <p:sp>
        <p:nvSpPr>
          <p:cNvPr id="24" name="Text 22"/>
          <p:cNvSpPr txBox="1"/>
          <p:nvPr/>
        </p:nvSpPr>
        <p:spPr>
          <a:xfrm>
            <a:off x="868680" y="5394960"/>
            <a:ext cx="2926080" cy="411480"/>
          </a:xfrm>
          <a:prstGeom prst="rect">
            <a:avLst/>
          </a:prstGeom>
          <a:noFill/>
          <a:ln/>
        </p:spPr>
        <p:txBody>
          <a:bodyPr wrap="square" lIns="0" tIns="0" rIns="0" bIns="0" rtlCol="0" anchor="t"/>
          <a:lstStyle/>
          <a:p>
            <a:pPr indent="0" marL="0">
              <a:buNone/>
            </a:pPr>
            <a:r>
              <a:rPr lang="en-US" sz="1300" dirty="0">
                <a:solidFill>
                  <a:srgbClr val="5B6478"/>
                </a:solidFill>
                <a:latin typeface="Calibri" pitchFamily="34" charset="0"/>
                <a:ea typeface="Calibri" pitchFamily="34" charset="-122"/>
                <a:cs typeface="Calibri" pitchFamily="34" charset="-120"/>
              </a:rPr>
              <a:t>Suy luận tiến trên đồ thị tri thức</a:t>
            </a:r>
            <a:endParaRPr lang="en-US" sz="1300" dirty="0"/>
          </a:p>
        </p:txBody>
      </p:sp>
      <p:sp>
        <p:nvSpPr>
          <p:cNvPr id="25" name="Shape 23"/>
          <p:cNvSpPr/>
          <p:nvPr/>
        </p:nvSpPr>
        <p:spPr>
          <a:xfrm>
            <a:off x="4297680" y="3886200"/>
            <a:ext cx="3474720" cy="2011680"/>
          </a:xfrm>
          <a:prstGeom prst="roundRect">
            <a:avLst>
              <a:gd name="adj" fmla="val 5455"/>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26" name="Shape 24"/>
          <p:cNvSpPr/>
          <p:nvPr/>
        </p:nvSpPr>
        <p:spPr>
          <a:xfrm>
            <a:off x="4617720" y="4206240"/>
            <a:ext cx="640080" cy="640080"/>
          </a:xfrm>
          <a:prstGeom prst="ellipse">
            <a:avLst/>
          </a:prstGeom>
          <a:solidFill>
            <a:srgbClr val="2F5BEA"/>
          </a:solidFill>
          <a:ln w="12700">
            <a:solidFill>
              <a:srgbClr val="2F5BEA"/>
            </a:solidFill>
            <a:prstDash val="solid"/>
          </a:ln>
        </p:spPr>
      </p:sp>
      <p:sp>
        <p:nvSpPr>
          <p:cNvPr id="27" name="Text 25"/>
          <p:cNvSpPr txBox="1"/>
          <p:nvPr/>
        </p:nvSpPr>
        <p:spPr>
          <a:xfrm>
            <a:off x="4617720" y="42062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8" name="Text 26"/>
          <p:cNvSpPr txBox="1"/>
          <p:nvPr/>
        </p:nvSpPr>
        <p:spPr>
          <a:xfrm>
            <a:off x="4617720" y="4983480"/>
            <a:ext cx="3063240" cy="411480"/>
          </a:xfrm>
          <a:prstGeom prst="rect">
            <a:avLst/>
          </a:prstGeom>
          <a:noFill/>
          <a:ln/>
        </p:spPr>
        <p:txBody>
          <a:bodyPr wrap="square" lIns="0" tIns="0" rIns="0" bIns="0" rtlCol="0" anchor="t"/>
          <a:lstStyle/>
          <a:p>
            <a:pPr indent="0" marL="0">
              <a:buNone/>
            </a:pPr>
            <a:r>
              <a:rPr lang="en-US" sz="1700" b="1" dirty="0">
                <a:solidFill>
                  <a:srgbClr val="1B2540"/>
                </a:solidFill>
                <a:latin typeface="Cambria" pitchFamily="34" charset="0"/>
                <a:ea typeface="Cambria" pitchFamily="34" charset="-122"/>
                <a:cs typeface="Cambria" pitchFamily="34" charset="-120"/>
              </a:rPr>
              <a:t>Demo hệ thống</a:t>
            </a:r>
            <a:endParaRPr lang="en-US" sz="1700" dirty="0"/>
          </a:p>
        </p:txBody>
      </p:sp>
      <p:sp>
        <p:nvSpPr>
          <p:cNvPr id="29" name="Text 27"/>
          <p:cNvSpPr txBox="1"/>
          <p:nvPr/>
        </p:nvSpPr>
        <p:spPr>
          <a:xfrm>
            <a:off x="4617720" y="5394960"/>
            <a:ext cx="2926080" cy="411480"/>
          </a:xfrm>
          <a:prstGeom prst="rect">
            <a:avLst/>
          </a:prstGeom>
          <a:noFill/>
          <a:ln/>
        </p:spPr>
        <p:txBody>
          <a:bodyPr wrap="square" lIns="0" tIns="0" rIns="0" bIns="0" rtlCol="0" anchor="t"/>
          <a:lstStyle/>
          <a:p>
            <a:pPr indent="0" marL="0">
              <a:buNone/>
            </a:pPr>
            <a:r>
              <a:rPr lang="en-US" sz="1300" dirty="0">
                <a:solidFill>
                  <a:srgbClr val="5B6478"/>
                </a:solidFill>
                <a:latin typeface="Calibri" pitchFamily="34" charset="0"/>
                <a:ea typeface="Calibri" pitchFamily="34" charset="-122"/>
                <a:cs typeface="Calibri" pitchFamily="34" charset="-120"/>
              </a:rPr>
              <a:t>Nhận dạng, tính diện tích – chu vi, tra cứu</a:t>
            </a:r>
            <a:endParaRPr lang="en-US" sz="1300" dirty="0"/>
          </a:p>
        </p:txBody>
      </p:sp>
      <p:sp>
        <p:nvSpPr>
          <p:cNvPr id="30" name="Shape 28"/>
          <p:cNvSpPr/>
          <p:nvPr/>
        </p:nvSpPr>
        <p:spPr>
          <a:xfrm>
            <a:off x="8046720" y="3886200"/>
            <a:ext cx="3474720" cy="2011680"/>
          </a:xfrm>
          <a:prstGeom prst="roundRect">
            <a:avLst>
              <a:gd name="adj" fmla="val 5455"/>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31" name="Shape 29"/>
          <p:cNvSpPr/>
          <p:nvPr/>
        </p:nvSpPr>
        <p:spPr>
          <a:xfrm>
            <a:off x="8366760" y="4206240"/>
            <a:ext cx="640080" cy="640080"/>
          </a:xfrm>
          <a:prstGeom prst="ellipse">
            <a:avLst/>
          </a:prstGeom>
          <a:solidFill>
            <a:srgbClr val="2F5BEA"/>
          </a:solidFill>
          <a:ln w="12700">
            <a:solidFill>
              <a:srgbClr val="2F5BEA"/>
            </a:solidFill>
            <a:prstDash val="solid"/>
          </a:ln>
        </p:spPr>
      </p:sp>
      <p:sp>
        <p:nvSpPr>
          <p:cNvPr id="32" name="Text 30"/>
          <p:cNvSpPr txBox="1"/>
          <p:nvPr/>
        </p:nvSpPr>
        <p:spPr>
          <a:xfrm>
            <a:off x="8366760" y="42062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33" name="Text 31"/>
          <p:cNvSpPr txBox="1"/>
          <p:nvPr/>
        </p:nvSpPr>
        <p:spPr>
          <a:xfrm>
            <a:off x="8366760" y="4983480"/>
            <a:ext cx="3063240" cy="411480"/>
          </a:xfrm>
          <a:prstGeom prst="rect">
            <a:avLst/>
          </a:prstGeom>
          <a:noFill/>
          <a:ln/>
        </p:spPr>
        <p:txBody>
          <a:bodyPr wrap="square" lIns="0" tIns="0" rIns="0" bIns="0" rtlCol="0" anchor="t"/>
          <a:lstStyle/>
          <a:p>
            <a:pPr indent="0" marL="0">
              <a:buNone/>
            </a:pPr>
            <a:r>
              <a:rPr lang="en-US" sz="1700" b="1" dirty="0">
                <a:solidFill>
                  <a:srgbClr val="1B2540"/>
                </a:solidFill>
                <a:latin typeface="Cambria" pitchFamily="34" charset="0"/>
                <a:ea typeface="Cambria" pitchFamily="34" charset="-122"/>
                <a:cs typeface="Cambria" pitchFamily="34" charset="-120"/>
              </a:rPr>
              <a:t>Kết quả &amp; hướng phát triển</a:t>
            </a:r>
            <a:endParaRPr lang="en-US" sz="1700" dirty="0"/>
          </a:p>
        </p:txBody>
      </p:sp>
      <p:sp>
        <p:nvSpPr>
          <p:cNvPr id="34" name="Text 32"/>
          <p:cNvSpPr txBox="1"/>
          <p:nvPr/>
        </p:nvSpPr>
        <p:spPr>
          <a:xfrm>
            <a:off x="8366760" y="5394960"/>
            <a:ext cx="2926080" cy="411480"/>
          </a:xfrm>
          <a:prstGeom prst="rect">
            <a:avLst/>
          </a:prstGeom>
          <a:noFill/>
          <a:ln/>
        </p:spPr>
        <p:txBody>
          <a:bodyPr wrap="square" lIns="0" tIns="0" rIns="0" bIns="0" rtlCol="0" anchor="t"/>
          <a:lstStyle/>
          <a:p>
            <a:pPr indent="0" marL="0">
              <a:buNone/>
            </a:pPr>
            <a:r>
              <a:rPr lang="en-US" sz="1300" dirty="0">
                <a:solidFill>
                  <a:srgbClr val="5B6478"/>
                </a:solidFill>
                <a:latin typeface="Calibri" pitchFamily="34" charset="0"/>
                <a:ea typeface="Calibri" pitchFamily="34" charset="-122"/>
                <a:cs typeface="Calibri" pitchFamily="34" charset="-120"/>
              </a:rPr>
              <a:t>Đánh giá, hạn chế, mở rộng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Đặt vấn đề &amp; mục tiêu</a:t>
            </a:r>
            <a:endParaRPr lang="en-US" sz="3200" dirty="0"/>
          </a:p>
        </p:txBody>
      </p:sp>
      <p:sp>
        <p:nvSpPr>
          <p:cNvPr id="5" name="Text 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6" name="Text 4"/>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3</a:t>
            </a:r>
            <a:endParaRPr lang="en-US" sz="1000" dirty="0"/>
          </a:p>
        </p:txBody>
      </p:sp>
      <p:sp>
        <p:nvSpPr>
          <p:cNvPr id="7" name="Text 5"/>
          <p:cNvSpPr txBox="1"/>
          <p:nvPr/>
        </p:nvSpPr>
        <p:spPr>
          <a:xfrm>
            <a:off x="548640" y="1325880"/>
            <a:ext cx="5394960" cy="1188720"/>
          </a:xfrm>
          <a:prstGeom prst="rect">
            <a:avLst/>
          </a:prstGeom>
          <a:noFill/>
          <a:ln/>
        </p:spPr>
        <p:txBody>
          <a:bodyPr wrap="square" lIns="0" tIns="0" rIns="0" bIns="0" rtlCol="0" anchor="t"/>
          <a:lstStyle/>
          <a:p>
            <a:pPr indent="0" marL="0">
              <a:buNone/>
            </a:pPr>
            <a:r>
              <a:rPr lang="en-US" sz="1600" dirty="0">
                <a:solidFill>
                  <a:srgbClr val="1D2433"/>
                </a:solidFill>
                <a:latin typeface="Calibri" pitchFamily="34" charset="0"/>
                <a:ea typeface="Calibri" pitchFamily="34" charset="-122"/>
                <a:cs typeface="Calibri" pitchFamily="34" charset="-120"/>
              </a:rPr>
              <a:t>Các loại tứ giác có quan hệ bao hàm chằng chịt: hình vuông vừa là hình chữ nhật vừa là hình thoi; hình chữ nhật lại là hình bình hành, hình thang cân… Học sinh thường nhầm khi nhận dạng.</a:t>
            </a:r>
            <a:endParaRPr lang="en-US" sz="1600" dirty="0"/>
          </a:p>
        </p:txBody>
      </p:sp>
      <p:sp>
        <p:nvSpPr>
          <p:cNvPr id="8" name="Text 6"/>
          <p:cNvSpPr txBox="1"/>
          <p:nvPr/>
        </p:nvSpPr>
        <p:spPr>
          <a:xfrm>
            <a:off x="548640" y="2606040"/>
            <a:ext cx="5394960" cy="365760"/>
          </a:xfrm>
          <a:prstGeom prst="rect">
            <a:avLst/>
          </a:prstGeom>
          <a:noFill/>
          <a:ln/>
        </p:spPr>
        <p:txBody>
          <a:bodyPr wrap="square" lIns="0" tIns="0" rIns="0" bIns="0" rtlCol="0" anchor="t"/>
          <a:lstStyle/>
          <a:p>
            <a:pPr indent="0" marL="0">
              <a:buNone/>
            </a:pPr>
            <a:r>
              <a:rPr lang="en-US" sz="1600" b="1" dirty="0">
                <a:solidFill>
                  <a:srgbClr val="1B2540"/>
                </a:solidFill>
                <a:latin typeface="Calibri" pitchFamily="34" charset="0"/>
                <a:ea typeface="Calibri" pitchFamily="34" charset="-122"/>
                <a:cs typeface="Calibri" pitchFamily="34" charset="-120"/>
              </a:rPr>
              <a:t>Câu hỏi hệ thống cần trả lời:</a:t>
            </a:r>
            <a:endParaRPr lang="en-US" sz="1600" dirty="0"/>
          </a:p>
        </p:txBody>
      </p:sp>
      <p:sp>
        <p:nvSpPr>
          <p:cNvPr id="9" name="Shape 7"/>
          <p:cNvSpPr/>
          <p:nvPr/>
        </p:nvSpPr>
        <p:spPr>
          <a:xfrm>
            <a:off x="548640" y="3063240"/>
            <a:ext cx="5394960" cy="1371600"/>
          </a:xfrm>
          <a:prstGeom prst="roundRect">
            <a:avLst>
              <a:gd name="adj" fmla="val 8000"/>
            </a:avLst>
          </a:prstGeom>
          <a:solidFill>
            <a:srgbClr val="E3F6EE"/>
          </a:solidFill>
          <a:ln w="9525">
            <a:solidFill>
              <a:srgbClr val="E3F6EE"/>
            </a:solidFill>
            <a:prstDash val="solid"/>
          </a:ln>
        </p:spPr>
      </p:sp>
      <p:sp>
        <p:nvSpPr>
          <p:cNvPr id="10" name="Text 8"/>
          <p:cNvSpPr txBox="1"/>
          <p:nvPr/>
        </p:nvSpPr>
        <p:spPr>
          <a:xfrm>
            <a:off x="777240" y="3200400"/>
            <a:ext cx="4937760" cy="685800"/>
          </a:xfrm>
          <a:prstGeom prst="rect">
            <a:avLst/>
          </a:prstGeom>
          <a:noFill/>
          <a:ln/>
        </p:spPr>
        <p:txBody>
          <a:bodyPr wrap="square" lIns="0" tIns="0" rIns="0" bIns="0" rtlCol="0" anchor="t"/>
          <a:lstStyle/>
          <a:p>
            <a:pPr indent="0" marL="0">
              <a:buNone/>
            </a:pPr>
            <a:r>
              <a:rPr lang="en-US" sz="1500" i="1" dirty="0">
                <a:solidFill>
                  <a:srgbClr val="1D2433"/>
                </a:solidFill>
                <a:latin typeface="Calibri" pitchFamily="34" charset="0"/>
                <a:ea typeface="Calibri" pitchFamily="34" charset="-122"/>
                <a:cs typeface="Calibri" pitchFamily="34" charset="-120"/>
              </a:rPr>
              <a:t>“Hình bình hành có hai đường chéo vuông góc và bằng nhau là hình gì?”</a:t>
            </a:r>
            <a:endParaRPr lang="en-US" sz="1500" dirty="0"/>
          </a:p>
        </p:txBody>
      </p:sp>
      <p:sp>
        <p:nvSpPr>
          <p:cNvPr id="11" name="Text 9"/>
          <p:cNvSpPr txBox="1"/>
          <p:nvPr/>
        </p:nvSpPr>
        <p:spPr>
          <a:xfrm>
            <a:off x="777240" y="3886200"/>
            <a:ext cx="4937760" cy="411480"/>
          </a:xfrm>
          <a:prstGeom prst="rect">
            <a:avLst/>
          </a:prstGeom>
          <a:noFill/>
          <a:ln/>
        </p:spPr>
        <p:txBody>
          <a:bodyPr wrap="square" lIns="0" tIns="0" rIns="0" bIns="0" rtlCol="0" anchor="t"/>
          <a:lstStyle/>
          <a:p>
            <a:pPr indent="0" marL="0">
              <a:buNone/>
            </a:pPr>
            <a:r>
              <a:rPr lang="en-US" sz="1500" b="1" dirty="0">
                <a:solidFill>
                  <a:srgbClr val="0F8A5F"/>
                </a:solidFill>
                <a:latin typeface="Calibri" pitchFamily="34" charset="0"/>
                <a:ea typeface="Calibri" pitchFamily="34" charset="-122"/>
                <a:cs typeface="Calibri" pitchFamily="34" charset="-120"/>
              </a:rPr>
              <a:t>⟹ Hình vuông</a:t>
            </a:r>
            <a:endParaRPr lang="en-US" sz="1500" dirty="0"/>
          </a:p>
        </p:txBody>
      </p:sp>
      <p:sp>
        <p:nvSpPr>
          <p:cNvPr id="12" name="Shape 10"/>
          <p:cNvSpPr/>
          <p:nvPr/>
        </p:nvSpPr>
        <p:spPr>
          <a:xfrm>
            <a:off x="548640" y="4617720"/>
            <a:ext cx="5394960" cy="1371600"/>
          </a:xfrm>
          <a:prstGeom prst="roundRect">
            <a:avLst>
              <a:gd name="adj" fmla="val 8000"/>
            </a:avLst>
          </a:prstGeom>
          <a:solidFill>
            <a:srgbClr val="FFF4DC"/>
          </a:solidFill>
          <a:ln w="9525">
            <a:solidFill>
              <a:srgbClr val="FFF4DC"/>
            </a:solidFill>
            <a:prstDash val="solid"/>
          </a:ln>
        </p:spPr>
      </p:sp>
      <p:sp>
        <p:nvSpPr>
          <p:cNvPr id="13" name="Text 11"/>
          <p:cNvSpPr txBox="1"/>
          <p:nvPr/>
        </p:nvSpPr>
        <p:spPr>
          <a:xfrm>
            <a:off x="777240" y="4754880"/>
            <a:ext cx="4937760" cy="685800"/>
          </a:xfrm>
          <a:prstGeom prst="rect">
            <a:avLst/>
          </a:prstGeom>
          <a:noFill/>
          <a:ln/>
        </p:spPr>
        <p:txBody>
          <a:bodyPr wrap="square" lIns="0" tIns="0" rIns="0" bIns="0" rtlCol="0" anchor="t"/>
          <a:lstStyle/>
          <a:p>
            <a:pPr indent="0" marL="0">
              <a:buNone/>
            </a:pPr>
            <a:r>
              <a:rPr lang="en-US" sz="1500" i="1" dirty="0">
                <a:solidFill>
                  <a:srgbClr val="1D2433"/>
                </a:solidFill>
                <a:latin typeface="Calibri" pitchFamily="34" charset="0"/>
                <a:ea typeface="Calibri" pitchFamily="34" charset="-122"/>
                <a:cs typeface="Calibri" pitchFamily="34" charset="-120"/>
              </a:rPr>
              <a:t>“Hình thang có một cặp cạnh song song, cặp còn lại bằng nhau là hình gì?”</a:t>
            </a:r>
            <a:endParaRPr lang="en-US" sz="1500" dirty="0"/>
          </a:p>
        </p:txBody>
      </p:sp>
      <p:sp>
        <p:nvSpPr>
          <p:cNvPr id="14" name="Text 12"/>
          <p:cNvSpPr txBox="1"/>
          <p:nvPr/>
        </p:nvSpPr>
        <p:spPr>
          <a:xfrm>
            <a:off x="777240" y="5440680"/>
            <a:ext cx="4937760" cy="411480"/>
          </a:xfrm>
          <a:prstGeom prst="rect">
            <a:avLst/>
          </a:prstGeom>
          <a:noFill/>
          <a:ln/>
        </p:spPr>
        <p:txBody>
          <a:bodyPr wrap="square" lIns="0" tIns="0" rIns="0" bIns="0" rtlCol="0" anchor="t"/>
          <a:lstStyle/>
          <a:p>
            <a:pPr indent="0" marL="0">
              <a:buNone/>
            </a:pPr>
            <a:r>
              <a:rPr lang="en-US" sz="1500" b="1" dirty="0">
                <a:solidFill>
                  <a:srgbClr val="B45309"/>
                </a:solidFill>
                <a:latin typeface="Calibri" pitchFamily="34" charset="0"/>
                <a:ea typeface="Calibri" pitchFamily="34" charset="-122"/>
                <a:cs typeface="Calibri" pitchFamily="34" charset="-120"/>
              </a:rPr>
              <a:t>⟹ Chưa đủ dữ kiện: hình thang cân hoặc hình bình hành</a:t>
            </a:r>
            <a:endParaRPr lang="en-US" sz="1500" dirty="0"/>
          </a:p>
        </p:txBody>
      </p:sp>
      <p:sp>
        <p:nvSpPr>
          <p:cNvPr id="15" name="Text 13"/>
          <p:cNvSpPr txBox="1"/>
          <p:nvPr/>
        </p:nvSpPr>
        <p:spPr>
          <a:xfrm>
            <a:off x="6492240" y="1325880"/>
            <a:ext cx="5120640" cy="411480"/>
          </a:xfrm>
          <a:prstGeom prst="rect">
            <a:avLst/>
          </a:prstGeom>
          <a:noFill/>
          <a:ln/>
        </p:spPr>
        <p:txBody>
          <a:bodyPr wrap="square" lIns="0" tIns="0" rIns="0" bIns="0" rtlCol="0" anchor="t"/>
          <a:lstStyle/>
          <a:p>
            <a:pPr indent="0" marL="0">
              <a:buNone/>
            </a:pPr>
            <a:r>
              <a:rPr lang="en-US" sz="2000" b="1" dirty="0">
                <a:solidFill>
                  <a:srgbClr val="1B2540"/>
                </a:solidFill>
                <a:latin typeface="Cambria" pitchFamily="34" charset="0"/>
                <a:ea typeface="Cambria" pitchFamily="34" charset="-122"/>
                <a:cs typeface="Cambria" pitchFamily="34" charset="-120"/>
              </a:rPr>
              <a:t>Mục tiêu</a:t>
            </a:r>
            <a:endParaRPr lang="en-US" sz="2000" dirty="0"/>
          </a:p>
        </p:txBody>
      </p:sp>
      <p:sp>
        <p:nvSpPr>
          <p:cNvPr id="16" name="Shape 14"/>
          <p:cNvSpPr/>
          <p:nvPr/>
        </p:nvSpPr>
        <p:spPr>
          <a:xfrm>
            <a:off x="6492240" y="1920240"/>
            <a:ext cx="502920" cy="502920"/>
          </a:xfrm>
          <a:prstGeom prst="ellipse">
            <a:avLst/>
          </a:prstGeom>
          <a:solidFill>
            <a:srgbClr val="2F5BEA"/>
          </a:solidFill>
          <a:ln w="12700">
            <a:solidFill>
              <a:srgbClr val="2F5BEA"/>
            </a:solidFill>
            <a:prstDash val="solid"/>
          </a:ln>
        </p:spPr>
      </p:sp>
      <p:sp>
        <p:nvSpPr>
          <p:cNvPr id="17" name="Text 15"/>
          <p:cNvSpPr txBox="1"/>
          <p:nvPr/>
        </p:nvSpPr>
        <p:spPr>
          <a:xfrm>
            <a:off x="6492240"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6"/>
          <p:cNvSpPr txBox="1"/>
          <p:nvPr/>
        </p:nvSpPr>
        <p:spPr>
          <a:xfrm>
            <a:off x="7178040" y="1874520"/>
            <a:ext cx="4480560" cy="365760"/>
          </a:xfrm>
          <a:prstGeom prst="rect">
            <a:avLst/>
          </a:prstGeom>
          <a:noFill/>
          <a:ln/>
        </p:spPr>
        <p:txBody>
          <a:bodyPr wrap="square" lIns="0" tIns="0" rIns="0" bIns="0" rtlCol="0" anchor="t"/>
          <a:lstStyle/>
          <a:p>
            <a:pPr indent="0" marL="0">
              <a:buNone/>
            </a:pPr>
            <a:r>
              <a:rPr lang="en-US" sz="1700" b="1" dirty="0">
                <a:solidFill>
                  <a:srgbClr val="1D2433"/>
                </a:solidFill>
                <a:latin typeface="Calibri" pitchFamily="34" charset="0"/>
                <a:ea typeface="Calibri" pitchFamily="34" charset="-122"/>
                <a:cs typeface="Calibri" pitchFamily="34" charset="-120"/>
              </a:rPr>
              <a:t>Mô hình hoá tri thức</a:t>
            </a:r>
            <a:endParaRPr lang="en-US" sz="1700" dirty="0"/>
          </a:p>
        </p:txBody>
      </p:sp>
      <p:sp>
        <p:nvSpPr>
          <p:cNvPr id="19" name="Text 17"/>
          <p:cNvSpPr txBox="1"/>
          <p:nvPr/>
        </p:nvSpPr>
        <p:spPr>
          <a:xfrm>
            <a:off x="7178040" y="2240280"/>
            <a:ext cx="4480560" cy="640080"/>
          </a:xfrm>
          <a:prstGeom prst="rect">
            <a:avLst/>
          </a:prstGeom>
          <a:noFill/>
          <a:ln/>
        </p:spPr>
        <p:txBody>
          <a:bodyPr wrap="square" lIns="0" tIns="0" rIns="0" bIns="0" rtlCol="0" anchor="t"/>
          <a:lstStyle/>
          <a:p>
            <a:pPr indent="0" marL="0">
              <a:buNone/>
            </a:pPr>
            <a:r>
              <a:rPr lang="en-US" sz="1400" dirty="0">
                <a:solidFill>
                  <a:srgbClr val="5B6478"/>
                </a:solidFill>
                <a:latin typeface="Calibri" pitchFamily="34" charset="0"/>
                <a:ea typeface="Calibri" pitchFamily="34" charset="-122"/>
                <a:cs typeface="Calibri" pitchFamily="34" charset="-120"/>
              </a:rPr>
              <a:t>Hình, tính chất, dấu hiệu nhận biết và công thức thành đồ thị trong Neo4j</a:t>
            </a:r>
            <a:endParaRPr lang="en-US" sz="1400" dirty="0"/>
          </a:p>
        </p:txBody>
      </p:sp>
      <p:sp>
        <p:nvSpPr>
          <p:cNvPr id="20" name="Shape 18"/>
          <p:cNvSpPr/>
          <p:nvPr/>
        </p:nvSpPr>
        <p:spPr>
          <a:xfrm>
            <a:off x="6492240" y="3035808"/>
            <a:ext cx="502920" cy="502920"/>
          </a:xfrm>
          <a:prstGeom prst="ellipse">
            <a:avLst/>
          </a:prstGeom>
          <a:solidFill>
            <a:srgbClr val="2F5BEA"/>
          </a:solidFill>
          <a:ln w="12700">
            <a:solidFill>
              <a:srgbClr val="2F5BEA"/>
            </a:solidFill>
            <a:prstDash val="solid"/>
          </a:ln>
        </p:spPr>
      </p:sp>
      <p:sp>
        <p:nvSpPr>
          <p:cNvPr id="21" name="Text 19"/>
          <p:cNvSpPr txBox="1"/>
          <p:nvPr/>
        </p:nvSpPr>
        <p:spPr>
          <a:xfrm>
            <a:off x="6492240" y="303580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20"/>
          <p:cNvSpPr txBox="1"/>
          <p:nvPr/>
        </p:nvSpPr>
        <p:spPr>
          <a:xfrm>
            <a:off x="7178040" y="2990088"/>
            <a:ext cx="4480560" cy="365760"/>
          </a:xfrm>
          <a:prstGeom prst="rect">
            <a:avLst/>
          </a:prstGeom>
          <a:noFill/>
          <a:ln/>
        </p:spPr>
        <p:txBody>
          <a:bodyPr wrap="square" lIns="0" tIns="0" rIns="0" bIns="0" rtlCol="0" anchor="t"/>
          <a:lstStyle/>
          <a:p>
            <a:pPr indent="0" marL="0">
              <a:buNone/>
            </a:pPr>
            <a:r>
              <a:rPr lang="en-US" sz="1700" b="1" dirty="0">
                <a:solidFill>
                  <a:srgbClr val="1D2433"/>
                </a:solidFill>
                <a:latin typeface="Calibri" pitchFamily="34" charset="0"/>
                <a:ea typeface="Calibri" pitchFamily="34" charset="-122"/>
                <a:cs typeface="Calibri" pitchFamily="34" charset="-120"/>
              </a:rPr>
              <a:t>Suy luận tự động</a:t>
            </a:r>
            <a:endParaRPr lang="en-US" sz="1700" dirty="0"/>
          </a:p>
        </p:txBody>
      </p:sp>
      <p:sp>
        <p:nvSpPr>
          <p:cNvPr id="23" name="Text 21"/>
          <p:cNvSpPr txBox="1"/>
          <p:nvPr/>
        </p:nvSpPr>
        <p:spPr>
          <a:xfrm>
            <a:off x="7178040" y="3355848"/>
            <a:ext cx="4480560" cy="640080"/>
          </a:xfrm>
          <a:prstGeom prst="rect">
            <a:avLst/>
          </a:prstGeom>
          <a:noFill/>
          <a:ln/>
        </p:spPr>
        <p:txBody>
          <a:bodyPr wrap="square" lIns="0" tIns="0" rIns="0" bIns="0" rtlCol="0" anchor="t"/>
          <a:lstStyle/>
          <a:p>
            <a:pPr indent="0" marL="0">
              <a:buNone/>
            </a:pPr>
            <a:r>
              <a:rPr lang="en-US" sz="1400" dirty="0">
                <a:solidFill>
                  <a:srgbClr val="5B6478"/>
                </a:solidFill>
                <a:latin typeface="Calibri" pitchFamily="34" charset="0"/>
                <a:ea typeface="Calibri" pitchFamily="34" charset="-122"/>
                <a:cs typeface="Calibri" pitchFamily="34" charset="-120"/>
              </a:rPr>
              <a:t>Suy luận tiến bằng Cypher, đưa ra kết luận kèm lời giải từng bước</a:t>
            </a:r>
            <a:endParaRPr lang="en-US" sz="1400" dirty="0"/>
          </a:p>
        </p:txBody>
      </p:sp>
      <p:sp>
        <p:nvSpPr>
          <p:cNvPr id="24" name="Shape 22"/>
          <p:cNvSpPr/>
          <p:nvPr/>
        </p:nvSpPr>
        <p:spPr>
          <a:xfrm>
            <a:off x="6492240" y="4151376"/>
            <a:ext cx="502920" cy="502920"/>
          </a:xfrm>
          <a:prstGeom prst="ellipse">
            <a:avLst/>
          </a:prstGeom>
          <a:solidFill>
            <a:srgbClr val="2F5BEA"/>
          </a:solidFill>
          <a:ln w="12700">
            <a:solidFill>
              <a:srgbClr val="2F5BEA"/>
            </a:solidFill>
            <a:prstDash val="solid"/>
          </a:ln>
        </p:spPr>
      </p:sp>
      <p:sp>
        <p:nvSpPr>
          <p:cNvPr id="25" name="Text 23"/>
          <p:cNvSpPr txBox="1"/>
          <p:nvPr/>
        </p:nvSpPr>
        <p:spPr>
          <a:xfrm>
            <a:off x="6492240" y="415137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6" name="Text 24"/>
          <p:cNvSpPr txBox="1"/>
          <p:nvPr/>
        </p:nvSpPr>
        <p:spPr>
          <a:xfrm>
            <a:off x="7178040" y="4105656"/>
            <a:ext cx="4480560" cy="365760"/>
          </a:xfrm>
          <a:prstGeom prst="rect">
            <a:avLst/>
          </a:prstGeom>
          <a:noFill/>
          <a:ln/>
        </p:spPr>
        <p:txBody>
          <a:bodyPr wrap="square" lIns="0" tIns="0" rIns="0" bIns="0" rtlCol="0" anchor="t"/>
          <a:lstStyle/>
          <a:p>
            <a:pPr indent="0" marL="0">
              <a:buNone/>
            </a:pPr>
            <a:r>
              <a:rPr lang="en-US" sz="1700" b="1" dirty="0">
                <a:solidFill>
                  <a:srgbClr val="1D2433"/>
                </a:solidFill>
                <a:latin typeface="Calibri" pitchFamily="34" charset="0"/>
                <a:ea typeface="Calibri" pitchFamily="34" charset="-122"/>
                <a:cs typeface="Calibri" pitchFamily="34" charset="-120"/>
              </a:rPr>
              <a:t>Phát hiện bất thường</a:t>
            </a:r>
            <a:endParaRPr lang="en-US" sz="1700" dirty="0"/>
          </a:p>
        </p:txBody>
      </p:sp>
      <p:sp>
        <p:nvSpPr>
          <p:cNvPr id="27" name="Text 25"/>
          <p:cNvSpPr txBox="1"/>
          <p:nvPr/>
        </p:nvSpPr>
        <p:spPr>
          <a:xfrm>
            <a:off x="7178040" y="4471416"/>
            <a:ext cx="4480560" cy="640080"/>
          </a:xfrm>
          <a:prstGeom prst="rect">
            <a:avLst/>
          </a:prstGeom>
          <a:noFill/>
          <a:ln/>
        </p:spPr>
        <p:txBody>
          <a:bodyPr wrap="square" lIns="0" tIns="0" rIns="0" bIns="0" rtlCol="0" anchor="t"/>
          <a:lstStyle/>
          <a:p>
            <a:pPr indent="0" marL="0">
              <a:buNone/>
            </a:pPr>
            <a:r>
              <a:rPr lang="en-US" sz="1400" dirty="0">
                <a:solidFill>
                  <a:srgbClr val="5B6478"/>
                </a:solidFill>
                <a:latin typeface="Calibri" pitchFamily="34" charset="0"/>
                <a:ea typeface="Calibri" pitchFamily="34" charset="-122"/>
                <a:cs typeface="Calibri" pitchFamily="34" charset="-120"/>
              </a:rPr>
              <a:t>Nhận ra giả thiết chưa đủ để kết luận hoặc mâu thuẫn</a:t>
            </a:r>
            <a:endParaRPr lang="en-US" sz="1400" dirty="0"/>
          </a:p>
        </p:txBody>
      </p:sp>
      <p:sp>
        <p:nvSpPr>
          <p:cNvPr id="28" name="Shape 26"/>
          <p:cNvSpPr/>
          <p:nvPr/>
        </p:nvSpPr>
        <p:spPr>
          <a:xfrm>
            <a:off x="6492240" y="5266944"/>
            <a:ext cx="502920" cy="502920"/>
          </a:xfrm>
          <a:prstGeom prst="ellipse">
            <a:avLst/>
          </a:prstGeom>
          <a:solidFill>
            <a:srgbClr val="2F5BEA"/>
          </a:solidFill>
          <a:ln w="12700">
            <a:solidFill>
              <a:srgbClr val="2F5BEA"/>
            </a:solidFill>
            <a:prstDash val="solid"/>
          </a:ln>
        </p:spPr>
      </p:sp>
      <p:sp>
        <p:nvSpPr>
          <p:cNvPr id="29" name="Text 27"/>
          <p:cNvSpPr txBox="1"/>
          <p:nvPr/>
        </p:nvSpPr>
        <p:spPr>
          <a:xfrm>
            <a:off x="6492240" y="526694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0" name="Text 28"/>
          <p:cNvSpPr txBox="1"/>
          <p:nvPr/>
        </p:nvSpPr>
        <p:spPr>
          <a:xfrm>
            <a:off x="7178040" y="5221224"/>
            <a:ext cx="4480560" cy="365760"/>
          </a:xfrm>
          <a:prstGeom prst="rect">
            <a:avLst/>
          </a:prstGeom>
          <a:noFill/>
          <a:ln/>
        </p:spPr>
        <p:txBody>
          <a:bodyPr wrap="square" lIns="0" tIns="0" rIns="0" bIns="0" rtlCol="0" anchor="t"/>
          <a:lstStyle/>
          <a:p>
            <a:pPr indent="0" marL="0">
              <a:buNone/>
            </a:pPr>
            <a:r>
              <a:rPr lang="en-US" sz="1700" b="1" dirty="0">
                <a:solidFill>
                  <a:srgbClr val="1D2433"/>
                </a:solidFill>
                <a:latin typeface="Calibri" pitchFamily="34" charset="0"/>
                <a:ea typeface="Calibri" pitchFamily="34" charset="-122"/>
                <a:cs typeface="Calibri" pitchFamily="34" charset="-120"/>
              </a:rPr>
              <a:t>Tính toán &amp; giao diện</a:t>
            </a:r>
            <a:endParaRPr lang="en-US" sz="1700" dirty="0"/>
          </a:p>
        </p:txBody>
      </p:sp>
      <p:sp>
        <p:nvSpPr>
          <p:cNvPr id="31" name="Text 29"/>
          <p:cNvSpPr txBox="1"/>
          <p:nvPr/>
        </p:nvSpPr>
        <p:spPr>
          <a:xfrm>
            <a:off x="7178040" y="5586984"/>
            <a:ext cx="4480560" cy="640080"/>
          </a:xfrm>
          <a:prstGeom prst="rect">
            <a:avLst/>
          </a:prstGeom>
          <a:noFill/>
          <a:ln/>
        </p:spPr>
        <p:txBody>
          <a:bodyPr wrap="square" lIns="0" tIns="0" rIns="0" bIns="0" rtlCol="0" anchor="t"/>
          <a:lstStyle/>
          <a:p>
            <a:pPr indent="0" marL="0">
              <a:buNone/>
            </a:pPr>
            <a:r>
              <a:rPr lang="en-US" sz="1400" dirty="0">
                <a:solidFill>
                  <a:srgbClr val="5B6478"/>
                </a:solidFill>
                <a:latin typeface="Calibri" pitchFamily="34" charset="0"/>
                <a:ea typeface="Calibri" pitchFamily="34" charset="-122"/>
                <a:cs typeface="Calibri" pitchFamily="34" charset="-120"/>
              </a:rPr>
              <a:t>Nhập số liệu để tính diện tích, chu vi; giao diện web trực quan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Cơ sở lý thuyết: phân cấp tứ giác</a:t>
            </a:r>
            <a:endParaRPr lang="en-US" sz="3200" dirty="0"/>
          </a:p>
        </p:txBody>
      </p:sp>
      <p:sp>
        <p:nvSpPr>
          <p:cNvPr id="5" name="Text 3"/>
          <p:cNvSpPr txBox="1"/>
          <p:nvPr/>
        </p:nvSpPr>
        <p:spPr>
          <a:xfrm>
            <a:off x="1298448" y="960120"/>
            <a:ext cx="10314432" cy="365760"/>
          </a:xfrm>
          <a:prstGeom prst="rect">
            <a:avLst/>
          </a:prstGeom>
          <a:noFill/>
          <a:ln/>
        </p:spPr>
        <p:txBody>
          <a:bodyPr wrap="square" lIns="0" tIns="0" rIns="0" bIns="0" rtlCol="0" anchor="t"/>
          <a:lstStyle/>
          <a:p>
            <a:pPr indent="0" marL="0">
              <a:buNone/>
            </a:pPr>
            <a:r>
              <a:rPr lang="en-US" sz="1500" dirty="0">
                <a:solidFill>
                  <a:srgbClr val="5B6478"/>
                </a:solidFill>
                <a:latin typeface="Calibri" pitchFamily="34" charset="0"/>
                <a:ea typeface="Calibri" pitchFamily="34" charset="-122"/>
                <a:cs typeface="Calibri" pitchFamily="34" charset="-120"/>
              </a:rPr>
              <a:t>Quan hệ “A là một B” — hình A là trường hợp đặc biệt của hình B</a:t>
            </a:r>
            <a:endParaRPr lang="en-US" sz="1500" dirty="0"/>
          </a:p>
        </p:txBody>
      </p:sp>
      <p:sp>
        <p:nvSpPr>
          <p:cNvPr id="6" name="Text 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7" name="Text 5"/>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4</a:t>
            </a:r>
            <a:endParaRPr lang="en-US" sz="1000" dirty="0"/>
          </a:p>
        </p:txBody>
      </p:sp>
      <p:sp>
        <p:nvSpPr>
          <p:cNvPr id="8" name="Shape 6"/>
          <p:cNvSpPr/>
          <p:nvPr/>
        </p:nvSpPr>
        <p:spPr>
          <a:xfrm>
            <a:off x="548640" y="1508760"/>
            <a:ext cx="6949440" cy="4754880"/>
          </a:xfrm>
          <a:prstGeom prst="roundRect">
            <a:avLst>
              <a:gd name="adj" fmla="val 2308"/>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pic>
        <p:nvPicPr>
          <p:cNvPr id="9" name="Image 0" descr="/tmp/claude-0/-home-claude/98539f31-3192-5884-a81c-346bec00204d/scratchpad/ppt/hier.png">    </p:cNvPr>
          <p:cNvPicPr>
            <a:picLocks noChangeAspect="1"/>
          </p:cNvPicPr>
          <p:nvPr/>
        </p:nvPicPr>
        <p:blipFill>
          <a:blip r:embed="rId1"/>
          <a:stretch>
            <a:fillRect/>
          </a:stretch>
        </p:blipFill>
        <p:spPr>
          <a:xfrm>
            <a:off x="685800" y="1828800"/>
            <a:ext cx="6675120" cy="3829092"/>
          </a:xfrm>
          <a:prstGeom prst="rect">
            <a:avLst/>
          </a:prstGeom>
        </p:spPr>
      </p:pic>
      <p:sp>
        <p:nvSpPr>
          <p:cNvPr id="10" name="Shape 7"/>
          <p:cNvSpPr/>
          <p:nvPr/>
        </p:nvSpPr>
        <p:spPr>
          <a:xfrm>
            <a:off x="7863840" y="1508760"/>
            <a:ext cx="3794760" cy="1417320"/>
          </a:xfrm>
          <a:prstGeom prst="roundRect">
            <a:avLst>
              <a:gd name="adj" fmla="val 7742"/>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1" name="Text 8"/>
          <p:cNvSpPr txBox="1"/>
          <p:nvPr/>
        </p:nvSpPr>
        <p:spPr>
          <a:xfrm>
            <a:off x="8092440" y="1673352"/>
            <a:ext cx="1005840" cy="685800"/>
          </a:xfrm>
          <a:prstGeom prst="rect">
            <a:avLst/>
          </a:prstGeom>
          <a:noFill/>
          <a:ln/>
        </p:spPr>
        <p:txBody>
          <a:bodyPr wrap="square" lIns="0" tIns="0" rIns="0" bIns="0" rtlCol="0" anchor="t"/>
          <a:lstStyle/>
          <a:p>
            <a:pPr indent="0" marL="0">
              <a:buNone/>
            </a:pPr>
            <a:r>
              <a:rPr lang="en-US" sz="4000" b="1" dirty="0">
                <a:solidFill>
                  <a:srgbClr val="2F5BEA"/>
                </a:solidFill>
                <a:latin typeface="Cambria" pitchFamily="34" charset="0"/>
                <a:ea typeface="Cambria" pitchFamily="34" charset="-122"/>
                <a:cs typeface="Cambria" pitchFamily="34" charset="-120"/>
              </a:rPr>
              <a:t>9</a:t>
            </a:r>
            <a:endParaRPr lang="en-US" sz="4000" dirty="0"/>
          </a:p>
        </p:txBody>
      </p:sp>
      <p:sp>
        <p:nvSpPr>
          <p:cNvPr id="12" name="Text 9"/>
          <p:cNvSpPr txBox="1"/>
          <p:nvPr/>
        </p:nvSpPr>
        <p:spPr>
          <a:xfrm>
            <a:off x="9098280" y="1801368"/>
            <a:ext cx="2468880" cy="411480"/>
          </a:xfrm>
          <a:prstGeom prst="rect">
            <a:avLst/>
          </a:prstGeom>
          <a:noFill/>
          <a:ln/>
        </p:spPr>
        <p:txBody>
          <a:bodyPr wrap="square" lIns="0" tIns="0" rIns="0" bIns="0" rtlCol="0" anchor="t"/>
          <a:lstStyle/>
          <a:p>
            <a:pPr indent="0" marL="0">
              <a:buNone/>
            </a:pPr>
            <a:r>
              <a:rPr lang="en-US" sz="1700" b="1" dirty="0">
                <a:solidFill>
                  <a:srgbClr val="1B2540"/>
                </a:solidFill>
                <a:latin typeface="Calibri" pitchFamily="34" charset="0"/>
                <a:ea typeface="Calibri" pitchFamily="34" charset="-122"/>
                <a:cs typeface="Calibri" pitchFamily="34" charset="-120"/>
              </a:rPr>
              <a:t>loại hình</a:t>
            </a:r>
            <a:endParaRPr lang="en-US" sz="1700" dirty="0"/>
          </a:p>
        </p:txBody>
      </p:sp>
      <p:sp>
        <p:nvSpPr>
          <p:cNvPr id="13" name="Text 10"/>
          <p:cNvSpPr txBox="1"/>
          <p:nvPr/>
        </p:nvSpPr>
        <p:spPr>
          <a:xfrm>
            <a:off x="8092440" y="2331720"/>
            <a:ext cx="3429000" cy="548640"/>
          </a:xfrm>
          <a:prstGeom prst="rect">
            <a:avLst/>
          </a:prstGeom>
          <a:noFill/>
          <a:ln/>
        </p:spPr>
        <p:txBody>
          <a:bodyPr wrap="square" lIns="0" tIns="0" rIns="0" bIns="0" rtlCol="0" anchor="t"/>
          <a:lstStyle/>
          <a:p>
            <a:pPr indent="0" marL="0">
              <a:buNone/>
            </a:pPr>
            <a:r>
              <a:rPr lang="en-US" sz="1250" dirty="0">
                <a:solidFill>
                  <a:srgbClr val="5B6478"/>
                </a:solidFill>
                <a:latin typeface="Calibri" pitchFamily="34" charset="0"/>
                <a:ea typeface="Calibri" pitchFamily="34" charset="-122"/>
                <a:cs typeface="Calibri" pitchFamily="34" charset="-120"/>
              </a:rPr>
              <a:t>Tứ giác, hình thang, thang cân, thang vuông, bình hành, chữ nhật, thoi, vuông, diều</a:t>
            </a:r>
            <a:endParaRPr lang="en-US" sz="1250" dirty="0"/>
          </a:p>
        </p:txBody>
      </p:sp>
      <p:sp>
        <p:nvSpPr>
          <p:cNvPr id="14" name="Shape 11"/>
          <p:cNvSpPr/>
          <p:nvPr/>
        </p:nvSpPr>
        <p:spPr>
          <a:xfrm>
            <a:off x="7863840" y="3136392"/>
            <a:ext cx="3794760" cy="1417320"/>
          </a:xfrm>
          <a:prstGeom prst="roundRect">
            <a:avLst>
              <a:gd name="adj" fmla="val 7742"/>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5" name="Text 12"/>
          <p:cNvSpPr txBox="1"/>
          <p:nvPr/>
        </p:nvSpPr>
        <p:spPr>
          <a:xfrm>
            <a:off x="8092440" y="3300984"/>
            <a:ext cx="1005840" cy="685800"/>
          </a:xfrm>
          <a:prstGeom prst="rect">
            <a:avLst/>
          </a:prstGeom>
          <a:noFill/>
          <a:ln/>
        </p:spPr>
        <p:txBody>
          <a:bodyPr wrap="square" lIns="0" tIns="0" rIns="0" bIns="0" rtlCol="0" anchor="t"/>
          <a:lstStyle/>
          <a:p>
            <a:pPr indent="0" marL="0">
              <a:buNone/>
            </a:pPr>
            <a:r>
              <a:rPr lang="en-US" sz="4000" b="1" dirty="0">
                <a:solidFill>
                  <a:srgbClr val="2F5BEA"/>
                </a:solidFill>
                <a:latin typeface="Cambria" pitchFamily="34" charset="0"/>
                <a:ea typeface="Cambria" pitchFamily="34" charset="-122"/>
                <a:cs typeface="Cambria" pitchFamily="34" charset="-120"/>
              </a:rPr>
              <a:t>12</a:t>
            </a:r>
            <a:endParaRPr lang="en-US" sz="4000" dirty="0"/>
          </a:p>
        </p:txBody>
      </p:sp>
      <p:sp>
        <p:nvSpPr>
          <p:cNvPr id="16" name="Text 13"/>
          <p:cNvSpPr txBox="1"/>
          <p:nvPr/>
        </p:nvSpPr>
        <p:spPr>
          <a:xfrm>
            <a:off x="9098280" y="3429000"/>
            <a:ext cx="2468880" cy="411480"/>
          </a:xfrm>
          <a:prstGeom prst="rect">
            <a:avLst/>
          </a:prstGeom>
          <a:noFill/>
          <a:ln/>
        </p:spPr>
        <p:txBody>
          <a:bodyPr wrap="square" lIns="0" tIns="0" rIns="0" bIns="0" rtlCol="0" anchor="t"/>
          <a:lstStyle/>
          <a:p>
            <a:pPr indent="0" marL="0">
              <a:buNone/>
            </a:pPr>
            <a:r>
              <a:rPr lang="en-US" sz="1700" b="1" dirty="0">
                <a:solidFill>
                  <a:srgbClr val="1B2540"/>
                </a:solidFill>
                <a:latin typeface="Calibri" pitchFamily="34" charset="0"/>
                <a:ea typeface="Calibri" pitchFamily="34" charset="-122"/>
                <a:cs typeface="Calibri" pitchFamily="34" charset="-120"/>
              </a:rPr>
              <a:t>quan hệ LA_MOT</a:t>
            </a:r>
            <a:endParaRPr lang="en-US" sz="1700" dirty="0"/>
          </a:p>
        </p:txBody>
      </p:sp>
      <p:sp>
        <p:nvSpPr>
          <p:cNvPr id="17" name="Text 14"/>
          <p:cNvSpPr txBox="1"/>
          <p:nvPr/>
        </p:nvSpPr>
        <p:spPr>
          <a:xfrm>
            <a:off x="8092440" y="3959352"/>
            <a:ext cx="3429000" cy="548640"/>
          </a:xfrm>
          <a:prstGeom prst="rect">
            <a:avLst/>
          </a:prstGeom>
          <a:noFill/>
          <a:ln/>
        </p:spPr>
        <p:txBody>
          <a:bodyPr wrap="square" lIns="0" tIns="0" rIns="0" bIns="0" rtlCol="0" anchor="t"/>
          <a:lstStyle/>
          <a:p>
            <a:pPr indent="0" marL="0">
              <a:buNone/>
            </a:pPr>
            <a:r>
              <a:rPr lang="en-US" sz="1250" dirty="0">
                <a:solidFill>
                  <a:srgbClr val="5B6478"/>
                </a:solidFill>
                <a:latin typeface="Calibri" pitchFamily="34" charset="0"/>
                <a:ea typeface="Calibri" pitchFamily="34" charset="-122"/>
                <a:cs typeface="Calibri" pitchFamily="34" charset="-120"/>
              </a:rPr>
              <a:t>Mũi tên đi từ hình đặc biệt lên hình tổng quát hơn</a:t>
            </a:r>
            <a:endParaRPr lang="en-US" sz="1250" dirty="0"/>
          </a:p>
        </p:txBody>
      </p:sp>
      <p:sp>
        <p:nvSpPr>
          <p:cNvPr id="18" name="Shape 15"/>
          <p:cNvSpPr/>
          <p:nvPr/>
        </p:nvSpPr>
        <p:spPr>
          <a:xfrm>
            <a:off x="7863840" y="4764024"/>
            <a:ext cx="3794760" cy="1417320"/>
          </a:xfrm>
          <a:prstGeom prst="roundRect">
            <a:avLst>
              <a:gd name="adj" fmla="val 7742"/>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9" name="Text 16"/>
          <p:cNvSpPr txBox="1"/>
          <p:nvPr/>
        </p:nvSpPr>
        <p:spPr>
          <a:xfrm>
            <a:off x="8092440" y="4928616"/>
            <a:ext cx="1005840" cy="685800"/>
          </a:xfrm>
          <a:prstGeom prst="rect">
            <a:avLst/>
          </a:prstGeom>
          <a:noFill/>
          <a:ln/>
        </p:spPr>
        <p:txBody>
          <a:bodyPr wrap="square" lIns="0" tIns="0" rIns="0" bIns="0" rtlCol="0" anchor="t"/>
          <a:lstStyle/>
          <a:p>
            <a:pPr indent="0" marL="0">
              <a:buNone/>
            </a:pPr>
            <a:r>
              <a:rPr lang="en-US" sz="4000" b="1" dirty="0">
                <a:solidFill>
                  <a:srgbClr val="2F5BEA"/>
                </a:solidFill>
                <a:latin typeface="Cambria" pitchFamily="34" charset="0"/>
                <a:ea typeface="Cambria" pitchFamily="34" charset="-122"/>
                <a:cs typeface="Cambria" pitchFamily="34" charset="-120"/>
              </a:rPr>
              <a:t>2</a:t>
            </a:r>
            <a:endParaRPr lang="en-US" sz="4000" dirty="0"/>
          </a:p>
        </p:txBody>
      </p:sp>
      <p:sp>
        <p:nvSpPr>
          <p:cNvPr id="20" name="Text 17"/>
          <p:cNvSpPr txBox="1"/>
          <p:nvPr/>
        </p:nvSpPr>
        <p:spPr>
          <a:xfrm>
            <a:off x="9098280" y="5056632"/>
            <a:ext cx="2468880" cy="411480"/>
          </a:xfrm>
          <a:prstGeom prst="rect">
            <a:avLst/>
          </a:prstGeom>
          <a:noFill/>
          <a:ln/>
        </p:spPr>
        <p:txBody>
          <a:bodyPr wrap="square" lIns="0" tIns="0" rIns="0" bIns="0" rtlCol="0" anchor="t"/>
          <a:lstStyle/>
          <a:p>
            <a:pPr indent="0" marL="0">
              <a:buNone/>
            </a:pPr>
            <a:r>
              <a:rPr lang="en-US" sz="1700" b="1" dirty="0">
                <a:solidFill>
                  <a:srgbClr val="1B2540"/>
                </a:solidFill>
                <a:latin typeface="Calibri" pitchFamily="34" charset="0"/>
                <a:ea typeface="Calibri" pitchFamily="34" charset="-122"/>
                <a:cs typeface="Calibri" pitchFamily="34" charset="-120"/>
              </a:rPr>
              <a:t>hình cha</a:t>
            </a:r>
            <a:endParaRPr lang="en-US" sz="1700" dirty="0"/>
          </a:p>
        </p:txBody>
      </p:sp>
      <p:sp>
        <p:nvSpPr>
          <p:cNvPr id="21" name="Text 18"/>
          <p:cNvSpPr txBox="1"/>
          <p:nvPr/>
        </p:nvSpPr>
        <p:spPr>
          <a:xfrm>
            <a:off x="8092440" y="5586984"/>
            <a:ext cx="3429000" cy="548640"/>
          </a:xfrm>
          <a:prstGeom prst="rect">
            <a:avLst/>
          </a:prstGeom>
          <a:noFill/>
          <a:ln/>
        </p:spPr>
        <p:txBody>
          <a:bodyPr wrap="square" lIns="0" tIns="0" rIns="0" bIns="0" rtlCol="0" anchor="t"/>
          <a:lstStyle/>
          <a:p>
            <a:pPr indent="0" marL="0">
              <a:buNone/>
            </a:pPr>
            <a:r>
              <a:rPr lang="en-US" sz="1250" dirty="0">
                <a:solidFill>
                  <a:srgbClr val="5B6478"/>
                </a:solidFill>
                <a:latin typeface="Calibri" pitchFamily="34" charset="0"/>
                <a:ea typeface="Calibri" pitchFamily="34" charset="-122"/>
                <a:cs typeface="Calibri" pitchFamily="34" charset="-120"/>
              </a:rPr>
              <a:t>Hình vuông là hình chữ nhật và hình thoi ⇒ cấu trúc là đồ thị, không phải cây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Dấu hiệu nhận biết = luật suy luận</a:t>
            </a:r>
            <a:endParaRPr lang="en-US" sz="3200" dirty="0"/>
          </a:p>
        </p:txBody>
      </p:sp>
      <p:sp>
        <p:nvSpPr>
          <p:cNvPr id="5" name="Text 3"/>
          <p:cNvSpPr txBox="1"/>
          <p:nvPr/>
        </p:nvSpPr>
        <p:spPr>
          <a:xfrm>
            <a:off x="1298448" y="960120"/>
            <a:ext cx="10314432" cy="365760"/>
          </a:xfrm>
          <a:prstGeom prst="rect">
            <a:avLst/>
          </a:prstGeom>
          <a:noFill/>
          <a:ln/>
        </p:spPr>
        <p:txBody>
          <a:bodyPr wrap="square" lIns="0" tIns="0" rIns="0" bIns="0" rtlCol="0" anchor="t"/>
          <a:lstStyle/>
          <a:p>
            <a:pPr indent="0" marL="0">
              <a:buNone/>
            </a:pPr>
            <a:r>
              <a:rPr lang="en-US" sz="1500" dirty="0">
                <a:solidFill>
                  <a:srgbClr val="5B6478"/>
                </a:solidFill>
                <a:latin typeface="Calibri" pitchFamily="34" charset="0"/>
                <a:ea typeface="Calibri" pitchFamily="34" charset="-122"/>
                <a:cs typeface="Calibri" pitchFamily="34" charset="-120"/>
              </a:rPr>
              <a:t>26 dấu hiệu nhận biết trên 17 tính chất nguyên tử (cạnh, góc, đường chéo)</a:t>
            </a:r>
            <a:endParaRPr lang="en-US" sz="1500" dirty="0"/>
          </a:p>
        </p:txBody>
      </p:sp>
      <p:sp>
        <p:nvSpPr>
          <p:cNvPr id="6" name="Text 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7" name="Text 5"/>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5</a:t>
            </a:r>
            <a:endParaRPr lang="en-US" sz="1000" dirty="0"/>
          </a:p>
        </p:txBody>
      </p:sp>
      <p:sp>
        <p:nvSpPr>
          <p:cNvPr id="8" name="Shape 6"/>
          <p:cNvSpPr/>
          <p:nvPr/>
        </p:nvSpPr>
        <p:spPr>
          <a:xfrm>
            <a:off x="548640" y="1508760"/>
            <a:ext cx="6675120" cy="1051560"/>
          </a:xfrm>
          <a:prstGeom prst="roundRect">
            <a:avLst>
              <a:gd name="adj" fmla="val 10435"/>
            </a:avLst>
          </a:prstGeom>
          <a:solidFill>
            <a:srgbClr val="E8EEFF"/>
          </a:solidFill>
          <a:ln w="9525">
            <a:solidFill>
              <a:srgbClr val="E8EEFF"/>
            </a:solidFill>
            <a:prstDash val="solid"/>
          </a:ln>
        </p:spPr>
      </p:sp>
      <p:sp>
        <p:nvSpPr>
          <p:cNvPr id="9" name="Text 7"/>
          <p:cNvSpPr txBox="1"/>
          <p:nvPr/>
        </p:nvSpPr>
        <p:spPr>
          <a:xfrm>
            <a:off x="822960" y="1508760"/>
            <a:ext cx="6217920" cy="1051560"/>
          </a:xfrm>
          <a:prstGeom prst="rect">
            <a:avLst/>
          </a:prstGeom>
          <a:noFill/>
          <a:ln/>
        </p:spPr>
        <p:txBody>
          <a:bodyPr wrap="square" lIns="0" tIns="0" rIns="0" bIns="0" rtlCol="0" anchor="ctr"/>
          <a:lstStyle/>
          <a:p>
            <a:pPr indent="0" marL="0">
              <a:buNone/>
            </a:pPr>
            <a:r>
              <a:rPr lang="en-US" sz="2400" b="1" dirty="0">
                <a:solidFill>
                  <a:srgbClr val="2F5BEA"/>
                </a:solidFill>
                <a:latin typeface="Cambria" pitchFamily="34" charset="0"/>
                <a:ea typeface="Cambria" pitchFamily="34" charset="-122"/>
                <a:cs typeface="Cambria" pitchFamily="34" charset="-120"/>
              </a:rPr>
              <a:t>Hình X</a:t>
            </a:r>
            <a:pPr indent="0" marL="0">
              <a:buNone/>
            </a:pPr>
            <a:r>
              <a:rPr lang="en-US" sz="2400" dirty="0">
                <a:solidFill>
                  <a:srgbClr val="1D2433"/>
                </a:solidFill>
                <a:latin typeface="Cambria" pitchFamily="34" charset="0"/>
                <a:ea typeface="Cambria" pitchFamily="34" charset="-122"/>
                <a:cs typeface="Cambria" pitchFamily="34" charset="-120"/>
              </a:rPr>
              <a:t>  +  các tính chất P₁, P₂…  </a:t>
            </a:r>
            <a:pPr indent="0" marL="0">
              <a:buNone/>
            </a:pPr>
            <a:r>
              <a:rPr lang="en-US" sz="2400" b="1" dirty="0">
                <a:solidFill>
                  <a:srgbClr val="0F8A5F"/>
                </a:solidFill>
                <a:latin typeface="Cambria" pitchFamily="34" charset="0"/>
                <a:ea typeface="Cambria" pitchFamily="34" charset="-122"/>
                <a:cs typeface="Cambria" pitchFamily="34" charset="-120"/>
              </a:rPr>
              <a:t>⟹  Hình Y</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6675120" cy="914400"/>
        </p:xfrm>
        <a:graphic>
          <a:graphicData uri="http://schemas.openxmlformats.org/drawingml/2006/table">
            <a:tbl>
              <a:tblPr/>
              <a:tblGrid>
                <a:gridCol w="777240"/>
                <a:gridCol w="1600200"/>
                <a:gridCol w="2743200"/>
                <a:gridCol w="15544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Mã</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B254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Từ hình</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B254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Cần thêm</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B254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Kết luận</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B2540"/>
                    </a:solidFill>
                  </a:tcPr>
                </a:tc>
              </a:tr>
              <a:tr h="457200">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DH06</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Tứ giác</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Hai cặp cạnh đối song song</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Hình bình hành</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DH14</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Hình bình hành</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Hai đường chéo bằng nhau</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Hình chữ nhật</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r>
              <a:tr h="457200">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DH17</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Hình bình hành</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Hai đường chéo vuông góc</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Hình thoi</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DH20</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Hình chữ nhật</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Hai đường chéo vuông góc</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Hình vuông</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r>
              <a:tr h="457200">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DH05</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Hình thang</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Hai cạnh bên bằng nhau + không song song</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D2433"/>
                          </a:solidFill>
                          <a:latin typeface="Calibri" pitchFamily="34" charset="0"/>
                          <a:ea typeface="Calibri" pitchFamily="34" charset="-122"/>
                          <a:cs typeface="Calibri" pitchFamily="34" charset="-120"/>
                        </a:rPr>
                        <a:t>Hình thang cân</a:t>
                      </a:r>
                      <a:endParaRPr lang="en-US" sz="130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r>
            </a:tbl>
          </a:graphicData>
        </a:graphic>
      </p:graphicFrame>
      <p:sp>
        <p:nvSpPr>
          <p:cNvPr id="11" name="Shape 8"/>
          <p:cNvSpPr/>
          <p:nvPr/>
        </p:nvSpPr>
        <p:spPr>
          <a:xfrm>
            <a:off x="7589520" y="1508760"/>
            <a:ext cx="4069080" cy="2011680"/>
          </a:xfrm>
          <a:prstGeom prst="roundRect">
            <a:avLst>
              <a:gd name="adj" fmla="val 5455"/>
            </a:avLst>
          </a:prstGeom>
          <a:solidFill>
            <a:srgbClr val="FFF4DC"/>
          </a:solidFill>
          <a:ln w="9525">
            <a:solidFill>
              <a:srgbClr val="F3D9A4"/>
            </a:solidFill>
            <a:prstDash val="solid"/>
          </a:ln>
        </p:spPr>
      </p:sp>
      <p:sp>
        <p:nvSpPr>
          <p:cNvPr id="12" name="Text 9"/>
          <p:cNvSpPr txBox="1"/>
          <p:nvPr/>
        </p:nvSpPr>
        <p:spPr>
          <a:xfrm>
            <a:off x="7818120" y="1691640"/>
            <a:ext cx="3657600" cy="365760"/>
          </a:xfrm>
          <a:prstGeom prst="rect">
            <a:avLst/>
          </a:prstGeom>
          <a:noFill/>
          <a:ln/>
        </p:spPr>
        <p:txBody>
          <a:bodyPr wrap="square" lIns="0" tIns="0" rIns="0" bIns="0" rtlCol="0" anchor="t"/>
          <a:lstStyle/>
          <a:p>
            <a:pPr indent="0" marL="0">
              <a:buNone/>
            </a:pPr>
            <a:r>
              <a:rPr lang="en-US" sz="1600" b="1" dirty="0">
                <a:solidFill>
                  <a:srgbClr val="B45309"/>
                </a:solidFill>
                <a:latin typeface="Calibri" pitchFamily="34" charset="0"/>
                <a:ea typeface="Calibri" pitchFamily="34" charset="-122"/>
                <a:cs typeface="Calibri" pitchFamily="34" charset="-120"/>
              </a:rPr>
              <a:t>Chưa đủ dữ kiện (luật gợi ý GY01)</a:t>
            </a:r>
            <a:endParaRPr lang="en-US" sz="1600" dirty="0"/>
          </a:p>
        </p:txBody>
      </p:sp>
      <p:sp>
        <p:nvSpPr>
          <p:cNvPr id="13" name="Text 10"/>
          <p:cNvSpPr txBox="1"/>
          <p:nvPr/>
        </p:nvSpPr>
        <p:spPr>
          <a:xfrm>
            <a:off x="7818120" y="2103120"/>
            <a:ext cx="3657600" cy="1645920"/>
          </a:xfrm>
          <a:prstGeom prst="rect">
            <a:avLst/>
          </a:prstGeom>
          <a:noFill/>
          <a:ln/>
        </p:spPr>
        <p:txBody>
          <a:bodyPr wrap="square" lIns="0" tIns="0" rIns="0" bIns="0" rtlCol="0" anchor="t"/>
          <a:lstStyle/>
          <a:p>
            <a:pPr indent="0" marL="0">
              <a:buNone/>
            </a:pPr>
            <a:r>
              <a:rPr lang="en-US" sz="1400" dirty="0">
                <a:solidFill>
                  <a:srgbClr val="1D2433"/>
                </a:solidFill>
                <a:latin typeface="Calibri" pitchFamily="34" charset="0"/>
                <a:ea typeface="Calibri" pitchFamily="34" charset="-122"/>
                <a:cs typeface="Calibri" pitchFamily="34" charset="-120"/>
              </a:rPr>
              <a:t>Hình thang có hai cạnh bên bằng nhau có thể là hình thang cân hoặc hình bình hành. Hệ thống không kết luận vội mà gợi ý cần thêm giả thiết.</a:t>
            </a:r>
            <a:endParaRPr lang="en-US" sz="1400" dirty="0"/>
          </a:p>
        </p:txBody>
      </p:sp>
      <p:sp>
        <p:nvSpPr>
          <p:cNvPr id="14" name="Shape 11"/>
          <p:cNvSpPr/>
          <p:nvPr/>
        </p:nvSpPr>
        <p:spPr>
          <a:xfrm>
            <a:off x="7589520" y="3703320"/>
            <a:ext cx="4069080" cy="1965960"/>
          </a:xfrm>
          <a:prstGeom prst="roundRect">
            <a:avLst>
              <a:gd name="adj" fmla="val 5581"/>
            </a:avLst>
          </a:prstGeom>
          <a:solidFill>
            <a:srgbClr val="FDECEB"/>
          </a:solidFill>
          <a:ln w="9525">
            <a:solidFill>
              <a:srgbClr val="F4C7C3"/>
            </a:solidFill>
            <a:prstDash val="solid"/>
          </a:ln>
        </p:spPr>
      </p:sp>
      <p:sp>
        <p:nvSpPr>
          <p:cNvPr id="15" name="Text 12"/>
          <p:cNvSpPr txBox="1"/>
          <p:nvPr/>
        </p:nvSpPr>
        <p:spPr>
          <a:xfrm>
            <a:off x="7818120" y="3886200"/>
            <a:ext cx="3657600" cy="365760"/>
          </a:xfrm>
          <a:prstGeom prst="rect">
            <a:avLst/>
          </a:prstGeom>
          <a:noFill/>
          <a:ln/>
        </p:spPr>
        <p:txBody>
          <a:bodyPr wrap="square" lIns="0" tIns="0" rIns="0" bIns="0" rtlCol="0" anchor="t"/>
          <a:lstStyle/>
          <a:p>
            <a:pPr indent="0" marL="0">
              <a:buNone/>
            </a:pPr>
            <a:r>
              <a:rPr lang="en-US" sz="1600" b="1" dirty="0">
                <a:solidFill>
                  <a:srgbClr val="C0362C"/>
                </a:solidFill>
                <a:latin typeface="Calibri" pitchFamily="34" charset="0"/>
                <a:ea typeface="Calibri" pitchFamily="34" charset="-122"/>
                <a:cs typeface="Calibri" pitchFamily="34" charset="-120"/>
              </a:rPr>
              <a:t>Mâu thuẫn (5 cặp MAU_THUAN)</a:t>
            </a:r>
            <a:endParaRPr lang="en-US" sz="1600" dirty="0"/>
          </a:p>
        </p:txBody>
      </p:sp>
      <p:sp>
        <p:nvSpPr>
          <p:cNvPr id="16" name="Text 13"/>
          <p:cNvSpPr txBox="1"/>
          <p:nvPr/>
        </p:nvSpPr>
        <p:spPr>
          <a:xfrm>
            <a:off x="7818120" y="4297680"/>
            <a:ext cx="3657600" cy="1280160"/>
          </a:xfrm>
          <a:prstGeom prst="rect">
            <a:avLst/>
          </a:prstGeom>
          <a:noFill/>
          <a:ln/>
        </p:spPr>
        <p:txBody>
          <a:bodyPr wrap="square" lIns="0" tIns="0" rIns="0" bIns="0" rtlCol="0" anchor="t"/>
          <a:lstStyle/>
          <a:p>
            <a:pPr indent="0" marL="0">
              <a:buNone/>
            </a:pPr>
            <a:r>
              <a:rPr lang="en-US" sz="1400" dirty="0">
                <a:solidFill>
                  <a:srgbClr val="1D2433"/>
                </a:solidFill>
                <a:latin typeface="Calibri" pitchFamily="34" charset="0"/>
                <a:ea typeface="Calibri" pitchFamily="34" charset="-122"/>
                <a:cs typeface="Calibri" pitchFamily="34" charset="-120"/>
              </a:rPr>
              <a:t>Ví dụ: “hai cặp cạnh đối song song” và “hai cạnh bên không song song” không thể cùng đúng ⇒ hệ thống báo giả thiết mâu thuẫn.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Vì sao chọn Neo4j?</a:t>
            </a:r>
            <a:endParaRPr lang="en-US" sz="3200" dirty="0"/>
          </a:p>
        </p:txBody>
      </p:sp>
      <p:sp>
        <p:nvSpPr>
          <p:cNvPr id="5" name="Text 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6" name="Text 4"/>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6</a:t>
            </a:r>
            <a:endParaRPr lang="en-US" sz="1000" dirty="0"/>
          </a:p>
        </p:txBody>
      </p:sp>
      <p:sp>
        <p:nvSpPr>
          <p:cNvPr id="7" name="Shape 5"/>
          <p:cNvSpPr/>
          <p:nvPr/>
        </p:nvSpPr>
        <p:spPr>
          <a:xfrm>
            <a:off x="2926080" y="1417320"/>
            <a:ext cx="4297680" cy="4754880"/>
          </a:xfrm>
          <a:prstGeom prst="roundRect">
            <a:avLst>
              <a:gd name="adj" fmla="val 2553"/>
            </a:avLst>
          </a:prstGeom>
          <a:solidFill>
            <a:srgbClr val="F1F3F7"/>
          </a:solidFill>
          <a:ln w="9525">
            <a:solidFill>
              <a:srgbClr val="F1F3F7"/>
            </a:solidFill>
            <a:prstDash val="solid"/>
          </a:ln>
        </p:spPr>
      </p:sp>
      <p:sp>
        <p:nvSpPr>
          <p:cNvPr id="8" name="Text 6"/>
          <p:cNvSpPr txBox="1"/>
          <p:nvPr/>
        </p:nvSpPr>
        <p:spPr>
          <a:xfrm>
            <a:off x="3154680" y="1554480"/>
            <a:ext cx="3886200" cy="411480"/>
          </a:xfrm>
          <a:prstGeom prst="rect">
            <a:avLst/>
          </a:prstGeom>
          <a:noFill/>
          <a:ln/>
        </p:spPr>
        <p:txBody>
          <a:bodyPr wrap="square" lIns="0" tIns="0" rIns="0" bIns="0" rtlCol="0" anchor="t"/>
          <a:lstStyle/>
          <a:p>
            <a:pPr indent="0" marL="0">
              <a:buNone/>
            </a:pPr>
            <a:r>
              <a:rPr lang="en-US" sz="1900" b="1" dirty="0">
                <a:solidFill>
                  <a:srgbClr val="5B6478"/>
                </a:solidFill>
                <a:latin typeface="Cambria" pitchFamily="34" charset="0"/>
                <a:ea typeface="Cambria" pitchFamily="34" charset="-122"/>
                <a:cs typeface="Cambria" pitchFamily="34" charset="-120"/>
              </a:rPr>
              <a:t>CSDL quan hệ (SQL)</a:t>
            </a:r>
            <a:endParaRPr lang="en-US" sz="1900" dirty="0"/>
          </a:p>
        </p:txBody>
      </p:sp>
      <p:sp>
        <p:nvSpPr>
          <p:cNvPr id="9" name="Shape 7"/>
          <p:cNvSpPr/>
          <p:nvPr/>
        </p:nvSpPr>
        <p:spPr>
          <a:xfrm>
            <a:off x="7315200" y="1417320"/>
            <a:ext cx="4343400" cy="4754880"/>
          </a:xfrm>
          <a:prstGeom prst="roundRect">
            <a:avLst>
              <a:gd name="adj" fmla="val 2526"/>
            </a:avLst>
          </a:prstGeom>
          <a:solidFill>
            <a:srgbClr val="E8EEFF"/>
          </a:solidFill>
          <a:ln w="9525">
            <a:solidFill>
              <a:srgbClr val="E8EEFF"/>
            </a:solidFill>
            <a:prstDash val="solid"/>
          </a:ln>
        </p:spPr>
      </p:sp>
      <p:sp>
        <p:nvSpPr>
          <p:cNvPr id="10" name="Text 8"/>
          <p:cNvSpPr txBox="1"/>
          <p:nvPr/>
        </p:nvSpPr>
        <p:spPr>
          <a:xfrm>
            <a:off x="7543800" y="1554480"/>
            <a:ext cx="3931920" cy="411480"/>
          </a:xfrm>
          <a:prstGeom prst="rect">
            <a:avLst/>
          </a:prstGeom>
          <a:noFill/>
          <a:ln/>
        </p:spPr>
        <p:txBody>
          <a:bodyPr wrap="square" lIns="0" tIns="0" rIns="0" bIns="0" rtlCol="0" anchor="t"/>
          <a:lstStyle/>
          <a:p>
            <a:pPr indent="0" marL="0">
              <a:buNone/>
            </a:pPr>
            <a:r>
              <a:rPr lang="en-US" sz="1900" b="1" dirty="0">
                <a:solidFill>
                  <a:srgbClr val="2F5BEA"/>
                </a:solidFill>
                <a:latin typeface="Cambria" pitchFamily="34" charset="0"/>
                <a:ea typeface="Cambria" pitchFamily="34" charset="-122"/>
                <a:cs typeface="Cambria" pitchFamily="34" charset="-120"/>
              </a:rPr>
              <a:t>Neo4j (đồ thị)</a:t>
            </a:r>
            <a:endParaRPr lang="en-US" sz="1900" dirty="0"/>
          </a:p>
        </p:txBody>
      </p:sp>
      <p:sp>
        <p:nvSpPr>
          <p:cNvPr id="11" name="Text 9"/>
          <p:cNvSpPr txBox="1"/>
          <p:nvPr/>
        </p:nvSpPr>
        <p:spPr>
          <a:xfrm>
            <a:off x="548640" y="2103120"/>
            <a:ext cx="2286000" cy="731520"/>
          </a:xfrm>
          <a:prstGeom prst="rect">
            <a:avLst/>
          </a:prstGeom>
          <a:noFill/>
          <a:ln/>
        </p:spPr>
        <p:txBody>
          <a:bodyPr wrap="square" lIns="0" tIns="0" rIns="0" bIns="0" rtlCol="0" anchor="ctr"/>
          <a:lstStyle/>
          <a:p>
            <a:pPr indent="0" marL="0">
              <a:buNone/>
            </a:pPr>
            <a:r>
              <a:rPr lang="en-US" sz="1600" b="1" dirty="0">
                <a:solidFill>
                  <a:srgbClr val="1B2540"/>
                </a:solidFill>
                <a:latin typeface="Calibri" pitchFamily="34" charset="0"/>
                <a:ea typeface="Calibri" pitchFamily="34" charset="-122"/>
                <a:cs typeface="Calibri" pitchFamily="34" charset="-120"/>
              </a:rPr>
              <a:t>Lưu quan hệ</a:t>
            </a:r>
            <a:endParaRPr lang="en-US" sz="1600" dirty="0"/>
          </a:p>
        </p:txBody>
      </p:sp>
      <p:sp>
        <p:nvSpPr>
          <p:cNvPr id="12" name="Text 10"/>
          <p:cNvSpPr txBox="1"/>
          <p:nvPr/>
        </p:nvSpPr>
        <p:spPr>
          <a:xfrm>
            <a:off x="3154680" y="2103120"/>
            <a:ext cx="3886200" cy="731520"/>
          </a:xfrm>
          <a:prstGeom prst="rect">
            <a:avLst/>
          </a:prstGeom>
          <a:noFill/>
          <a:ln/>
        </p:spPr>
        <p:txBody>
          <a:bodyPr wrap="square" lIns="0" tIns="0" rIns="0" bIns="0" rtlCol="0" anchor="ctr"/>
          <a:lstStyle/>
          <a:p>
            <a:pPr indent="0" marL="0">
              <a:buNone/>
            </a:pPr>
            <a:r>
              <a:rPr lang="en-US" sz="1450" dirty="0">
                <a:solidFill>
                  <a:srgbClr val="5B6478"/>
                </a:solidFill>
                <a:latin typeface="Calibri" pitchFamily="34" charset="0"/>
                <a:ea typeface="Calibri" pitchFamily="34" charset="-122"/>
                <a:cs typeface="Calibri" pitchFamily="34" charset="-120"/>
              </a:rPr>
              <a:t>Bảng trung gian + khoá ngoại</a:t>
            </a:r>
            <a:endParaRPr lang="en-US" sz="1450" dirty="0"/>
          </a:p>
        </p:txBody>
      </p:sp>
      <p:sp>
        <p:nvSpPr>
          <p:cNvPr id="13" name="Text 11"/>
          <p:cNvSpPr txBox="1"/>
          <p:nvPr/>
        </p:nvSpPr>
        <p:spPr>
          <a:xfrm>
            <a:off x="7543800" y="2103120"/>
            <a:ext cx="3931920" cy="731520"/>
          </a:xfrm>
          <a:prstGeom prst="rect">
            <a:avLst/>
          </a:prstGeom>
          <a:noFill/>
          <a:ln/>
        </p:spPr>
        <p:txBody>
          <a:bodyPr wrap="square" lIns="0" tIns="0" rIns="0" bIns="0" rtlCol="0" anchor="ctr"/>
          <a:lstStyle/>
          <a:p>
            <a:pPr indent="0" marL="0">
              <a:buNone/>
            </a:pPr>
            <a:r>
              <a:rPr lang="en-US" sz="1450" b="1" dirty="0">
                <a:solidFill>
                  <a:srgbClr val="1D2433"/>
                </a:solidFill>
                <a:latin typeface="Calibri" pitchFamily="34" charset="0"/>
                <a:ea typeface="Calibri" pitchFamily="34" charset="-122"/>
                <a:cs typeface="Calibri" pitchFamily="34" charset="-120"/>
              </a:rPr>
              <a:t>Quan hệ là cạnh, lưu trực tiếp</a:t>
            </a:r>
            <a:endParaRPr lang="en-US" sz="1450" dirty="0"/>
          </a:p>
        </p:txBody>
      </p:sp>
      <p:sp>
        <p:nvSpPr>
          <p:cNvPr id="14" name="Text 12"/>
          <p:cNvSpPr txBox="1"/>
          <p:nvPr/>
        </p:nvSpPr>
        <p:spPr>
          <a:xfrm>
            <a:off x="548640" y="2926080"/>
            <a:ext cx="2286000" cy="731520"/>
          </a:xfrm>
          <a:prstGeom prst="rect">
            <a:avLst/>
          </a:prstGeom>
          <a:noFill/>
          <a:ln/>
        </p:spPr>
        <p:txBody>
          <a:bodyPr wrap="square" lIns="0" tIns="0" rIns="0" bIns="0" rtlCol="0" anchor="ctr"/>
          <a:lstStyle/>
          <a:p>
            <a:pPr indent="0" marL="0">
              <a:buNone/>
            </a:pPr>
            <a:r>
              <a:rPr lang="en-US" sz="1600" b="1" dirty="0">
                <a:solidFill>
                  <a:srgbClr val="1B2540"/>
                </a:solidFill>
                <a:latin typeface="Calibri" pitchFamily="34" charset="0"/>
                <a:ea typeface="Calibri" pitchFamily="34" charset="-122"/>
                <a:cs typeface="Calibri" pitchFamily="34" charset="-120"/>
              </a:rPr>
              <a:t>Tìm mọi hình cha</a:t>
            </a:r>
            <a:endParaRPr lang="en-US" sz="1600" dirty="0"/>
          </a:p>
        </p:txBody>
      </p:sp>
      <p:sp>
        <p:nvSpPr>
          <p:cNvPr id="15" name="Text 13"/>
          <p:cNvSpPr txBox="1"/>
          <p:nvPr/>
        </p:nvSpPr>
        <p:spPr>
          <a:xfrm>
            <a:off x="3154680" y="2926080"/>
            <a:ext cx="3886200" cy="731520"/>
          </a:xfrm>
          <a:prstGeom prst="rect">
            <a:avLst/>
          </a:prstGeom>
          <a:noFill/>
          <a:ln/>
        </p:spPr>
        <p:txBody>
          <a:bodyPr wrap="square" lIns="0" tIns="0" rIns="0" bIns="0" rtlCol="0" anchor="ctr"/>
          <a:lstStyle/>
          <a:p>
            <a:pPr indent="0" marL="0">
              <a:buNone/>
            </a:pPr>
            <a:r>
              <a:rPr lang="en-US" sz="1450" dirty="0">
                <a:solidFill>
                  <a:srgbClr val="5B6478"/>
                </a:solidFill>
                <a:latin typeface="Calibri" pitchFamily="34" charset="0"/>
                <a:ea typeface="Calibri" pitchFamily="34" charset="-122"/>
                <a:cs typeface="Calibri" pitchFamily="34" charset="-120"/>
              </a:rPr>
              <a:t>JOIN đệ quy (WITH RECURSIVE) phức tạp</a:t>
            </a:r>
            <a:endParaRPr lang="en-US" sz="1450" dirty="0"/>
          </a:p>
        </p:txBody>
      </p:sp>
      <p:sp>
        <p:nvSpPr>
          <p:cNvPr id="16" name="Text 14"/>
          <p:cNvSpPr txBox="1"/>
          <p:nvPr/>
        </p:nvSpPr>
        <p:spPr>
          <a:xfrm>
            <a:off x="7543800" y="2926080"/>
            <a:ext cx="3931920" cy="731520"/>
          </a:xfrm>
          <a:prstGeom prst="rect">
            <a:avLst/>
          </a:prstGeom>
          <a:noFill/>
          <a:ln/>
        </p:spPr>
        <p:txBody>
          <a:bodyPr wrap="square" lIns="0" tIns="0" rIns="0" bIns="0" rtlCol="0" anchor="ctr"/>
          <a:lstStyle/>
          <a:p>
            <a:pPr indent="0" marL="0">
              <a:buNone/>
            </a:pPr>
            <a:r>
              <a:rPr lang="en-US" sz="1300" dirty="0">
                <a:solidFill>
                  <a:srgbClr val="1D2433"/>
                </a:solidFill>
                <a:latin typeface="Consolas" pitchFamily="34" charset="0"/>
                <a:ea typeface="Consolas" pitchFamily="34" charset="-122"/>
                <a:cs typeface="Consolas" pitchFamily="34" charset="-120"/>
              </a:rPr>
              <a:t>Một dòng: (h)-[:LA_MOT*]-&gt;(cha)</a:t>
            </a:r>
            <a:endParaRPr lang="en-US" sz="1300" dirty="0"/>
          </a:p>
        </p:txBody>
      </p:sp>
      <p:sp>
        <p:nvSpPr>
          <p:cNvPr id="17" name="Text 15"/>
          <p:cNvSpPr txBox="1"/>
          <p:nvPr/>
        </p:nvSpPr>
        <p:spPr>
          <a:xfrm>
            <a:off x="548640" y="3749040"/>
            <a:ext cx="2286000" cy="731520"/>
          </a:xfrm>
          <a:prstGeom prst="rect">
            <a:avLst/>
          </a:prstGeom>
          <a:noFill/>
          <a:ln/>
        </p:spPr>
        <p:txBody>
          <a:bodyPr wrap="square" lIns="0" tIns="0" rIns="0" bIns="0" rtlCol="0" anchor="ctr"/>
          <a:lstStyle/>
          <a:p>
            <a:pPr indent="0" marL="0">
              <a:buNone/>
            </a:pPr>
            <a:r>
              <a:rPr lang="en-US" sz="1600" b="1" dirty="0">
                <a:solidFill>
                  <a:srgbClr val="1B2540"/>
                </a:solidFill>
                <a:latin typeface="Calibri" pitchFamily="34" charset="0"/>
                <a:ea typeface="Calibri" pitchFamily="34" charset="-122"/>
                <a:cs typeface="Calibri" pitchFamily="34" charset="-120"/>
              </a:rPr>
              <a:t>Kế thừa tính chất</a:t>
            </a:r>
            <a:endParaRPr lang="en-US" sz="1600" dirty="0"/>
          </a:p>
        </p:txBody>
      </p:sp>
      <p:sp>
        <p:nvSpPr>
          <p:cNvPr id="18" name="Text 16"/>
          <p:cNvSpPr txBox="1"/>
          <p:nvPr/>
        </p:nvSpPr>
        <p:spPr>
          <a:xfrm>
            <a:off x="3154680" y="3749040"/>
            <a:ext cx="3886200" cy="731520"/>
          </a:xfrm>
          <a:prstGeom prst="rect">
            <a:avLst/>
          </a:prstGeom>
          <a:noFill/>
          <a:ln/>
        </p:spPr>
        <p:txBody>
          <a:bodyPr wrap="square" lIns="0" tIns="0" rIns="0" bIns="0" rtlCol="0" anchor="ctr"/>
          <a:lstStyle/>
          <a:p>
            <a:pPr indent="0" marL="0">
              <a:buNone/>
            </a:pPr>
            <a:r>
              <a:rPr lang="en-US" sz="1450" dirty="0">
                <a:solidFill>
                  <a:srgbClr val="5B6478"/>
                </a:solidFill>
                <a:latin typeface="Calibri" pitchFamily="34" charset="0"/>
                <a:ea typeface="Calibri" pitchFamily="34" charset="-122"/>
                <a:cs typeface="Calibri" pitchFamily="34" charset="-120"/>
              </a:rPr>
              <a:t>Nhiều JOIN lồng nhau</a:t>
            </a:r>
            <a:endParaRPr lang="en-US" sz="1450" dirty="0"/>
          </a:p>
        </p:txBody>
      </p:sp>
      <p:sp>
        <p:nvSpPr>
          <p:cNvPr id="19" name="Text 17"/>
          <p:cNvSpPr txBox="1"/>
          <p:nvPr/>
        </p:nvSpPr>
        <p:spPr>
          <a:xfrm>
            <a:off x="7543800" y="3749040"/>
            <a:ext cx="3931920" cy="731520"/>
          </a:xfrm>
          <a:prstGeom prst="rect">
            <a:avLst/>
          </a:prstGeom>
          <a:noFill/>
          <a:ln/>
        </p:spPr>
        <p:txBody>
          <a:bodyPr wrap="square" lIns="0" tIns="0" rIns="0" bIns="0" rtlCol="0" anchor="ctr"/>
          <a:lstStyle/>
          <a:p>
            <a:pPr indent="0" marL="0">
              <a:buNone/>
            </a:pPr>
            <a:r>
              <a:rPr lang="en-US" sz="1300" dirty="0">
                <a:solidFill>
                  <a:srgbClr val="1D2433"/>
                </a:solidFill>
                <a:latin typeface="Consolas" pitchFamily="34" charset="0"/>
                <a:ea typeface="Consolas" pitchFamily="34" charset="-122"/>
                <a:cs typeface="Consolas" pitchFamily="34" charset="-120"/>
              </a:rPr>
              <a:t>(h)-[:LA_MOT*0..]-&gt;()-[:CO_TINH_CHAT]-&gt;(t)</a:t>
            </a:r>
            <a:endParaRPr lang="en-US" sz="1300" dirty="0"/>
          </a:p>
        </p:txBody>
      </p:sp>
      <p:sp>
        <p:nvSpPr>
          <p:cNvPr id="20" name="Text 18"/>
          <p:cNvSpPr txBox="1"/>
          <p:nvPr/>
        </p:nvSpPr>
        <p:spPr>
          <a:xfrm>
            <a:off x="548640" y="4572000"/>
            <a:ext cx="2286000" cy="731520"/>
          </a:xfrm>
          <a:prstGeom prst="rect">
            <a:avLst/>
          </a:prstGeom>
          <a:noFill/>
          <a:ln/>
        </p:spPr>
        <p:txBody>
          <a:bodyPr wrap="square" lIns="0" tIns="0" rIns="0" bIns="0" rtlCol="0" anchor="ctr"/>
          <a:lstStyle/>
          <a:p>
            <a:pPr indent="0" marL="0">
              <a:buNone/>
            </a:pPr>
            <a:r>
              <a:rPr lang="en-US" sz="1600" b="1" dirty="0">
                <a:solidFill>
                  <a:srgbClr val="1B2540"/>
                </a:solidFill>
                <a:latin typeface="Calibri" pitchFamily="34" charset="0"/>
                <a:ea typeface="Calibri" pitchFamily="34" charset="-122"/>
                <a:cs typeface="Calibri" pitchFamily="34" charset="-120"/>
              </a:rPr>
              <a:t>Trực quan</a:t>
            </a:r>
            <a:endParaRPr lang="en-US" sz="1600" dirty="0"/>
          </a:p>
        </p:txBody>
      </p:sp>
      <p:sp>
        <p:nvSpPr>
          <p:cNvPr id="21" name="Text 19"/>
          <p:cNvSpPr txBox="1"/>
          <p:nvPr/>
        </p:nvSpPr>
        <p:spPr>
          <a:xfrm>
            <a:off x="3154680" y="4572000"/>
            <a:ext cx="3886200" cy="731520"/>
          </a:xfrm>
          <a:prstGeom prst="rect">
            <a:avLst/>
          </a:prstGeom>
          <a:noFill/>
          <a:ln/>
        </p:spPr>
        <p:txBody>
          <a:bodyPr wrap="square" lIns="0" tIns="0" rIns="0" bIns="0" rtlCol="0" anchor="ctr"/>
          <a:lstStyle/>
          <a:p>
            <a:pPr indent="0" marL="0">
              <a:buNone/>
            </a:pPr>
            <a:r>
              <a:rPr lang="en-US" sz="1450" dirty="0">
                <a:solidFill>
                  <a:srgbClr val="5B6478"/>
                </a:solidFill>
                <a:latin typeface="Calibri" pitchFamily="34" charset="0"/>
                <a:ea typeface="Calibri" pitchFamily="34" charset="-122"/>
                <a:cs typeface="Calibri" pitchFamily="34" charset="-120"/>
              </a:rPr>
              <a:t>Chỉ có bảng</a:t>
            </a:r>
            <a:endParaRPr lang="en-US" sz="1450" dirty="0"/>
          </a:p>
        </p:txBody>
      </p:sp>
      <p:sp>
        <p:nvSpPr>
          <p:cNvPr id="22" name="Text 20"/>
          <p:cNvSpPr txBox="1"/>
          <p:nvPr/>
        </p:nvSpPr>
        <p:spPr>
          <a:xfrm>
            <a:off x="7543800" y="4572000"/>
            <a:ext cx="3931920" cy="731520"/>
          </a:xfrm>
          <a:prstGeom prst="rect">
            <a:avLst/>
          </a:prstGeom>
          <a:noFill/>
          <a:ln/>
        </p:spPr>
        <p:txBody>
          <a:bodyPr wrap="square" lIns="0" tIns="0" rIns="0" bIns="0" rtlCol="0" anchor="ctr"/>
          <a:lstStyle/>
          <a:p>
            <a:pPr indent="0" marL="0">
              <a:buNone/>
            </a:pPr>
            <a:r>
              <a:rPr lang="en-US" sz="1450" b="1" dirty="0">
                <a:solidFill>
                  <a:srgbClr val="1D2433"/>
                </a:solidFill>
                <a:latin typeface="Calibri" pitchFamily="34" charset="0"/>
                <a:ea typeface="Calibri" pitchFamily="34" charset="-122"/>
                <a:cs typeface="Calibri" pitchFamily="34" charset="-120"/>
              </a:rPr>
              <a:t>Neo4j Browser vẽ đồ thị ngay</a:t>
            </a:r>
            <a:endParaRPr lang="en-US" sz="1450" dirty="0"/>
          </a:p>
        </p:txBody>
      </p:sp>
      <p:sp>
        <p:nvSpPr>
          <p:cNvPr id="23" name="Text 21"/>
          <p:cNvSpPr txBox="1"/>
          <p:nvPr/>
        </p:nvSpPr>
        <p:spPr>
          <a:xfrm>
            <a:off x="548640" y="5394960"/>
            <a:ext cx="2286000" cy="731520"/>
          </a:xfrm>
          <a:prstGeom prst="rect">
            <a:avLst/>
          </a:prstGeom>
          <a:noFill/>
          <a:ln/>
        </p:spPr>
        <p:txBody>
          <a:bodyPr wrap="square" lIns="0" tIns="0" rIns="0" bIns="0" rtlCol="0" anchor="ctr"/>
          <a:lstStyle/>
          <a:p>
            <a:pPr indent="0" marL="0">
              <a:buNone/>
            </a:pPr>
            <a:r>
              <a:rPr lang="en-US" sz="1600" b="1" dirty="0">
                <a:solidFill>
                  <a:srgbClr val="1B2540"/>
                </a:solidFill>
                <a:latin typeface="Calibri" pitchFamily="34" charset="0"/>
                <a:ea typeface="Calibri" pitchFamily="34" charset="-122"/>
                <a:cs typeface="Calibri" pitchFamily="34" charset="-120"/>
              </a:rPr>
              <a:t>Thêm tri thức</a:t>
            </a:r>
            <a:endParaRPr lang="en-US" sz="1600" dirty="0"/>
          </a:p>
        </p:txBody>
      </p:sp>
      <p:sp>
        <p:nvSpPr>
          <p:cNvPr id="24" name="Text 22"/>
          <p:cNvSpPr txBox="1"/>
          <p:nvPr/>
        </p:nvSpPr>
        <p:spPr>
          <a:xfrm>
            <a:off x="3154680" y="5394960"/>
            <a:ext cx="3886200" cy="731520"/>
          </a:xfrm>
          <a:prstGeom prst="rect">
            <a:avLst/>
          </a:prstGeom>
          <a:noFill/>
          <a:ln/>
        </p:spPr>
        <p:txBody>
          <a:bodyPr wrap="square" lIns="0" tIns="0" rIns="0" bIns="0" rtlCol="0" anchor="ctr"/>
          <a:lstStyle/>
          <a:p>
            <a:pPr indent="0" marL="0">
              <a:buNone/>
            </a:pPr>
            <a:r>
              <a:rPr lang="en-US" sz="1450" dirty="0">
                <a:solidFill>
                  <a:srgbClr val="5B6478"/>
                </a:solidFill>
                <a:latin typeface="Calibri" pitchFamily="34" charset="0"/>
                <a:ea typeface="Calibri" pitchFamily="34" charset="-122"/>
                <a:cs typeface="Calibri" pitchFamily="34" charset="-120"/>
              </a:rPr>
              <a:t>Có thể phải sửa lược đồ</a:t>
            </a:r>
            <a:endParaRPr lang="en-US" sz="1450" dirty="0"/>
          </a:p>
        </p:txBody>
      </p:sp>
      <p:sp>
        <p:nvSpPr>
          <p:cNvPr id="25" name="Text 23"/>
          <p:cNvSpPr txBox="1"/>
          <p:nvPr/>
        </p:nvSpPr>
        <p:spPr>
          <a:xfrm>
            <a:off x="7543800" y="5394960"/>
            <a:ext cx="3931920" cy="731520"/>
          </a:xfrm>
          <a:prstGeom prst="rect">
            <a:avLst/>
          </a:prstGeom>
          <a:noFill/>
          <a:ln/>
        </p:spPr>
        <p:txBody>
          <a:bodyPr wrap="square" lIns="0" tIns="0" rIns="0" bIns="0" rtlCol="0" anchor="ctr"/>
          <a:lstStyle/>
          <a:p>
            <a:pPr indent="0" marL="0">
              <a:buNone/>
            </a:pPr>
            <a:r>
              <a:rPr lang="en-US" sz="1450" b="1" dirty="0">
                <a:solidFill>
                  <a:srgbClr val="1D2433"/>
                </a:solidFill>
                <a:latin typeface="Calibri" pitchFamily="34" charset="0"/>
                <a:ea typeface="Calibri" pitchFamily="34" charset="-122"/>
                <a:cs typeface="Calibri" pitchFamily="34" charset="-120"/>
              </a:rPr>
              <a:t>Thêm nút và cạnh, không sửa code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Mô hình dữ liệu đồ thị trong Neo4j</a:t>
            </a:r>
            <a:endParaRPr lang="en-US" sz="3200" dirty="0"/>
          </a:p>
        </p:txBody>
      </p:sp>
      <p:sp>
        <p:nvSpPr>
          <p:cNvPr id="5" name="Text 3"/>
          <p:cNvSpPr txBox="1"/>
          <p:nvPr/>
        </p:nvSpPr>
        <p:spPr>
          <a:xfrm>
            <a:off x="1298448" y="960120"/>
            <a:ext cx="10314432" cy="365760"/>
          </a:xfrm>
          <a:prstGeom prst="rect">
            <a:avLst/>
          </a:prstGeom>
          <a:noFill/>
          <a:ln/>
        </p:spPr>
        <p:txBody>
          <a:bodyPr wrap="square" lIns="0" tIns="0" rIns="0" bIns="0" rtlCol="0" anchor="t"/>
          <a:lstStyle/>
          <a:p>
            <a:pPr indent="0" marL="0">
              <a:buNone/>
            </a:pPr>
            <a:r>
              <a:rPr lang="en-US" sz="1500" dirty="0">
                <a:solidFill>
                  <a:srgbClr val="5B6478"/>
                </a:solidFill>
                <a:latin typeface="Calibri" pitchFamily="34" charset="0"/>
                <a:ea typeface="Calibri" pitchFamily="34" charset="-122"/>
                <a:cs typeface="Calibri" pitchFamily="34" charset="-120"/>
              </a:rPr>
              <a:t>5 nhãn nút, 10 loại quan hệ</a:t>
            </a:r>
            <a:endParaRPr lang="en-US" sz="1500" dirty="0"/>
          </a:p>
        </p:txBody>
      </p:sp>
      <p:sp>
        <p:nvSpPr>
          <p:cNvPr id="6" name="Text 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7" name="Text 5"/>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7</a:t>
            </a:r>
            <a:endParaRPr lang="en-US" sz="1000" dirty="0"/>
          </a:p>
        </p:txBody>
      </p:sp>
      <p:sp>
        <p:nvSpPr>
          <p:cNvPr id="8" name="Shape 6"/>
          <p:cNvSpPr/>
          <p:nvPr/>
        </p:nvSpPr>
        <p:spPr>
          <a:xfrm>
            <a:off x="548640" y="1463040"/>
            <a:ext cx="7498080" cy="4800600"/>
          </a:xfrm>
          <a:prstGeom prst="roundRect">
            <a:avLst>
              <a:gd name="adj" fmla="val 2286"/>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pic>
        <p:nvPicPr>
          <p:cNvPr id="9" name="Image 0" descr="/tmp/claude-0/-home-claude/98539f31-3192-5884-a81c-346bec00204d/scratchpad/ppt/schema.png">    </p:cNvPr>
          <p:cNvPicPr>
            <a:picLocks noChangeAspect="1"/>
          </p:cNvPicPr>
          <p:nvPr/>
        </p:nvPicPr>
        <p:blipFill>
          <a:blip r:embed="rId1"/>
          <a:stretch>
            <a:fillRect/>
          </a:stretch>
        </p:blipFill>
        <p:spPr>
          <a:xfrm>
            <a:off x="685800" y="1691640"/>
            <a:ext cx="7223760" cy="3757744"/>
          </a:xfrm>
          <a:prstGeom prst="rect">
            <a:avLst/>
          </a:prstGeom>
        </p:spPr>
      </p:pic>
      <p:sp>
        <p:nvSpPr>
          <p:cNvPr id="10" name="Shape 7"/>
          <p:cNvSpPr/>
          <p:nvPr/>
        </p:nvSpPr>
        <p:spPr>
          <a:xfrm>
            <a:off x="8366760" y="1463040"/>
            <a:ext cx="1554480" cy="1234440"/>
          </a:xfrm>
          <a:prstGeom prst="roundRect">
            <a:avLst>
              <a:gd name="adj" fmla="val 8889"/>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1" name="Text 8"/>
          <p:cNvSpPr txBox="1"/>
          <p:nvPr/>
        </p:nvSpPr>
        <p:spPr>
          <a:xfrm>
            <a:off x="8366760" y="1572768"/>
            <a:ext cx="1554480" cy="640080"/>
          </a:xfrm>
          <a:prstGeom prst="rect">
            <a:avLst/>
          </a:prstGeom>
          <a:noFill/>
          <a:ln/>
        </p:spPr>
        <p:txBody>
          <a:bodyPr wrap="square" lIns="0" tIns="0" rIns="0" bIns="0" rtlCol="0" anchor="t"/>
          <a:lstStyle/>
          <a:p>
            <a:pPr algn="ctr" indent="0" marL="0">
              <a:buNone/>
            </a:pPr>
            <a:r>
              <a:rPr lang="en-US" sz="3200" b="1" dirty="0">
                <a:solidFill>
                  <a:srgbClr val="2F5BEA"/>
                </a:solidFill>
                <a:latin typeface="Cambria" pitchFamily="34" charset="0"/>
                <a:ea typeface="Cambria" pitchFamily="34" charset="-122"/>
                <a:cs typeface="Cambria" pitchFamily="34" charset="-120"/>
              </a:rPr>
              <a:t>191</a:t>
            </a:r>
            <a:endParaRPr lang="en-US" sz="3200" dirty="0"/>
          </a:p>
        </p:txBody>
      </p:sp>
      <p:sp>
        <p:nvSpPr>
          <p:cNvPr id="12" name="Text 9"/>
          <p:cNvSpPr txBox="1"/>
          <p:nvPr/>
        </p:nvSpPr>
        <p:spPr>
          <a:xfrm>
            <a:off x="8458200" y="2212848"/>
            <a:ext cx="1371600" cy="411480"/>
          </a:xfrm>
          <a:prstGeom prst="rect">
            <a:avLst/>
          </a:prstGeom>
          <a:noFill/>
          <a:ln/>
        </p:spPr>
        <p:txBody>
          <a:bodyPr wrap="square" lIns="0" tIns="0" rIns="0" bIns="0" rtlCol="0" anchor="t"/>
          <a:lstStyle/>
          <a:p>
            <a:pPr algn="ctr" indent="0" marL="0">
              <a:buNone/>
            </a:pPr>
            <a:r>
              <a:rPr lang="en-US" sz="1250" dirty="0">
                <a:solidFill>
                  <a:srgbClr val="5B6478"/>
                </a:solidFill>
                <a:latin typeface="Calibri" pitchFamily="34" charset="0"/>
                <a:ea typeface="Calibri" pitchFamily="34" charset="-122"/>
                <a:cs typeface="Calibri" pitchFamily="34" charset="-120"/>
              </a:rPr>
              <a:t>nút</a:t>
            </a:r>
            <a:endParaRPr lang="en-US" sz="1250" dirty="0"/>
          </a:p>
        </p:txBody>
      </p:sp>
      <p:sp>
        <p:nvSpPr>
          <p:cNvPr id="13" name="Shape 10"/>
          <p:cNvSpPr/>
          <p:nvPr/>
        </p:nvSpPr>
        <p:spPr>
          <a:xfrm>
            <a:off x="10058400" y="1463040"/>
            <a:ext cx="1554480" cy="1234440"/>
          </a:xfrm>
          <a:prstGeom prst="roundRect">
            <a:avLst>
              <a:gd name="adj" fmla="val 8889"/>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4" name="Text 11"/>
          <p:cNvSpPr txBox="1"/>
          <p:nvPr/>
        </p:nvSpPr>
        <p:spPr>
          <a:xfrm>
            <a:off x="10058400" y="1572768"/>
            <a:ext cx="1554480" cy="640080"/>
          </a:xfrm>
          <a:prstGeom prst="rect">
            <a:avLst/>
          </a:prstGeom>
          <a:noFill/>
          <a:ln/>
        </p:spPr>
        <p:txBody>
          <a:bodyPr wrap="square" lIns="0" tIns="0" rIns="0" bIns="0" rtlCol="0" anchor="t"/>
          <a:lstStyle/>
          <a:p>
            <a:pPr algn="ctr" indent="0" marL="0">
              <a:buNone/>
            </a:pPr>
            <a:r>
              <a:rPr lang="en-US" sz="3200" b="1" dirty="0">
                <a:solidFill>
                  <a:srgbClr val="2F5BEA"/>
                </a:solidFill>
                <a:latin typeface="Cambria" pitchFamily="34" charset="0"/>
                <a:ea typeface="Cambria" pitchFamily="34" charset="-122"/>
                <a:cs typeface="Cambria" pitchFamily="34" charset="-120"/>
              </a:rPr>
              <a:t>468</a:t>
            </a:r>
            <a:endParaRPr lang="en-US" sz="3200" dirty="0"/>
          </a:p>
        </p:txBody>
      </p:sp>
      <p:sp>
        <p:nvSpPr>
          <p:cNvPr id="15" name="Text 12"/>
          <p:cNvSpPr txBox="1"/>
          <p:nvPr/>
        </p:nvSpPr>
        <p:spPr>
          <a:xfrm>
            <a:off x="10149840" y="2212848"/>
            <a:ext cx="1371600" cy="411480"/>
          </a:xfrm>
          <a:prstGeom prst="rect">
            <a:avLst/>
          </a:prstGeom>
          <a:noFill/>
          <a:ln/>
        </p:spPr>
        <p:txBody>
          <a:bodyPr wrap="square" lIns="0" tIns="0" rIns="0" bIns="0" rtlCol="0" anchor="t"/>
          <a:lstStyle/>
          <a:p>
            <a:pPr algn="ctr" indent="0" marL="0">
              <a:buNone/>
            </a:pPr>
            <a:r>
              <a:rPr lang="en-US" sz="1250" dirty="0">
                <a:solidFill>
                  <a:srgbClr val="5B6478"/>
                </a:solidFill>
                <a:latin typeface="Calibri" pitchFamily="34" charset="0"/>
                <a:ea typeface="Calibri" pitchFamily="34" charset="-122"/>
                <a:cs typeface="Calibri" pitchFamily="34" charset="-120"/>
              </a:rPr>
              <a:t>quan hệ</a:t>
            </a:r>
            <a:endParaRPr lang="en-US" sz="1250" dirty="0"/>
          </a:p>
        </p:txBody>
      </p:sp>
      <p:sp>
        <p:nvSpPr>
          <p:cNvPr id="16" name="Shape 13"/>
          <p:cNvSpPr/>
          <p:nvPr/>
        </p:nvSpPr>
        <p:spPr>
          <a:xfrm>
            <a:off x="8366760" y="2880360"/>
            <a:ext cx="1554480" cy="1234440"/>
          </a:xfrm>
          <a:prstGeom prst="roundRect">
            <a:avLst>
              <a:gd name="adj" fmla="val 8889"/>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7" name="Text 14"/>
          <p:cNvSpPr txBox="1"/>
          <p:nvPr/>
        </p:nvSpPr>
        <p:spPr>
          <a:xfrm>
            <a:off x="8366760" y="2990088"/>
            <a:ext cx="1554480" cy="640080"/>
          </a:xfrm>
          <a:prstGeom prst="rect">
            <a:avLst/>
          </a:prstGeom>
          <a:noFill/>
          <a:ln/>
        </p:spPr>
        <p:txBody>
          <a:bodyPr wrap="square" lIns="0" tIns="0" rIns="0" bIns="0" rtlCol="0" anchor="t"/>
          <a:lstStyle/>
          <a:p>
            <a:pPr algn="ctr" indent="0" marL="0">
              <a:buNone/>
            </a:pPr>
            <a:r>
              <a:rPr lang="en-US" sz="3200" b="1" dirty="0">
                <a:solidFill>
                  <a:srgbClr val="0F8A5F"/>
                </a:solidFill>
                <a:latin typeface="Cambria" pitchFamily="34" charset="0"/>
                <a:ea typeface="Cambria" pitchFamily="34" charset="-122"/>
                <a:cs typeface="Cambria" pitchFamily="34" charset="-120"/>
              </a:rPr>
              <a:t>26</a:t>
            </a:r>
            <a:endParaRPr lang="en-US" sz="3200" dirty="0"/>
          </a:p>
        </p:txBody>
      </p:sp>
      <p:sp>
        <p:nvSpPr>
          <p:cNvPr id="18" name="Text 15"/>
          <p:cNvSpPr txBox="1"/>
          <p:nvPr/>
        </p:nvSpPr>
        <p:spPr>
          <a:xfrm>
            <a:off x="8458200" y="3630168"/>
            <a:ext cx="1371600" cy="411480"/>
          </a:xfrm>
          <a:prstGeom prst="rect">
            <a:avLst/>
          </a:prstGeom>
          <a:noFill/>
          <a:ln/>
        </p:spPr>
        <p:txBody>
          <a:bodyPr wrap="square" lIns="0" tIns="0" rIns="0" bIns="0" rtlCol="0" anchor="t"/>
          <a:lstStyle/>
          <a:p>
            <a:pPr algn="ctr" indent="0" marL="0">
              <a:buNone/>
            </a:pPr>
            <a:r>
              <a:rPr lang="en-US" sz="1250" dirty="0">
                <a:solidFill>
                  <a:srgbClr val="5B6478"/>
                </a:solidFill>
                <a:latin typeface="Calibri" pitchFamily="34" charset="0"/>
                <a:ea typeface="Calibri" pitchFamily="34" charset="-122"/>
                <a:cs typeface="Calibri" pitchFamily="34" charset="-120"/>
              </a:rPr>
              <a:t>dấu hiệu nhận biết</a:t>
            </a:r>
            <a:endParaRPr lang="en-US" sz="1250" dirty="0"/>
          </a:p>
        </p:txBody>
      </p:sp>
      <p:sp>
        <p:nvSpPr>
          <p:cNvPr id="19" name="Shape 16"/>
          <p:cNvSpPr/>
          <p:nvPr/>
        </p:nvSpPr>
        <p:spPr>
          <a:xfrm>
            <a:off x="10058400" y="2880360"/>
            <a:ext cx="1554480" cy="1234440"/>
          </a:xfrm>
          <a:prstGeom prst="roundRect">
            <a:avLst>
              <a:gd name="adj" fmla="val 8889"/>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20" name="Text 17"/>
          <p:cNvSpPr txBox="1"/>
          <p:nvPr/>
        </p:nvSpPr>
        <p:spPr>
          <a:xfrm>
            <a:off x="10058400" y="2990088"/>
            <a:ext cx="1554480" cy="640080"/>
          </a:xfrm>
          <a:prstGeom prst="rect">
            <a:avLst/>
          </a:prstGeom>
          <a:noFill/>
          <a:ln/>
        </p:spPr>
        <p:txBody>
          <a:bodyPr wrap="square" lIns="0" tIns="0" rIns="0" bIns="0" rtlCol="0" anchor="t"/>
          <a:lstStyle/>
          <a:p>
            <a:pPr algn="ctr" indent="0" marL="0">
              <a:buNone/>
            </a:pPr>
            <a:r>
              <a:rPr lang="en-US" sz="3200" b="1" dirty="0">
                <a:solidFill>
                  <a:srgbClr val="0F8A5F"/>
                </a:solidFill>
                <a:latin typeface="Cambria" pitchFamily="34" charset="0"/>
                <a:ea typeface="Cambria" pitchFamily="34" charset="-122"/>
                <a:cs typeface="Cambria" pitchFamily="34" charset="-120"/>
              </a:rPr>
              <a:t>68</a:t>
            </a:r>
            <a:endParaRPr lang="en-US" sz="3200" dirty="0"/>
          </a:p>
        </p:txBody>
      </p:sp>
      <p:sp>
        <p:nvSpPr>
          <p:cNvPr id="21" name="Text 18"/>
          <p:cNvSpPr txBox="1"/>
          <p:nvPr/>
        </p:nvSpPr>
        <p:spPr>
          <a:xfrm>
            <a:off x="10149840" y="3630168"/>
            <a:ext cx="1371600" cy="411480"/>
          </a:xfrm>
          <a:prstGeom prst="rect">
            <a:avLst/>
          </a:prstGeom>
          <a:noFill/>
          <a:ln/>
        </p:spPr>
        <p:txBody>
          <a:bodyPr wrap="square" lIns="0" tIns="0" rIns="0" bIns="0" rtlCol="0" anchor="t"/>
          <a:lstStyle/>
          <a:p>
            <a:pPr algn="ctr" indent="0" marL="0">
              <a:buNone/>
            </a:pPr>
            <a:r>
              <a:rPr lang="en-US" sz="1250" dirty="0">
                <a:solidFill>
                  <a:srgbClr val="5B6478"/>
                </a:solidFill>
                <a:latin typeface="Calibri" pitchFamily="34" charset="0"/>
                <a:ea typeface="Calibri" pitchFamily="34" charset="-122"/>
                <a:cs typeface="Calibri" pitchFamily="34" charset="-120"/>
              </a:rPr>
              <a:t>công thức tính</a:t>
            </a:r>
            <a:endParaRPr lang="en-US" sz="1250" dirty="0"/>
          </a:p>
        </p:txBody>
      </p:sp>
      <p:sp>
        <p:nvSpPr>
          <p:cNvPr id="22" name="Text 19"/>
          <p:cNvSpPr txBox="1"/>
          <p:nvPr/>
        </p:nvSpPr>
        <p:spPr>
          <a:xfrm>
            <a:off x="8366760" y="4343400"/>
            <a:ext cx="3291840" cy="320040"/>
          </a:xfrm>
          <a:prstGeom prst="rect">
            <a:avLst/>
          </a:prstGeom>
          <a:noFill/>
          <a:ln/>
        </p:spPr>
        <p:txBody>
          <a:bodyPr wrap="square" lIns="0" tIns="0" rIns="0" bIns="0" rtlCol="0" anchor="t"/>
          <a:lstStyle/>
          <a:p>
            <a:pPr indent="0" marL="0">
              <a:buNone/>
            </a:pPr>
            <a:r>
              <a:rPr lang="en-US" sz="1300" b="1" dirty="0">
                <a:solidFill>
                  <a:srgbClr val="1B2540"/>
                </a:solidFill>
                <a:latin typeface="Calibri" pitchFamily="34" charset="0"/>
                <a:ea typeface="Calibri" pitchFamily="34" charset="-122"/>
                <a:cs typeface="Calibri" pitchFamily="34" charset="-120"/>
              </a:rPr>
              <a:t>Ví dụ dấu hiệu DH17:</a:t>
            </a:r>
            <a:endParaRPr lang="en-US" sz="1300" dirty="0"/>
          </a:p>
        </p:txBody>
      </p:sp>
      <p:sp>
        <p:nvSpPr>
          <p:cNvPr id="23" name="Shape 20"/>
          <p:cNvSpPr/>
          <p:nvPr/>
        </p:nvSpPr>
        <p:spPr>
          <a:xfrm>
            <a:off x="8366760" y="4709160"/>
            <a:ext cx="3291840" cy="1554480"/>
          </a:xfrm>
          <a:prstGeom prst="roundRect">
            <a:avLst>
              <a:gd name="adj" fmla="val 5882"/>
            </a:avLst>
          </a:prstGeom>
          <a:solidFill>
            <a:srgbClr val="0F1729"/>
          </a:solidFill>
          <a:ln w="12700">
            <a:solidFill>
              <a:srgbClr val="0F1729"/>
            </a:solidFill>
            <a:prstDash val="solid"/>
          </a:ln>
        </p:spPr>
      </p:sp>
      <p:sp>
        <p:nvSpPr>
          <p:cNvPr id="24" name="Text 21"/>
          <p:cNvSpPr txBox="1"/>
          <p:nvPr/>
        </p:nvSpPr>
        <p:spPr>
          <a:xfrm>
            <a:off x="8595360" y="4873752"/>
            <a:ext cx="2834640" cy="1225296"/>
          </a:xfrm>
          <a:prstGeom prst="rect">
            <a:avLst/>
          </a:prstGeom>
          <a:noFill/>
          <a:ln/>
        </p:spPr>
        <p:txBody>
          <a:bodyPr wrap="square" lIns="0" tIns="0" rIns="0" bIns="0" rtlCol="0" anchor="t"/>
          <a:lstStyle/>
          <a:p>
            <a:pPr indent="0" marL="0">
              <a:buNone/>
            </a:pPr>
            <a:r>
              <a:rPr lang="en-US" sz="1150" dirty="0">
                <a:solidFill>
                  <a:srgbClr val="D6E2FF"/>
                </a:solidFill>
                <a:latin typeface="Consolas" pitchFamily="34" charset="0"/>
                <a:ea typeface="Consolas" pitchFamily="34" charset="-122"/>
                <a:cs typeface="Consolas" pitchFamily="34" charset="-120"/>
              </a:rPr>
              <a:t>(:DauHieu {ma:'DH17'})</a:t>
            </a:r>
            <a:endParaRPr lang="en-US" sz="1150" dirty="0"/>
          </a:p>
          <a:p>
            <a:pPr indent="0" marL="0">
              <a:buNone/>
            </a:pPr>
            <a:r>
              <a:rPr lang="en-US" sz="1150" dirty="0">
                <a:solidFill>
                  <a:srgbClr val="D6E2FF"/>
                </a:solidFill>
                <a:latin typeface="Consolas" pitchFamily="34" charset="0"/>
                <a:ea typeface="Consolas" pitchFamily="34" charset="-122"/>
                <a:cs typeface="Consolas" pitchFamily="34" charset="-120"/>
              </a:rPr>
              <a:t> -[:AP_DUNG_CHO]-&gt;(Bình hành)</a:t>
            </a:r>
            <a:endParaRPr lang="en-US" sz="1150" dirty="0"/>
          </a:p>
          <a:p>
            <a:pPr indent="0" marL="0">
              <a:buNone/>
            </a:pPr>
            <a:r>
              <a:rPr lang="en-US" sz="1150" dirty="0">
                <a:solidFill>
                  <a:srgbClr val="D6E2FF"/>
                </a:solidFill>
                <a:latin typeface="Consolas" pitchFamily="34" charset="0"/>
                <a:ea typeface="Consolas" pitchFamily="34" charset="-122"/>
                <a:cs typeface="Consolas" pitchFamily="34" charset="-120"/>
              </a:rPr>
              <a:t> -[:CAN]-&gt;(Chéo vuông góc)</a:t>
            </a:r>
            <a:endParaRPr lang="en-US" sz="1150" dirty="0"/>
          </a:p>
          <a:p>
            <a:pPr indent="0" marL="0">
              <a:buNone/>
            </a:pPr>
            <a:r>
              <a:rPr lang="en-US" sz="1150" dirty="0">
                <a:solidFill>
                  <a:srgbClr val="D6E2FF"/>
                </a:solidFill>
                <a:latin typeface="Consolas" pitchFamily="34" charset="0"/>
                <a:ea typeface="Consolas" pitchFamily="34" charset="-122"/>
                <a:cs typeface="Consolas" pitchFamily="34" charset="-120"/>
              </a:rPr>
              <a:t> -[:KET_LUAN]-&gt;(Hình thoi)</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Thuật toán suy luận tiến (forward chaining)</a:t>
            </a:r>
            <a:endParaRPr lang="en-US" sz="3200" dirty="0"/>
          </a:p>
        </p:txBody>
      </p:sp>
      <p:sp>
        <p:nvSpPr>
          <p:cNvPr id="5" name="Text 3"/>
          <p:cNvSpPr txBox="1"/>
          <p:nvPr/>
        </p:nvSpPr>
        <p:spPr>
          <a:xfrm>
            <a:off x="1298448" y="960120"/>
            <a:ext cx="10314432" cy="365760"/>
          </a:xfrm>
          <a:prstGeom prst="rect">
            <a:avLst/>
          </a:prstGeom>
          <a:noFill/>
          <a:ln/>
        </p:spPr>
        <p:txBody>
          <a:bodyPr wrap="square" lIns="0" tIns="0" rIns="0" bIns="0" rtlCol="0" anchor="t"/>
          <a:lstStyle/>
          <a:p>
            <a:pPr indent="0" marL="0">
              <a:buNone/>
            </a:pPr>
            <a:r>
              <a:rPr lang="en-US" sz="1500" dirty="0">
                <a:solidFill>
                  <a:srgbClr val="5B6478"/>
                </a:solidFill>
                <a:latin typeface="Calibri" pitchFamily="34" charset="0"/>
                <a:ea typeface="Calibri" pitchFamily="34" charset="-122"/>
                <a:cs typeface="Calibri" pitchFamily="34" charset="-120"/>
              </a:rPr>
              <a:t>Lặp cho đến khi không suy ra thêm được gì — điểm bất động</a:t>
            </a:r>
            <a:endParaRPr lang="en-US" sz="1500" dirty="0"/>
          </a:p>
        </p:txBody>
      </p:sp>
      <p:sp>
        <p:nvSpPr>
          <p:cNvPr id="6" name="Text 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7" name="Text 5"/>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8</a:t>
            </a:r>
            <a:endParaRPr lang="en-US" sz="1000" dirty="0"/>
          </a:p>
        </p:txBody>
      </p:sp>
      <p:sp>
        <p:nvSpPr>
          <p:cNvPr id="8" name="Shape 6"/>
          <p:cNvSpPr/>
          <p:nvPr/>
        </p:nvSpPr>
        <p:spPr>
          <a:xfrm>
            <a:off x="548640" y="1508760"/>
            <a:ext cx="2606040" cy="2103120"/>
          </a:xfrm>
          <a:prstGeom prst="roundRect">
            <a:avLst>
              <a:gd name="adj" fmla="val 5217"/>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9" name="Shape 7"/>
          <p:cNvSpPr/>
          <p:nvPr/>
        </p:nvSpPr>
        <p:spPr>
          <a:xfrm>
            <a:off x="777240" y="1691640"/>
            <a:ext cx="502920" cy="502920"/>
          </a:xfrm>
          <a:prstGeom prst="ellipse">
            <a:avLst/>
          </a:prstGeom>
          <a:solidFill>
            <a:srgbClr val="2F5BEA"/>
          </a:solidFill>
          <a:ln w="12700">
            <a:solidFill>
              <a:srgbClr val="2F5BEA"/>
            </a:solidFill>
            <a:prstDash val="solid"/>
          </a:ln>
        </p:spPr>
      </p:sp>
      <p:sp>
        <p:nvSpPr>
          <p:cNvPr id="10" name="Text 8"/>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txBox="1"/>
          <p:nvPr/>
        </p:nvSpPr>
        <p:spPr>
          <a:xfrm>
            <a:off x="1417320" y="1737360"/>
            <a:ext cx="1645920" cy="411480"/>
          </a:xfrm>
          <a:prstGeom prst="rect">
            <a:avLst/>
          </a:prstGeom>
          <a:noFill/>
          <a:ln/>
        </p:spPr>
        <p:txBody>
          <a:bodyPr wrap="square" lIns="0" tIns="0" rIns="0" bIns="0" rtlCol="0" anchor="t"/>
          <a:lstStyle/>
          <a:p>
            <a:pPr indent="0" marL="0">
              <a:buNone/>
            </a:pPr>
            <a:r>
              <a:rPr lang="en-US" sz="1800" b="1" dirty="0">
                <a:solidFill>
                  <a:srgbClr val="1B2540"/>
                </a:solidFill>
                <a:latin typeface="Calibri" pitchFamily="34" charset="0"/>
                <a:ea typeface="Calibri" pitchFamily="34" charset="-122"/>
                <a:cs typeface="Calibri" pitchFamily="34" charset="-120"/>
              </a:rPr>
              <a:t>Khởi tạo</a:t>
            </a:r>
            <a:endParaRPr lang="en-US" sz="1800" dirty="0"/>
          </a:p>
        </p:txBody>
      </p:sp>
      <p:sp>
        <p:nvSpPr>
          <p:cNvPr id="12" name="Text 10"/>
          <p:cNvSpPr txBox="1"/>
          <p:nvPr/>
        </p:nvSpPr>
        <p:spPr>
          <a:xfrm>
            <a:off x="777240" y="2331720"/>
            <a:ext cx="2194560" cy="1188720"/>
          </a:xfrm>
          <a:prstGeom prst="rect">
            <a:avLst/>
          </a:prstGeom>
          <a:noFill/>
          <a:ln/>
        </p:spPr>
        <p:txBody>
          <a:bodyPr wrap="square" lIns="0" tIns="0" rIns="0" bIns="0" rtlCol="0" anchor="t"/>
          <a:lstStyle/>
          <a:p>
            <a:pPr indent="0" marL="0">
              <a:buNone/>
            </a:pPr>
            <a:r>
              <a:rPr lang="en-US" sz="1350" dirty="0">
                <a:solidFill>
                  <a:srgbClr val="1D2433"/>
                </a:solidFill>
                <a:latin typeface="Calibri" pitchFamily="34" charset="0"/>
                <a:ea typeface="Calibri" pitchFamily="34" charset="-122"/>
                <a:cs typeface="Calibri" pitchFamily="34" charset="-120"/>
              </a:rPr>
              <a:t>H = {hình ban đầu}</a:t>
            </a:r>
            <a:endParaRPr lang="en-US" sz="1350" dirty="0"/>
          </a:p>
          <a:p>
            <a:pPr indent="0" marL="0">
              <a:buNone/>
            </a:pPr>
            <a:r>
              <a:rPr lang="en-US" sz="1350" dirty="0">
                <a:solidFill>
                  <a:srgbClr val="1D2433"/>
                </a:solidFill>
                <a:latin typeface="Calibri" pitchFamily="34" charset="0"/>
                <a:ea typeface="Calibri" pitchFamily="34" charset="-122"/>
                <a:cs typeface="Calibri" pitchFamily="34" charset="-120"/>
              </a:rPr>
              <a:t>T = giả thiết đã chọn</a:t>
            </a:r>
            <a:endParaRPr lang="en-US" sz="1350" dirty="0"/>
          </a:p>
        </p:txBody>
      </p:sp>
      <p:sp>
        <p:nvSpPr>
          <p:cNvPr id="13" name="Text 11"/>
          <p:cNvSpPr txBox="1"/>
          <p:nvPr/>
        </p:nvSpPr>
        <p:spPr>
          <a:xfrm>
            <a:off x="3136392" y="2286000"/>
            <a:ext cx="320040" cy="457200"/>
          </a:xfrm>
          <a:prstGeom prst="rect">
            <a:avLst/>
          </a:prstGeom>
          <a:noFill/>
          <a:ln/>
        </p:spPr>
        <p:txBody>
          <a:bodyPr wrap="square" lIns="0" tIns="0" rIns="0" bIns="0" rtlCol="0" anchor="t"/>
          <a:lstStyle/>
          <a:p>
            <a:pPr algn="ctr" indent="0" marL="0">
              <a:buNone/>
            </a:pPr>
            <a:r>
              <a:rPr lang="en-US" sz="2000" dirty="0">
                <a:solidFill>
                  <a:srgbClr val="2F5BEA"/>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3429000" y="1508760"/>
            <a:ext cx="2606040" cy="2103120"/>
          </a:xfrm>
          <a:prstGeom prst="roundRect">
            <a:avLst>
              <a:gd name="adj" fmla="val 5217"/>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5" name="Shape 13"/>
          <p:cNvSpPr/>
          <p:nvPr/>
        </p:nvSpPr>
        <p:spPr>
          <a:xfrm>
            <a:off x="3657600" y="1691640"/>
            <a:ext cx="502920" cy="502920"/>
          </a:xfrm>
          <a:prstGeom prst="ellipse">
            <a:avLst/>
          </a:prstGeom>
          <a:solidFill>
            <a:srgbClr val="2F5BEA"/>
          </a:solidFill>
          <a:ln w="12700">
            <a:solidFill>
              <a:srgbClr val="2F5BEA"/>
            </a:solidFill>
            <a:prstDash val="solid"/>
          </a:ln>
        </p:spPr>
      </p:sp>
      <p:sp>
        <p:nvSpPr>
          <p:cNvPr id="16" name="Text 14"/>
          <p:cNvSpPr txBox="1"/>
          <p:nvPr/>
        </p:nvSpPr>
        <p:spPr>
          <a:xfrm>
            <a:off x="3657600" y="16916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5"/>
          <p:cNvSpPr txBox="1"/>
          <p:nvPr/>
        </p:nvSpPr>
        <p:spPr>
          <a:xfrm>
            <a:off x="4297680" y="1737360"/>
            <a:ext cx="1645920" cy="411480"/>
          </a:xfrm>
          <a:prstGeom prst="rect">
            <a:avLst/>
          </a:prstGeom>
          <a:noFill/>
          <a:ln/>
        </p:spPr>
        <p:txBody>
          <a:bodyPr wrap="square" lIns="0" tIns="0" rIns="0" bIns="0" rtlCol="0" anchor="t"/>
          <a:lstStyle/>
          <a:p>
            <a:pPr indent="0" marL="0">
              <a:buNone/>
            </a:pPr>
            <a:r>
              <a:rPr lang="en-US" sz="1800" b="1" dirty="0">
                <a:solidFill>
                  <a:srgbClr val="1B2540"/>
                </a:solidFill>
                <a:latin typeface="Calibri" pitchFamily="34" charset="0"/>
                <a:ea typeface="Calibri" pitchFamily="34" charset="-122"/>
                <a:cs typeface="Calibri" pitchFamily="34" charset="-120"/>
              </a:rPr>
              <a:t>Mở rộng</a:t>
            </a:r>
            <a:endParaRPr lang="en-US" sz="1800" dirty="0"/>
          </a:p>
        </p:txBody>
      </p:sp>
      <p:sp>
        <p:nvSpPr>
          <p:cNvPr id="18" name="Text 16"/>
          <p:cNvSpPr txBox="1"/>
          <p:nvPr/>
        </p:nvSpPr>
        <p:spPr>
          <a:xfrm>
            <a:off x="3657600" y="2331720"/>
            <a:ext cx="2194560" cy="1188720"/>
          </a:xfrm>
          <a:prstGeom prst="rect">
            <a:avLst/>
          </a:prstGeom>
          <a:noFill/>
          <a:ln/>
        </p:spPr>
        <p:txBody>
          <a:bodyPr wrap="square" lIns="0" tIns="0" rIns="0" bIns="0" rtlCol="0" anchor="t"/>
          <a:lstStyle/>
          <a:p>
            <a:pPr indent="0" marL="0">
              <a:buNone/>
            </a:pPr>
            <a:r>
              <a:rPr lang="en-US" sz="1350" dirty="0">
                <a:solidFill>
                  <a:srgbClr val="1D2433"/>
                </a:solidFill>
                <a:latin typeface="Calibri" pitchFamily="34" charset="0"/>
                <a:ea typeface="Calibri" pitchFamily="34" charset="-122"/>
                <a:cs typeface="Calibri" pitchFamily="34" charset="-120"/>
              </a:rPr>
              <a:t>Thêm mọi hình cha (LA_MOT*) và tính chất kế thừa vào H, T</a:t>
            </a:r>
            <a:endParaRPr lang="en-US" sz="1350" dirty="0"/>
          </a:p>
        </p:txBody>
      </p:sp>
      <p:sp>
        <p:nvSpPr>
          <p:cNvPr id="19" name="Text 17"/>
          <p:cNvSpPr txBox="1"/>
          <p:nvPr/>
        </p:nvSpPr>
        <p:spPr>
          <a:xfrm>
            <a:off x="6016752" y="2286000"/>
            <a:ext cx="320040" cy="457200"/>
          </a:xfrm>
          <a:prstGeom prst="rect">
            <a:avLst/>
          </a:prstGeom>
          <a:noFill/>
          <a:ln/>
        </p:spPr>
        <p:txBody>
          <a:bodyPr wrap="square" lIns="0" tIns="0" rIns="0" bIns="0" rtlCol="0" anchor="t"/>
          <a:lstStyle/>
          <a:p>
            <a:pPr algn="ctr" indent="0" marL="0">
              <a:buNone/>
            </a:pPr>
            <a:r>
              <a:rPr lang="en-US" sz="2000" dirty="0">
                <a:solidFill>
                  <a:srgbClr val="2F5BEA"/>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309360" y="1508760"/>
            <a:ext cx="2606040" cy="2103120"/>
          </a:xfrm>
          <a:prstGeom prst="roundRect">
            <a:avLst>
              <a:gd name="adj" fmla="val 5217"/>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21" name="Shape 19"/>
          <p:cNvSpPr/>
          <p:nvPr/>
        </p:nvSpPr>
        <p:spPr>
          <a:xfrm>
            <a:off x="6537960" y="1691640"/>
            <a:ext cx="502920" cy="502920"/>
          </a:xfrm>
          <a:prstGeom prst="ellipse">
            <a:avLst/>
          </a:prstGeom>
          <a:solidFill>
            <a:srgbClr val="2F5BEA"/>
          </a:solidFill>
          <a:ln w="12700">
            <a:solidFill>
              <a:srgbClr val="2F5BEA"/>
            </a:solidFill>
            <a:prstDash val="solid"/>
          </a:ln>
        </p:spPr>
      </p:sp>
      <p:sp>
        <p:nvSpPr>
          <p:cNvPr id="22" name="Text 20"/>
          <p:cNvSpPr txBox="1"/>
          <p:nvPr/>
        </p:nvSpPr>
        <p:spPr>
          <a:xfrm>
            <a:off x="6537960" y="16916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21"/>
          <p:cNvSpPr txBox="1"/>
          <p:nvPr/>
        </p:nvSpPr>
        <p:spPr>
          <a:xfrm>
            <a:off x="7178040" y="1737360"/>
            <a:ext cx="1645920" cy="411480"/>
          </a:xfrm>
          <a:prstGeom prst="rect">
            <a:avLst/>
          </a:prstGeom>
          <a:noFill/>
          <a:ln/>
        </p:spPr>
        <p:txBody>
          <a:bodyPr wrap="square" lIns="0" tIns="0" rIns="0" bIns="0" rtlCol="0" anchor="t"/>
          <a:lstStyle/>
          <a:p>
            <a:pPr indent="0" marL="0">
              <a:buNone/>
            </a:pPr>
            <a:r>
              <a:rPr lang="en-US" sz="1800" b="1" dirty="0">
                <a:solidFill>
                  <a:srgbClr val="1B2540"/>
                </a:solidFill>
                <a:latin typeface="Calibri" pitchFamily="34" charset="0"/>
                <a:ea typeface="Calibri" pitchFamily="34" charset="-122"/>
                <a:cs typeface="Calibri" pitchFamily="34" charset="-120"/>
              </a:rPr>
              <a:t>Áp dụng luật</a:t>
            </a:r>
            <a:endParaRPr lang="en-US" sz="1800" dirty="0"/>
          </a:p>
        </p:txBody>
      </p:sp>
      <p:sp>
        <p:nvSpPr>
          <p:cNvPr id="24" name="Text 22"/>
          <p:cNvSpPr txBox="1"/>
          <p:nvPr/>
        </p:nvSpPr>
        <p:spPr>
          <a:xfrm>
            <a:off x="6537960" y="2331720"/>
            <a:ext cx="2194560" cy="1188720"/>
          </a:xfrm>
          <a:prstGeom prst="rect">
            <a:avLst/>
          </a:prstGeom>
          <a:noFill/>
          <a:ln/>
        </p:spPr>
        <p:txBody>
          <a:bodyPr wrap="square" lIns="0" tIns="0" rIns="0" bIns="0" rtlCol="0" anchor="t"/>
          <a:lstStyle/>
          <a:p>
            <a:pPr indent="0" marL="0">
              <a:buNone/>
            </a:pPr>
            <a:r>
              <a:rPr lang="en-US" sz="1350" dirty="0">
                <a:solidFill>
                  <a:srgbClr val="1D2433"/>
                </a:solidFill>
                <a:latin typeface="Calibri" pitchFamily="34" charset="0"/>
                <a:ea typeface="Calibri" pitchFamily="34" charset="-122"/>
                <a:cs typeface="Calibri" pitchFamily="34" charset="-120"/>
              </a:rPr>
              <a:t>Tìm dấu hiệu có hình ∈ H và mọi tính chất CAN ⊆ T ⟹ thêm hình KET_LUAN</a:t>
            </a:r>
            <a:endParaRPr lang="en-US" sz="1350" dirty="0"/>
          </a:p>
        </p:txBody>
      </p:sp>
      <p:sp>
        <p:nvSpPr>
          <p:cNvPr id="25" name="Text 23"/>
          <p:cNvSpPr txBox="1"/>
          <p:nvPr/>
        </p:nvSpPr>
        <p:spPr>
          <a:xfrm>
            <a:off x="8897112" y="2286000"/>
            <a:ext cx="320040" cy="457200"/>
          </a:xfrm>
          <a:prstGeom prst="rect">
            <a:avLst/>
          </a:prstGeom>
          <a:noFill/>
          <a:ln/>
        </p:spPr>
        <p:txBody>
          <a:bodyPr wrap="square" lIns="0" tIns="0" rIns="0" bIns="0" rtlCol="0" anchor="t"/>
          <a:lstStyle/>
          <a:p>
            <a:pPr algn="ctr" indent="0" marL="0">
              <a:buNone/>
            </a:pPr>
            <a:r>
              <a:rPr lang="en-US" sz="2000" dirty="0">
                <a:solidFill>
                  <a:srgbClr val="2F5BEA"/>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9189720" y="1508760"/>
            <a:ext cx="2606040" cy="2103120"/>
          </a:xfrm>
          <a:prstGeom prst="roundRect">
            <a:avLst>
              <a:gd name="adj" fmla="val 5217"/>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27" name="Shape 25"/>
          <p:cNvSpPr/>
          <p:nvPr/>
        </p:nvSpPr>
        <p:spPr>
          <a:xfrm>
            <a:off x="9418320" y="1691640"/>
            <a:ext cx="502920" cy="502920"/>
          </a:xfrm>
          <a:prstGeom prst="ellipse">
            <a:avLst/>
          </a:prstGeom>
          <a:solidFill>
            <a:srgbClr val="0F8A5F"/>
          </a:solidFill>
          <a:ln w="12700">
            <a:solidFill>
              <a:srgbClr val="0F8A5F"/>
            </a:solidFill>
            <a:prstDash val="solid"/>
          </a:ln>
        </p:spPr>
      </p:sp>
      <p:sp>
        <p:nvSpPr>
          <p:cNvPr id="28" name="Text 26"/>
          <p:cNvSpPr txBox="1"/>
          <p:nvPr/>
        </p:nvSpPr>
        <p:spPr>
          <a:xfrm>
            <a:off x="9418320" y="16916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9" name="Text 27"/>
          <p:cNvSpPr txBox="1"/>
          <p:nvPr/>
        </p:nvSpPr>
        <p:spPr>
          <a:xfrm>
            <a:off x="10058400" y="1737360"/>
            <a:ext cx="1645920" cy="411480"/>
          </a:xfrm>
          <a:prstGeom prst="rect">
            <a:avLst/>
          </a:prstGeom>
          <a:noFill/>
          <a:ln/>
        </p:spPr>
        <p:txBody>
          <a:bodyPr wrap="square" lIns="0" tIns="0" rIns="0" bIns="0" rtlCol="0" anchor="t"/>
          <a:lstStyle/>
          <a:p>
            <a:pPr indent="0" marL="0">
              <a:buNone/>
            </a:pPr>
            <a:r>
              <a:rPr lang="en-US" sz="1800" b="1" dirty="0">
                <a:solidFill>
                  <a:srgbClr val="1B2540"/>
                </a:solidFill>
                <a:latin typeface="Calibri" pitchFamily="34" charset="0"/>
                <a:ea typeface="Calibri" pitchFamily="34" charset="-122"/>
                <a:cs typeface="Calibri" pitchFamily="34" charset="-120"/>
              </a:rPr>
              <a:t>Kết luận</a:t>
            </a:r>
            <a:endParaRPr lang="en-US" sz="1800" dirty="0"/>
          </a:p>
        </p:txBody>
      </p:sp>
      <p:sp>
        <p:nvSpPr>
          <p:cNvPr id="30" name="Text 28"/>
          <p:cNvSpPr txBox="1"/>
          <p:nvPr/>
        </p:nvSpPr>
        <p:spPr>
          <a:xfrm>
            <a:off x="9418320" y="2331720"/>
            <a:ext cx="2194560" cy="1188720"/>
          </a:xfrm>
          <a:prstGeom prst="rect">
            <a:avLst/>
          </a:prstGeom>
          <a:noFill/>
          <a:ln/>
        </p:spPr>
        <p:txBody>
          <a:bodyPr wrap="square" lIns="0" tIns="0" rIns="0" bIns="0" rtlCol="0" anchor="t"/>
          <a:lstStyle/>
          <a:p>
            <a:pPr indent="0" marL="0">
              <a:buNone/>
            </a:pPr>
            <a:r>
              <a:rPr lang="en-US" sz="1350" dirty="0">
                <a:solidFill>
                  <a:srgbClr val="1D2433"/>
                </a:solidFill>
                <a:latin typeface="Calibri" pitchFamily="34" charset="0"/>
                <a:ea typeface="Calibri" pitchFamily="34" charset="-122"/>
                <a:cs typeface="Calibri" pitchFamily="34" charset="-120"/>
              </a:rPr>
              <a:t>Lặp đến khi hết luật mới; chọn hình cụ thể nhất, kiểm tra mâu thuẫn</a:t>
            </a:r>
            <a:endParaRPr lang="en-US" sz="1350" dirty="0"/>
          </a:p>
        </p:txBody>
      </p:sp>
      <p:sp>
        <p:nvSpPr>
          <p:cNvPr id="31" name="Text 29"/>
          <p:cNvSpPr txBox="1"/>
          <p:nvPr/>
        </p:nvSpPr>
        <p:spPr>
          <a:xfrm>
            <a:off x="548640" y="3840480"/>
            <a:ext cx="10972800" cy="365760"/>
          </a:xfrm>
          <a:prstGeom prst="rect">
            <a:avLst/>
          </a:prstGeom>
          <a:noFill/>
          <a:ln/>
        </p:spPr>
        <p:txBody>
          <a:bodyPr wrap="square" lIns="0" tIns="0" rIns="0" bIns="0" rtlCol="0" anchor="t"/>
          <a:lstStyle/>
          <a:p>
            <a:pPr indent="0" marL="0">
              <a:buNone/>
            </a:pPr>
            <a:r>
              <a:rPr lang="en-US" sz="1500" b="1" dirty="0">
                <a:solidFill>
                  <a:srgbClr val="1B2540"/>
                </a:solidFill>
                <a:latin typeface="Calibri" pitchFamily="34" charset="0"/>
                <a:ea typeface="Calibri" pitchFamily="34" charset="-122"/>
                <a:cs typeface="Calibri" pitchFamily="34" charset="-120"/>
              </a:rPr>
              <a:t>Câu Cypher cốt lõi — tìm các dấu hiệu thoả mãn trong mỗi vòng:</a:t>
            </a:r>
            <a:endParaRPr lang="en-US" sz="1500" dirty="0"/>
          </a:p>
        </p:txBody>
      </p:sp>
      <p:sp>
        <p:nvSpPr>
          <p:cNvPr id="32" name="Shape 30"/>
          <p:cNvSpPr/>
          <p:nvPr/>
        </p:nvSpPr>
        <p:spPr>
          <a:xfrm>
            <a:off x="548640" y="4251960"/>
            <a:ext cx="11109960" cy="2011680"/>
          </a:xfrm>
          <a:prstGeom prst="roundRect">
            <a:avLst>
              <a:gd name="adj" fmla="val 4545"/>
            </a:avLst>
          </a:prstGeom>
          <a:solidFill>
            <a:srgbClr val="0F1729"/>
          </a:solidFill>
          <a:ln w="12700">
            <a:solidFill>
              <a:srgbClr val="0F1729"/>
            </a:solidFill>
            <a:prstDash val="solid"/>
          </a:ln>
        </p:spPr>
      </p:sp>
      <p:sp>
        <p:nvSpPr>
          <p:cNvPr id="33" name="Text 31"/>
          <p:cNvSpPr txBox="1"/>
          <p:nvPr/>
        </p:nvSpPr>
        <p:spPr>
          <a:xfrm>
            <a:off x="777240" y="4416552"/>
            <a:ext cx="10652760" cy="1682496"/>
          </a:xfrm>
          <a:prstGeom prst="rect">
            <a:avLst/>
          </a:prstGeom>
          <a:noFill/>
          <a:ln/>
        </p:spPr>
        <p:txBody>
          <a:bodyPr wrap="square" lIns="0" tIns="0" rIns="0" bIns="0" rtlCol="0" anchor="t"/>
          <a:lstStyle/>
          <a:p>
            <a:pPr indent="0" marL="0">
              <a:buNone/>
            </a:pPr>
            <a:r>
              <a:rPr lang="en-US" sz="1300" dirty="0">
                <a:solidFill>
                  <a:srgbClr val="D6E2FF"/>
                </a:solidFill>
                <a:latin typeface="Consolas" pitchFamily="34" charset="0"/>
                <a:ea typeface="Consolas" pitchFamily="34" charset="-122"/>
                <a:cs typeface="Consolas" pitchFamily="34" charset="-120"/>
              </a:rPr>
              <a:t>MATCH (d:DauHieu)-[:AP_DUNG_CHO]-&gt;(h:Hinh)</a:t>
            </a:r>
            <a:endParaRPr lang="en-US" sz="1300" dirty="0"/>
          </a:p>
          <a:p>
            <a:pPr indent="0" marL="0">
              <a:buNone/>
            </a:pPr>
            <a:r>
              <a:rPr lang="en-US" sz="1300" dirty="0">
                <a:solidFill>
                  <a:srgbClr val="D6E2FF"/>
                </a:solidFill>
                <a:latin typeface="Consolas" pitchFamily="34" charset="0"/>
                <a:ea typeface="Consolas" pitchFamily="34" charset="-122"/>
                <a:cs typeface="Consolas" pitchFamily="34" charset="-120"/>
              </a:rPr>
              <a:t>WHERE h.ma IN $hinh AND NOT d.ma IN $da_dung</a:t>
            </a:r>
            <a:endParaRPr lang="en-US" sz="1300" dirty="0"/>
          </a:p>
          <a:p>
            <a:pPr indent="0" marL="0">
              <a:buNone/>
            </a:pPr>
            <a:r>
              <a:rPr lang="en-US" sz="1300" dirty="0">
                <a:solidFill>
                  <a:srgbClr val="D6E2FF"/>
                </a:solidFill>
                <a:latin typeface="Consolas" pitchFamily="34" charset="0"/>
                <a:ea typeface="Consolas" pitchFamily="34" charset="-122"/>
                <a:cs typeface="Consolas" pitchFamily="34" charset="-120"/>
              </a:rPr>
              <a:t>WITH d, h, [(d)-[:CAN]-&gt;(t:TinhChat) | t.ma] AS can</a:t>
            </a:r>
            <a:endParaRPr lang="en-US" sz="1300" dirty="0"/>
          </a:p>
          <a:p>
            <a:pPr indent="0" marL="0">
              <a:buNone/>
            </a:pPr>
            <a:r>
              <a:rPr lang="en-US" sz="1300" dirty="0">
                <a:solidFill>
                  <a:srgbClr val="D6E2FF"/>
                </a:solidFill>
                <a:latin typeface="Consolas" pitchFamily="34" charset="0"/>
                <a:ea typeface="Consolas" pitchFamily="34" charset="-122"/>
                <a:cs typeface="Consolas" pitchFamily="34" charset="-120"/>
              </a:rPr>
              <a:t>WHERE all(x IN can WHERE x IN $tinh_chat)</a:t>
            </a:r>
            <a:endParaRPr lang="en-US" sz="1300" dirty="0"/>
          </a:p>
          <a:p>
            <a:pPr indent="0" marL="0">
              <a:buNone/>
            </a:pPr>
            <a:r>
              <a:rPr lang="en-US" sz="1300" dirty="0">
                <a:solidFill>
                  <a:srgbClr val="D6E2FF"/>
                </a:solidFill>
                <a:latin typeface="Consolas" pitchFamily="34" charset="0"/>
                <a:ea typeface="Consolas" pitchFamily="34" charset="-122"/>
                <a:cs typeface="Consolas" pitchFamily="34" charset="-120"/>
              </a:rPr>
              <a:t>OPTIONAL MATCH (d)-[:KET_LUAN]-&gt;(k:Hinh)</a:t>
            </a:r>
            <a:endParaRPr lang="en-US" sz="1300" dirty="0"/>
          </a:p>
          <a:p>
            <a:pPr indent="0" marL="0">
              <a:buNone/>
            </a:pPr>
            <a:r>
              <a:rPr lang="en-US" sz="1300" dirty="0">
                <a:solidFill>
                  <a:srgbClr val="D6E2FF"/>
                </a:solidFill>
                <a:latin typeface="Consolas" pitchFamily="34" charset="0"/>
                <a:ea typeface="Consolas" pitchFamily="34" charset="-122"/>
                <a:cs typeface="Consolas" pitchFamily="34" charset="-120"/>
              </a:rPr>
              <a:t>RETURN d.ma, h.ma AS ap_dung, can, k.ma AS ket_luan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Ví dụ suy luận</a:t>
            </a:r>
            <a:endParaRPr lang="en-US" sz="3200" dirty="0"/>
          </a:p>
        </p:txBody>
      </p:sp>
      <p:sp>
        <p:nvSpPr>
          <p:cNvPr id="5" name="Text 3"/>
          <p:cNvSpPr txBox="1"/>
          <p:nvPr/>
        </p:nvSpPr>
        <p:spPr>
          <a:xfrm>
            <a:off x="1298448" y="960120"/>
            <a:ext cx="10314432" cy="365760"/>
          </a:xfrm>
          <a:prstGeom prst="rect">
            <a:avLst/>
          </a:prstGeom>
          <a:noFill/>
          <a:ln/>
        </p:spPr>
        <p:txBody>
          <a:bodyPr wrap="square" lIns="0" tIns="0" rIns="0" bIns="0" rtlCol="0" anchor="t"/>
          <a:lstStyle/>
          <a:p>
            <a:pPr indent="0" marL="0">
              <a:buNone/>
            </a:pPr>
            <a:r>
              <a:rPr lang="en-US" sz="1500" dirty="0">
                <a:solidFill>
                  <a:srgbClr val="5B6478"/>
                </a:solidFill>
                <a:latin typeface="Calibri" pitchFamily="34" charset="0"/>
                <a:ea typeface="Calibri" pitchFamily="34" charset="-122"/>
                <a:cs typeface="Calibri" pitchFamily="34" charset="-120"/>
              </a:rPr>
              <a:t>Hình bình hành ABCD có hai đường chéo vuông góc và bằng nhau. ABCD là hình gì?</a:t>
            </a:r>
            <a:endParaRPr lang="en-US" sz="1500" dirty="0"/>
          </a:p>
        </p:txBody>
      </p:sp>
      <p:sp>
        <p:nvSpPr>
          <p:cNvPr id="6" name="Text 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7" name="Text 5"/>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9</a:t>
            </a:r>
            <a:endParaRPr lang="en-US" sz="1000" dirty="0"/>
          </a:p>
        </p:txBody>
      </p:sp>
      <p:sp>
        <p:nvSpPr>
          <p:cNvPr id="8" name="Shape 6"/>
          <p:cNvSpPr/>
          <p:nvPr/>
        </p:nvSpPr>
        <p:spPr>
          <a:xfrm>
            <a:off x="548640" y="1371600"/>
            <a:ext cx="4206240" cy="4892040"/>
          </a:xfrm>
          <a:prstGeom prst="roundRect">
            <a:avLst>
              <a:gd name="adj" fmla="val 2609"/>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9" name="Text 7"/>
          <p:cNvSpPr txBox="1"/>
          <p:nvPr/>
        </p:nvSpPr>
        <p:spPr>
          <a:xfrm>
            <a:off x="822960" y="1600200"/>
            <a:ext cx="3657600" cy="365760"/>
          </a:xfrm>
          <a:prstGeom prst="rect">
            <a:avLst/>
          </a:prstGeom>
          <a:noFill/>
          <a:ln/>
        </p:spPr>
        <p:txBody>
          <a:bodyPr wrap="square" lIns="0" tIns="0" rIns="0" bIns="0" rtlCol="0" anchor="t"/>
          <a:lstStyle/>
          <a:p>
            <a:pPr indent="0" marL="0">
              <a:buNone/>
            </a:pPr>
            <a:r>
              <a:rPr lang="en-US" sz="1400" b="1" dirty="0">
                <a:solidFill>
                  <a:srgbClr val="5B6478"/>
                </a:solidFill>
                <a:latin typeface="Calibri" pitchFamily="34" charset="0"/>
                <a:ea typeface="Calibri" pitchFamily="34" charset="-122"/>
                <a:cs typeface="Calibri" pitchFamily="34" charset="-120"/>
              </a:rPr>
              <a:t>Giả thiết</a:t>
            </a:r>
            <a:endParaRPr lang="en-US" sz="1400" dirty="0"/>
          </a:p>
        </p:txBody>
      </p:sp>
      <p:sp>
        <p:nvSpPr>
          <p:cNvPr id="10" name="Text 8"/>
          <p:cNvSpPr txBox="1"/>
          <p:nvPr/>
        </p:nvSpPr>
        <p:spPr>
          <a:xfrm>
            <a:off x="822960" y="1965960"/>
            <a:ext cx="3749040" cy="1280160"/>
          </a:xfrm>
          <a:prstGeom prst="rect">
            <a:avLst/>
          </a:prstGeom>
          <a:noFill/>
          <a:ln/>
        </p:spPr>
        <p:txBody>
          <a:bodyPr wrap="square" lIns="0" tIns="0" rIns="0" bIns="0" rtlCol="0" anchor="t"/>
          <a:lstStyle/>
          <a:p>
            <a:pPr indent="0" marL="0">
              <a:spcAft>
                <a:spcPts val="400"/>
              </a:spcAft>
              <a:buNone/>
            </a:pPr>
            <a:r>
              <a:rPr lang="en-US" sz="1700" b="1" dirty="0">
                <a:solidFill>
                  <a:srgbClr val="1D2433"/>
                </a:solidFill>
                <a:latin typeface="Calibri" pitchFamily="34" charset="0"/>
                <a:ea typeface="Calibri" pitchFamily="34" charset="-122"/>
                <a:cs typeface="Calibri" pitchFamily="34" charset="-120"/>
              </a:rPr>
              <a:t>Hình bình hành ABCD</a:t>
            </a:r>
            <a:endParaRPr lang="en-US" sz="1700" dirty="0"/>
          </a:p>
          <a:p>
            <a:pPr marL="342900" indent="-342900">
              <a:spcAft>
                <a:spcPts val="400"/>
              </a:spcAft>
              <a:buSzPct val="100000"/>
              <a:buChar char="•"/>
            </a:pPr>
            <a:r>
              <a:rPr lang="en-US" sz="1700" dirty="0">
                <a:solidFill>
                  <a:srgbClr val="1D2433"/>
                </a:solidFill>
                <a:latin typeface="Calibri" pitchFamily="34" charset="0"/>
                <a:ea typeface="Calibri" pitchFamily="34" charset="-122"/>
                <a:cs typeface="Calibri" pitchFamily="34" charset="-120"/>
              </a:rPr>
              <a:t>Hai đường chéo vuông góc</a:t>
            </a:r>
            <a:endParaRPr lang="en-US" sz="1700" dirty="0"/>
          </a:p>
          <a:p>
            <a:pPr marL="342900" indent="-342900">
              <a:spcAft>
                <a:spcPts val="400"/>
              </a:spcAft>
              <a:buSzPct val="100000"/>
              <a:buChar char="•"/>
            </a:pPr>
            <a:r>
              <a:rPr lang="en-US" sz="1700" dirty="0">
                <a:solidFill>
                  <a:srgbClr val="1D2433"/>
                </a:solidFill>
                <a:latin typeface="Calibri" pitchFamily="34" charset="0"/>
                <a:ea typeface="Calibri" pitchFamily="34" charset="-122"/>
                <a:cs typeface="Calibri" pitchFamily="34" charset="-120"/>
              </a:rPr>
              <a:t>Hai đường chéo bằng nhau</a:t>
            </a:r>
            <a:endParaRPr lang="en-US" sz="1700" dirty="0"/>
          </a:p>
        </p:txBody>
      </p:sp>
      <p:pic>
        <p:nvPicPr>
          <p:cNvPr id="11" name="Image 0" descr="/tmp/claude-0/-home-claude/98539f31-3192-5884-a81c-346bec00204d/scratchpad/ppt/f_hbh.png">    </p:cNvPr>
          <p:cNvPicPr>
            <a:picLocks noChangeAspect="1"/>
          </p:cNvPicPr>
          <p:nvPr/>
        </p:nvPicPr>
        <p:blipFill>
          <a:blip r:embed="rId1"/>
          <a:stretch>
            <a:fillRect/>
          </a:stretch>
        </p:blipFill>
        <p:spPr>
          <a:xfrm>
            <a:off x="1005840" y="3246120"/>
            <a:ext cx="3291840" cy="2188105"/>
          </a:xfrm>
          <a:prstGeom prst="rect">
            <a:avLst/>
          </a:prstGeom>
        </p:spPr>
      </p:pic>
      <p:sp>
        <p:nvSpPr>
          <p:cNvPr id="12" name="Text 9"/>
          <p:cNvSpPr txBox="1"/>
          <p:nvPr/>
        </p:nvSpPr>
        <p:spPr>
          <a:xfrm>
            <a:off x="822960" y="5486400"/>
            <a:ext cx="3749040" cy="594360"/>
          </a:xfrm>
          <a:prstGeom prst="rect">
            <a:avLst/>
          </a:prstGeom>
          <a:noFill/>
          <a:ln/>
        </p:spPr>
        <p:txBody>
          <a:bodyPr wrap="square" lIns="0" tIns="0" rIns="0" bIns="0" rtlCol="0" anchor="t"/>
          <a:lstStyle/>
          <a:p>
            <a:pPr indent="0" marL="0">
              <a:buNone/>
            </a:pPr>
            <a:r>
              <a:rPr lang="en-US" sz="3000" b="1" dirty="0">
                <a:solidFill>
                  <a:srgbClr val="0F8A5F"/>
                </a:solidFill>
                <a:latin typeface="Cambria" pitchFamily="34" charset="0"/>
                <a:ea typeface="Cambria" pitchFamily="34" charset="-122"/>
                <a:cs typeface="Cambria" pitchFamily="34" charset="-120"/>
              </a:rPr>
              <a:t>⟹ Hình vuông</a:t>
            </a:r>
            <a:endParaRPr lang="en-US" sz="3000" dirty="0"/>
          </a:p>
        </p:txBody>
      </p:sp>
      <p:sp>
        <p:nvSpPr>
          <p:cNvPr id="13" name="Shape 10"/>
          <p:cNvSpPr/>
          <p:nvPr/>
        </p:nvSpPr>
        <p:spPr>
          <a:xfrm>
            <a:off x="5029200" y="1371600"/>
            <a:ext cx="6629400" cy="4892040"/>
          </a:xfrm>
          <a:prstGeom prst="roundRect">
            <a:avLst>
              <a:gd name="adj" fmla="val 2243"/>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4" name="Text 11"/>
          <p:cNvSpPr txBox="1"/>
          <p:nvPr/>
        </p:nvSpPr>
        <p:spPr>
          <a:xfrm>
            <a:off x="5303520" y="1600200"/>
            <a:ext cx="6126480" cy="365760"/>
          </a:xfrm>
          <a:prstGeom prst="rect">
            <a:avLst/>
          </a:prstGeom>
          <a:noFill/>
          <a:ln/>
        </p:spPr>
        <p:txBody>
          <a:bodyPr wrap="square" lIns="0" tIns="0" rIns="0" bIns="0" rtlCol="0" anchor="t"/>
          <a:lstStyle/>
          <a:p>
            <a:pPr indent="0" marL="0">
              <a:buNone/>
            </a:pPr>
            <a:r>
              <a:rPr lang="en-US" sz="1400" b="1" dirty="0">
                <a:solidFill>
                  <a:srgbClr val="5B6478"/>
                </a:solidFill>
                <a:latin typeface="Calibri" pitchFamily="34" charset="0"/>
                <a:ea typeface="Calibri" pitchFamily="34" charset="-122"/>
                <a:cs typeface="Calibri" pitchFamily="34" charset="-120"/>
              </a:rPr>
              <a:t>Lời giải hệ thống đưa ra (2 vòng)</a:t>
            </a:r>
            <a:endParaRPr lang="en-US" sz="1400" dirty="0"/>
          </a:p>
        </p:txBody>
      </p:sp>
      <p:pic>
        <p:nvPicPr>
          <p:cNvPr id="15" name="Image 1" descr="/tmp/claude-0/-home-claude/98539f31-3192-5884-a81c-346bec00204d/scratchpad/ppt/c_steps.png">    </p:cNvPr>
          <p:cNvPicPr>
            <a:picLocks noChangeAspect="1"/>
          </p:cNvPicPr>
          <p:nvPr/>
        </p:nvPicPr>
        <p:blipFill>
          <a:blip r:embed="rId2"/>
          <a:stretch>
            <a:fillRect/>
          </a:stretch>
        </p:blipFill>
        <p:spPr>
          <a:xfrm>
            <a:off x="5257800" y="2011680"/>
            <a:ext cx="6217920" cy="1898712"/>
          </a:xfrm>
          <a:prstGeom prst="rect">
            <a:avLst/>
          </a:prstGeom>
        </p:spPr>
      </p:pic>
      <p:pic>
        <p:nvPicPr>
          <p:cNvPr id="16" name="Image 2" descr="/tmp/claude-0/-home-claude/98539f31-3192-5884-a81c-346bec00204d/scratchpad/ppt/hier_kq.png">    </p:cNvPr>
          <p:cNvPicPr>
            <a:picLocks noChangeAspect="1"/>
          </p:cNvPicPr>
          <p:nvPr/>
        </p:nvPicPr>
        <p:blipFill>
          <a:blip r:embed="rId3"/>
          <a:stretch>
            <a:fillRect/>
          </a:stretch>
        </p:blipFill>
        <p:spPr>
          <a:xfrm>
            <a:off x="6492240" y="4023360"/>
            <a:ext cx="3657600" cy="20981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Kiến trúc hệ thống</a:t>
            </a:r>
            <a:endParaRPr lang="en-US" sz="3200" dirty="0"/>
          </a:p>
        </p:txBody>
      </p:sp>
      <p:sp>
        <p:nvSpPr>
          <p:cNvPr id="5" name="Text 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6" name="Text 4"/>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10</a:t>
            </a:r>
            <a:endParaRPr lang="en-US" sz="1000" dirty="0"/>
          </a:p>
        </p:txBody>
      </p:sp>
      <p:sp>
        <p:nvSpPr>
          <p:cNvPr id="7" name="Shape 5"/>
          <p:cNvSpPr/>
          <p:nvPr/>
        </p:nvSpPr>
        <p:spPr>
          <a:xfrm>
            <a:off x="548640" y="1554480"/>
            <a:ext cx="2606040" cy="1737360"/>
          </a:xfrm>
          <a:prstGeom prst="roundRect">
            <a:avLst>
              <a:gd name="adj" fmla="val 6316"/>
            </a:avLst>
          </a:prstGeom>
          <a:solidFill>
            <a:srgbClr val="F1F3F7"/>
          </a:solidFill>
          <a:ln w="9525">
            <a:solidFill>
              <a:srgbClr val="F1F3F7"/>
            </a:solidFill>
            <a:prstDash val="solid"/>
          </a:ln>
          <a:effectLst>
            <a:outerShdw sx="100000" sy="100000" kx="0" ky="0" algn="bl" rotWithShape="0" blurRad="101600" dist="25400" dir="5400000">
              <a:srgbClr val="1B2540">
                <a:alpha val="12000"/>
              </a:srgbClr>
            </a:outerShdw>
          </a:effectLst>
        </p:spPr>
      </p:sp>
      <p:sp>
        <p:nvSpPr>
          <p:cNvPr id="8" name="Text 6"/>
          <p:cNvSpPr txBox="1"/>
          <p:nvPr/>
        </p:nvSpPr>
        <p:spPr>
          <a:xfrm>
            <a:off x="731520" y="1737360"/>
            <a:ext cx="2240280" cy="685800"/>
          </a:xfrm>
          <a:prstGeom prst="rect">
            <a:avLst/>
          </a:prstGeom>
          <a:noFill/>
          <a:ln/>
        </p:spPr>
        <p:txBody>
          <a:bodyPr wrap="square" lIns="0" tIns="0" rIns="0" bIns="0" rtlCol="0" anchor="ctr"/>
          <a:lstStyle/>
          <a:p>
            <a:pPr algn="ctr" indent="0" marL="0">
              <a:buNone/>
            </a:pPr>
            <a:r>
              <a:rPr lang="en-US" sz="1800" b="1" dirty="0">
                <a:solidFill>
                  <a:srgbClr val="1B2540"/>
                </a:solidFill>
                <a:latin typeface="Cambria" pitchFamily="34" charset="0"/>
                <a:ea typeface="Cambria" pitchFamily="34" charset="-122"/>
                <a:cs typeface="Cambria" pitchFamily="34" charset="-120"/>
              </a:rPr>
              <a:t>Trình duyệt</a:t>
            </a:r>
            <a:endParaRPr lang="en-US" sz="1800" dirty="0"/>
          </a:p>
        </p:txBody>
      </p:sp>
      <p:sp>
        <p:nvSpPr>
          <p:cNvPr id="9" name="Text 7"/>
          <p:cNvSpPr txBox="1"/>
          <p:nvPr/>
        </p:nvSpPr>
        <p:spPr>
          <a:xfrm>
            <a:off x="731520" y="2468880"/>
            <a:ext cx="2240280" cy="685800"/>
          </a:xfrm>
          <a:prstGeom prst="rect">
            <a:avLst/>
          </a:prstGeom>
          <a:noFill/>
          <a:ln/>
        </p:spPr>
        <p:txBody>
          <a:bodyPr wrap="square" lIns="0" tIns="0" rIns="0" bIns="0" rtlCol="0" anchor="t"/>
          <a:lstStyle/>
          <a:p>
            <a:pPr algn="ctr" indent="0" marL="0">
              <a:buNone/>
            </a:pPr>
            <a:r>
              <a:rPr lang="en-US" sz="1300" dirty="0">
                <a:solidFill>
                  <a:srgbClr val="1D2433"/>
                </a:solidFill>
                <a:latin typeface="Calibri" pitchFamily="34" charset="0"/>
                <a:ea typeface="Calibri" pitchFamily="34" charset="-122"/>
                <a:cs typeface="Calibri" pitchFamily="34" charset="-120"/>
              </a:rPr>
              <a:t>Người dùng chọn giả thiết, nhập số liệu</a:t>
            </a:r>
            <a:endParaRPr lang="en-US" sz="1300" dirty="0"/>
          </a:p>
        </p:txBody>
      </p:sp>
      <p:sp>
        <p:nvSpPr>
          <p:cNvPr id="10" name="Text 8"/>
          <p:cNvSpPr txBox="1"/>
          <p:nvPr/>
        </p:nvSpPr>
        <p:spPr>
          <a:xfrm>
            <a:off x="3136392" y="2057400"/>
            <a:ext cx="338328" cy="731520"/>
          </a:xfrm>
          <a:prstGeom prst="rect">
            <a:avLst/>
          </a:prstGeom>
          <a:noFill/>
          <a:ln/>
        </p:spPr>
        <p:txBody>
          <a:bodyPr wrap="square" lIns="0" tIns="0" rIns="0" bIns="0" rtlCol="0" anchor="ctr"/>
          <a:lstStyle/>
          <a:p>
            <a:pPr algn="ctr" indent="0" marL="0">
              <a:buNone/>
            </a:pPr>
            <a:r>
              <a:rPr lang="en-US" sz="2000" dirty="0">
                <a:solidFill>
                  <a:srgbClr val="5B6478"/>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3456432" y="1554480"/>
            <a:ext cx="2606040" cy="1737360"/>
          </a:xfrm>
          <a:prstGeom prst="roundRect">
            <a:avLst>
              <a:gd name="adj" fmla="val 6316"/>
            </a:avLst>
          </a:prstGeom>
          <a:solidFill>
            <a:srgbClr val="E8EEFF"/>
          </a:solidFill>
          <a:ln w="9525">
            <a:solidFill>
              <a:srgbClr val="E8EEFF"/>
            </a:solidFill>
            <a:prstDash val="solid"/>
          </a:ln>
          <a:effectLst>
            <a:outerShdw sx="100000" sy="100000" kx="0" ky="0" algn="bl" rotWithShape="0" blurRad="101600" dist="25400" dir="5400000">
              <a:srgbClr val="1B2540">
                <a:alpha val="12000"/>
              </a:srgbClr>
            </a:outerShdw>
          </a:effectLst>
        </p:spPr>
      </p:sp>
      <p:sp>
        <p:nvSpPr>
          <p:cNvPr id="12" name="Text 10"/>
          <p:cNvSpPr txBox="1"/>
          <p:nvPr/>
        </p:nvSpPr>
        <p:spPr>
          <a:xfrm>
            <a:off x="3639312" y="1737360"/>
            <a:ext cx="2240280" cy="685800"/>
          </a:xfrm>
          <a:prstGeom prst="rect">
            <a:avLst/>
          </a:prstGeom>
          <a:noFill/>
          <a:ln/>
        </p:spPr>
        <p:txBody>
          <a:bodyPr wrap="square" lIns="0" tIns="0" rIns="0" bIns="0" rtlCol="0" anchor="ctr"/>
          <a:lstStyle/>
          <a:p>
            <a:pPr algn="ctr" indent="0" marL="0">
              <a:buNone/>
            </a:pPr>
            <a:r>
              <a:rPr lang="en-US" sz="1800" b="1" dirty="0">
                <a:solidFill>
                  <a:srgbClr val="2F5BEA"/>
                </a:solidFill>
                <a:latin typeface="Cambria" pitchFamily="34" charset="0"/>
                <a:ea typeface="Cambria" pitchFamily="34" charset="-122"/>
                <a:cs typeface="Cambria" pitchFamily="34" charset="-120"/>
              </a:rPr>
              <a:t>Flask (app.py)</a:t>
            </a:r>
            <a:endParaRPr lang="en-US" sz="1800" dirty="0"/>
          </a:p>
        </p:txBody>
      </p:sp>
      <p:sp>
        <p:nvSpPr>
          <p:cNvPr id="13" name="Text 11"/>
          <p:cNvSpPr txBox="1"/>
          <p:nvPr/>
        </p:nvSpPr>
        <p:spPr>
          <a:xfrm>
            <a:off x="3639312" y="2468880"/>
            <a:ext cx="2240280" cy="685800"/>
          </a:xfrm>
          <a:prstGeom prst="rect">
            <a:avLst/>
          </a:prstGeom>
          <a:noFill/>
          <a:ln/>
        </p:spPr>
        <p:txBody>
          <a:bodyPr wrap="square" lIns="0" tIns="0" rIns="0" bIns="0" rtlCol="0" anchor="t"/>
          <a:lstStyle/>
          <a:p>
            <a:pPr algn="ctr" indent="0" marL="0">
              <a:buNone/>
            </a:pPr>
            <a:r>
              <a:rPr lang="en-US" sz="1300" dirty="0">
                <a:solidFill>
                  <a:srgbClr val="1D2433"/>
                </a:solidFill>
                <a:latin typeface="Calibri" pitchFamily="34" charset="0"/>
                <a:ea typeface="Calibri" pitchFamily="34" charset="-122"/>
                <a:cs typeface="Calibri" pitchFamily="34" charset="-120"/>
              </a:rPr>
              <a:t>Nhận yêu cầu, hiển thị kết quả, sơ đồ SVG</a:t>
            </a:r>
            <a:endParaRPr lang="en-US" sz="1300" dirty="0"/>
          </a:p>
        </p:txBody>
      </p:sp>
      <p:sp>
        <p:nvSpPr>
          <p:cNvPr id="14" name="Text 12"/>
          <p:cNvSpPr txBox="1"/>
          <p:nvPr/>
        </p:nvSpPr>
        <p:spPr>
          <a:xfrm>
            <a:off x="6044184" y="2057400"/>
            <a:ext cx="338328" cy="731520"/>
          </a:xfrm>
          <a:prstGeom prst="rect">
            <a:avLst/>
          </a:prstGeom>
          <a:noFill/>
          <a:ln/>
        </p:spPr>
        <p:txBody>
          <a:bodyPr wrap="square" lIns="0" tIns="0" rIns="0" bIns="0" rtlCol="0" anchor="ctr"/>
          <a:lstStyle/>
          <a:p>
            <a:pPr algn="ctr" indent="0" marL="0">
              <a:buNone/>
            </a:pPr>
            <a:r>
              <a:rPr lang="en-US" sz="2000" dirty="0">
                <a:solidFill>
                  <a:srgbClr val="5B6478"/>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6364224" y="1554480"/>
            <a:ext cx="2606040" cy="1737360"/>
          </a:xfrm>
          <a:prstGeom prst="roundRect">
            <a:avLst>
              <a:gd name="adj" fmla="val 6316"/>
            </a:avLst>
          </a:prstGeom>
          <a:solidFill>
            <a:srgbClr val="E8EEFF"/>
          </a:solidFill>
          <a:ln w="9525">
            <a:solidFill>
              <a:srgbClr val="E8EEFF"/>
            </a:solidFill>
            <a:prstDash val="solid"/>
          </a:ln>
          <a:effectLst>
            <a:outerShdw sx="100000" sy="100000" kx="0" ky="0" algn="bl" rotWithShape="0" blurRad="101600" dist="25400" dir="5400000">
              <a:srgbClr val="1B2540">
                <a:alpha val="12000"/>
              </a:srgbClr>
            </a:outerShdw>
          </a:effectLst>
        </p:spPr>
      </p:sp>
      <p:sp>
        <p:nvSpPr>
          <p:cNvPr id="16" name="Text 14"/>
          <p:cNvSpPr txBox="1"/>
          <p:nvPr/>
        </p:nvSpPr>
        <p:spPr>
          <a:xfrm>
            <a:off x="6547104" y="1737360"/>
            <a:ext cx="2240280" cy="685800"/>
          </a:xfrm>
          <a:prstGeom prst="rect">
            <a:avLst/>
          </a:prstGeom>
          <a:noFill/>
          <a:ln/>
        </p:spPr>
        <p:txBody>
          <a:bodyPr wrap="square" lIns="0" tIns="0" rIns="0" bIns="0" rtlCol="0" anchor="ctr"/>
          <a:lstStyle/>
          <a:p>
            <a:pPr algn="ctr" indent="0" marL="0">
              <a:buNone/>
            </a:pPr>
            <a:r>
              <a:rPr lang="en-US" sz="1800" b="1" dirty="0">
                <a:solidFill>
                  <a:srgbClr val="2F5BEA"/>
                </a:solidFill>
                <a:latin typeface="Cambria" pitchFamily="34" charset="0"/>
                <a:ea typeface="Cambria" pitchFamily="34" charset="-122"/>
                <a:cs typeface="Cambria" pitchFamily="34" charset="-120"/>
              </a:rPr>
              <a:t>Bộ suy luận &amp; bộ tính toán</a:t>
            </a:r>
            <a:endParaRPr lang="en-US" sz="1800" dirty="0"/>
          </a:p>
        </p:txBody>
      </p:sp>
      <p:sp>
        <p:nvSpPr>
          <p:cNvPr id="17" name="Text 15"/>
          <p:cNvSpPr txBox="1"/>
          <p:nvPr/>
        </p:nvSpPr>
        <p:spPr>
          <a:xfrm>
            <a:off x="6547104" y="2468880"/>
            <a:ext cx="2240280" cy="685800"/>
          </a:xfrm>
          <a:prstGeom prst="rect">
            <a:avLst/>
          </a:prstGeom>
          <a:noFill/>
          <a:ln/>
        </p:spPr>
        <p:txBody>
          <a:bodyPr wrap="square" lIns="0" tIns="0" rIns="0" bIns="0" rtlCol="0" anchor="t"/>
          <a:lstStyle/>
          <a:p>
            <a:pPr algn="ctr" indent="0" marL="0">
              <a:buNone/>
            </a:pPr>
            <a:r>
              <a:rPr lang="en-US" sz="1300" dirty="0">
                <a:solidFill>
                  <a:srgbClr val="1D2433"/>
                </a:solidFill>
                <a:latin typeface="Calibri" pitchFamily="34" charset="0"/>
                <a:ea typeface="Calibri" pitchFamily="34" charset="-122"/>
                <a:cs typeface="Calibri" pitchFamily="34" charset="-120"/>
              </a:rPr>
              <a:t>engine.py · tinh_toan.py (Python)</a:t>
            </a:r>
            <a:endParaRPr lang="en-US" sz="1300" dirty="0"/>
          </a:p>
        </p:txBody>
      </p:sp>
      <p:sp>
        <p:nvSpPr>
          <p:cNvPr id="18" name="Text 16"/>
          <p:cNvSpPr txBox="1"/>
          <p:nvPr/>
        </p:nvSpPr>
        <p:spPr>
          <a:xfrm>
            <a:off x="8951976" y="2057400"/>
            <a:ext cx="338328" cy="731520"/>
          </a:xfrm>
          <a:prstGeom prst="rect">
            <a:avLst/>
          </a:prstGeom>
          <a:noFill/>
          <a:ln/>
        </p:spPr>
        <p:txBody>
          <a:bodyPr wrap="square" lIns="0" tIns="0" rIns="0" bIns="0" rtlCol="0" anchor="ctr"/>
          <a:lstStyle/>
          <a:p>
            <a:pPr algn="ctr" indent="0" marL="0">
              <a:buNone/>
            </a:pPr>
            <a:r>
              <a:rPr lang="en-US" sz="1100" dirty="0">
                <a:solidFill>
                  <a:srgbClr val="5B6478"/>
                </a:solidFill>
                <a:latin typeface="Calibri" pitchFamily="34" charset="0"/>
                <a:ea typeface="Calibri" pitchFamily="34" charset="-122"/>
                <a:cs typeface="Calibri" pitchFamily="34" charset="-120"/>
              </a:rPr>
              <a:t>Bolt</a:t>
            </a:r>
            <a:endParaRPr lang="en-US" sz="1100" dirty="0"/>
          </a:p>
          <a:p>
            <a:pPr algn="ctr" indent="0" marL="0">
              <a:buNone/>
            </a:pPr>
            <a:r>
              <a:rPr lang="en-US" sz="1100" dirty="0">
                <a:solidFill>
                  <a:srgbClr val="5B6478"/>
                </a:solidFill>
                <a:latin typeface="Calibri" pitchFamily="34" charset="0"/>
                <a:ea typeface="Calibri" pitchFamily="34" charset="-122"/>
                <a:cs typeface="Calibri" pitchFamily="34" charset="-120"/>
              </a:rPr>
              <a:t>⇄</a:t>
            </a:r>
            <a:endParaRPr lang="en-US" sz="1100" dirty="0"/>
          </a:p>
        </p:txBody>
      </p:sp>
      <p:sp>
        <p:nvSpPr>
          <p:cNvPr id="19" name="Shape 17"/>
          <p:cNvSpPr/>
          <p:nvPr/>
        </p:nvSpPr>
        <p:spPr>
          <a:xfrm>
            <a:off x="9272016" y="1554480"/>
            <a:ext cx="2606040" cy="1737360"/>
          </a:xfrm>
          <a:prstGeom prst="roundRect">
            <a:avLst>
              <a:gd name="adj" fmla="val 6316"/>
            </a:avLst>
          </a:prstGeom>
          <a:solidFill>
            <a:srgbClr val="E3F6EE"/>
          </a:solidFill>
          <a:ln w="9525">
            <a:solidFill>
              <a:srgbClr val="E3F6EE"/>
            </a:solidFill>
            <a:prstDash val="solid"/>
          </a:ln>
          <a:effectLst>
            <a:outerShdw sx="100000" sy="100000" kx="0" ky="0" algn="bl" rotWithShape="0" blurRad="101600" dist="25400" dir="5400000">
              <a:srgbClr val="1B2540">
                <a:alpha val="12000"/>
              </a:srgbClr>
            </a:outerShdw>
          </a:effectLst>
        </p:spPr>
      </p:sp>
      <p:sp>
        <p:nvSpPr>
          <p:cNvPr id="20" name="Text 18"/>
          <p:cNvSpPr txBox="1"/>
          <p:nvPr/>
        </p:nvSpPr>
        <p:spPr>
          <a:xfrm>
            <a:off x="9454896" y="1737360"/>
            <a:ext cx="2240280" cy="685800"/>
          </a:xfrm>
          <a:prstGeom prst="rect">
            <a:avLst/>
          </a:prstGeom>
          <a:noFill/>
          <a:ln/>
        </p:spPr>
        <p:txBody>
          <a:bodyPr wrap="square" lIns="0" tIns="0" rIns="0" bIns="0" rtlCol="0" anchor="ctr"/>
          <a:lstStyle/>
          <a:p>
            <a:pPr algn="ctr" indent="0" marL="0">
              <a:buNone/>
            </a:pPr>
            <a:r>
              <a:rPr lang="en-US" sz="1800" b="1" dirty="0">
                <a:solidFill>
                  <a:srgbClr val="0F8A5F"/>
                </a:solidFill>
                <a:latin typeface="Cambria" pitchFamily="34" charset="0"/>
                <a:ea typeface="Cambria" pitchFamily="34" charset="-122"/>
                <a:cs typeface="Cambria" pitchFamily="34" charset="-120"/>
              </a:rPr>
              <a:t>Neo4j</a:t>
            </a:r>
            <a:endParaRPr lang="en-US" sz="1800" dirty="0"/>
          </a:p>
        </p:txBody>
      </p:sp>
      <p:sp>
        <p:nvSpPr>
          <p:cNvPr id="21" name="Text 19"/>
          <p:cNvSpPr txBox="1"/>
          <p:nvPr/>
        </p:nvSpPr>
        <p:spPr>
          <a:xfrm>
            <a:off x="9454896" y="2468880"/>
            <a:ext cx="2240280" cy="685800"/>
          </a:xfrm>
          <a:prstGeom prst="rect">
            <a:avLst/>
          </a:prstGeom>
          <a:noFill/>
          <a:ln/>
        </p:spPr>
        <p:txBody>
          <a:bodyPr wrap="square" lIns="0" tIns="0" rIns="0" bIns="0" rtlCol="0" anchor="t"/>
          <a:lstStyle/>
          <a:p>
            <a:pPr algn="ctr" indent="0" marL="0">
              <a:buNone/>
            </a:pPr>
            <a:r>
              <a:rPr lang="en-US" sz="1300" dirty="0">
                <a:solidFill>
                  <a:srgbClr val="1D2433"/>
                </a:solidFill>
                <a:latin typeface="Calibri" pitchFamily="34" charset="0"/>
                <a:ea typeface="Calibri" pitchFamily="34" charset="-122"/>
                <a:cs typeface="Calibri" pitchFamily="34" charset="-120"/>
              </a:rPr>
              <a:t>Lưu tri thức, chạy truy vấn Cypher</a:t>
            </a:r>
            <a:endParaRPr lang="en-US" sz="1300" dirty="0"/>
          </a:p>
        </p:txBody>
      </p:sp>
      <p:sp>
        <p:nvSpPr>
          <p:cNvPr id="22" name="Text 20"/>
          <p:cNvSpPr txBox="1"/>
          <p:nvPr/>
        </p:nvSpPr>
        <p:spPr>
          <a:xfrm>
            <a:off x="548640" y="3611880"/>
            <a:ext cx="4572000" cy="365760"/>
          </a:xfrm>
          <a:prstGeom prst="rect">
            <a:avLst/>
          </a:prstGeom>
          <a:noFill/>
          <a:ln/>
        </p:spPr>
        <p:txBody>
          <a:bodyPr wrap="square" lIns="0" tIns="0" rIns="0" bIns="0" rtlCol="0" anchor="t"/>
          <a:lstStyle/>
          <a:p>
            <a:pPr indent="0" marL="0">
              <a:buNone/>
            </a:pPr>
            <a:r>
              <a:rPr lang="en-US" sz="1600" b="1" dirty="0">
                <a:solidFill>
                  <a:srgbClr val="1B2540"/>
                </a:solidFill>
                <a:latin typeface="Calibri" pitchFamily="34" charset="0"/>
                <a:ea typeface="Calibri" pitchFamily="34" charset="-122"/>
                <a:cs typeface="Calibri" pitchFamily="34" charset="-120"/>
              </a:rPr>
              <a:t>Công nghệ</a:t>
            </a:r>
            <a:endParaRPr lang="en-US" sz="1600" dirty="0"/>
          </a:p>
        </p:txBody>
      </p:sp>
      <p:sp>
        <p:nvSpPr>
          <p:cNvPr id="23" name="Shape 21"/>
          <p:cNvSpPr/>
          <p:nvPr/>
        </p:nvSpPr>
        <p:spPr>
          <a:xfrm>
            <a:off x="548640" y="4023360"/>
            <a:ext cx="2103120" cy="914400"/>
          </a:xfrm>
          <a:prstGeom prst="roundRect">
            <a:avLst>
              <a:gd name="adj" fmla="val 12000"/>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24" name="Text 22"/>
          <p:cNvSpPr txBox="1"/>
          <p:nvPr/>
        </p:nvSpPr>
        <p:spPr>
          <a:xfrm>
            <a:off x="731520" y="4114800"/>
            <a:ext cx="1737360" cy="365760"/>
          </a:xfrm>
          <a:prstGeom prst="rect">
            <a:avLst/>
          </a:prstGeom>
          <a:noFill/>
          <a:ln/>
        </p:spPr>
        <p:txBody>
          <a:bodyPr wrap="square" lIns="0" tIns="0" rIns="0" bIns="0" rtlCol="0" anchor="t"/>
          <a:lstStyle/>
          <a:p>
            <a:pPr indent="0" marL="0">
              <a:buNone/>
            </a:pPr>
            <a:r>
              <a:rPr lang="en-US" sz="1600" b="1" dirty="0">
                <a:solidFill>
                  <a:srgbClr val="2F5BEA"/>
                </a:solidFill>
                <a:latin typeface="Calibri" pitchFamily="34" charset="0"/>
                <a:ea typeface="Calibri" pitchFamily="34" charset="-122"/>
                <a:cs typeface="Calibri" pitchFamily="34" charset="-120"/>
              </a:rPr>
              <a:t>Neo4j</a:t>
            </a:r>
            <a:endParaRPr lang="en-US" sz="1600" dirty="0"/>
          </a:p>
        </p:txBody>
      </p:sp>
      <p:sp>
        <p:nvSpPr>
          <p:cNvPr id="25" name="Text 23"/>
          <p:cNvSpPr txBox="1"/>
          <p:nvPr/>
        </p:nvSpPr>
        <p:spPr>
          <a:xfrm>
            <a:off x="731520" y="4480560"/>
            <a:ext cx="1737360" cy="36576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CSDL đồ thị (Docker)</a:t>
            </a:r>
            <a:endParaRPr lang="en-US" sz="1200" dirty="0"/>
          </a:p>
        </p:txBody>
      </p:sp>
      <p:sp>
        <p:nvSpPr>
          <p:cNvPr id="26" name="Shape 24"/>
          <p:cNvSpPr/>
          <p:nvPr/>
        </p:nvSpPr>
        <p:spPr>
          <a:xfrm>
            <a:off x="2834640" y="4023360"/>
            <a:ext cx="2103120" cy="914400"/>
          </a:xfrm>
          <a:prstGeom prst="roundRect">
            <a:avLst>
              <a:gd name="adj" fmla="val 12000"/>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27" name="Text 25"/>
          <p:cNvSpPr txBox="1"/>
          <p:nvPr/>
        </p:nvSpPr>
        <p:spPr>
          <a:xfrm>
            <a:off x="3017520" y="4114800"/>
            <a:ext cx="1737360" cy="365760"/>
          </a:xfrm>
          <a:prstGeom prst="rect">
            <a:avLst/>
          </a:prstGeom>
          <a:noFill/>
          <a:ln/>
        </p:spPr>
        <p:txBody>
          <a:bodyPr wrap="square" lIns="0" tIns="0" rIns="0" bIns="0" rtlCol="0" anchor="t"/>
          <a:lstStyle/>
          <a:p>
            <a:pPr indent="0" marL="0">
              <a:buNone/>
            </a:pPr>
            <a:r>
              <a:rPr lang="en-US" sz="1600" b="1" dirty="0">
                <a:solidFill>
                  <a:srgbClr val="2F5BEA"/>
                </a:solidFill>
                <a:latin typeface="Calibri" pitchFamily="34" charset="0"/>
                <a:ea typeface="Calibri" pitchFamily="34" charset="-122"/>
                <a:cs typeface="Calibri" pitchFamily="34" charset="-120"/>
              </a:rPr>
              <a:t>Cypher</a:t>
            </a:r>
            <a:endParaRPr lang="en-US" sz="1600" dirty="0"/>
          </a:p>
        </p:txBody>
      </p:sp>
      <p:sp>
        <p:nvSpPr>
          <p:cNvPr id="28" name="Text 26"/>
          <p:cNvSpPr txBox="1"/>
          <p:nvPr/>
        </p:nvSpPr>
        <p:spPr>
          <a:xfrm>
            <a:off x="3017520" y="4480560"/>
            <a:ext cx="1737360" cy="36576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Ngôn ngữ truy vấn</a:t>
            </a:r>
            <a:endParaRPr lang="en-US" sz="1200" dirty="0"/>
          </a:p>
        </p:txBody>
      </p:sp>
      <p:sp>
        <p:nvSpPr>
          <p:cNvPr id="29" name="Shape 27"/>
          <p:cNvSpPr/>
          <p:nvPr/>
        </p:nvSpPr>
        <p:spPr>
          <a:xfrm>
            <a:off x="5120640" y="4023360"/>
            <a:ext cx="2103120" cy="914400"/>
          </a:xfrm>
          <a:prstGeom prst="roundRect">
            <a:avLst>
              <a:gd name="adj" fmla="val 12000"/>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30" name="Text 28"/>
          <p:cNvSpPr txBox="1"/>
          <p:nvPr/>
        </p:nvSpPr>
        <p:spPr>
          <a:xfrm>
            <a:off x="5303520" y="4114800"/>
            <a:ext cx="1737360" cy="365760"/>
          </a:xfrm>
          <a:prstGeom prst="rect">
            <a:avLst/>
          </a:prstGeom>
          <a:noFill/>
          <a:ln/>
        </p:spPr>
        <p:txBody>
          <a:bodyPr wrap="square" lIns="0" tIns="0" rIns="0" bIns="0" rtlCol="0" anchor="t"/>
          <a:lstStyle/>
          <a:p>
            <a:pPr indent="0" marL="0">
              <a:buNone/>
            </a:pPr>
            <a:r>
              <a:rPr lang="en-US" sz="1600" b="1" dirty="0">
                <a:solidFill>
                  <a:srgbClr val="2F5BEA"/>
                </a:solidFill>
                <a:latin typeface="Calibri" pitchFamily="34" charset="0"/>
                <a:ea typeface="Calibri" pitchFamily="34" charset="-122"/>
                <a:cs typeface="Calibri" pitchFamily="34" charset="-120"/>
              </a:rPr>
              <a:t>Python 3</a:t>
            </a:r>
            <a:endParaRPr lang="en-US" sz="1600" dirty="0"/>
          </a:p>
        </p:txBody>
      </p:sp>
      <p:sp>
        <p:nvSpPr>
          <p:cNvPr id="31" name="Text 29"/>
          <p:cNvSpPr txBox="1"/>
          <p:nvPr/>
        </p:nvSpPr>
        <p:spPr>
          <a:xfrm>
            <a:off x="5303520" y="4480560"/>
            <a:ext cx="1737360" cy="36576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Bộ suy luận, tính toán</a:t>
            </a:r>
            <a:endParaRPr lang="en-US" sz="1200" dirty="0"/>
          </a:p>
        </p:txBody>
      </p:sp>
      <p:sp>
        <p:nvSpPr>
          <p:cNvPr id="32" name="Shape 30"/>
          <p:cNvSpPr/>
          <p:nvPr/>
        </p:nvSpPr>
        <p:spPr>
          <a:xfrm>
            <a:off x="7406640" y="4023360"/>
            <a:ext cx="2103120" cy="914400"/>
          </a:xfrm>
          <a:prstGeom prst="roundRect">
            <a:avLst>
              <a:gd name="adj" fmla="val 12000"/>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33" name="Text 31"/>
          <p:cNvSpPr txBox="1"/>
          <p:nvPr/>
        </p:nvSpPr>
        <p:spPr>
          <a:xfrm>
            <a:off x="7589520" y="4114800"/>
            <a:ext cx="1737360" cy="365760"/>
          </a:xfrm>
          <a:prstGeom prst="rect">
            <a:avLst/>
          </a:prstGeom>
          <a:noFill/>
          <a:ln/>
        </p:spPr>
        <p:txBody>
          <a:bodyPr wrap="square" lIns="0" tIns="0" rIns="0" bIns="0" rtlCol="0" anchor="t"/>
          <a:lstStyle/>
          <a:p>
            <a:pPr indent="0" marL="0">
              <a:buNone/>
            </a:pPr>
            <a:r>
              <a:rPr lang="en-US" sz="1600" b="1" dirty="0">
                <a:solidFill>
                  <a:srgbClr val="2F5BEA"/>
                </a:solidFill>
                <a:latin typeface="Calibri" pitchFamily="34" charset="0"/>
                <a:ea typeface="Calibri" pitchFamily="34" charset="-122"/>
                <a:cs typeface="Calibri" pitchFamily="34" charset="-120"/>
              </a:rPr>
              <a:t>Flask</a:t>
            </a:r>
            <a:endParaRPr lang="en-US" sz="1600" dirty="0"/>
          </a:p>
        </p:txBody>
      </p:sp>
      <p:sp>
        <p:nvSpPr>
          <p:cNvPr id="34" name="Text 32"/>
          <p:cNvSpPr txBox="1"/>
          <p:nvPr/>
        </p:nvSpPr>
        <p:spPr>
          <a:xfrm>
            <a:off x="7589520" y="4480560"/>
            <a:ext cx="1737360" cy="36576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Giao diện web</a:t>
            </a:r>
            <a:endParaRPr lang="en-US" sz="1200" dirty="0"/>
          </a:p>
        </p:txBody>
      </p:sp>
      <p:sp>
        <p:nvSpPr>
          <p:cNvPr id="35" name="Shape 33"/>
          <p:cNvSpPr/>
          <p:nvPr/>
        </p:nvSpPr>
        <p:spPr>
          <a:xfrm>
            <a:off x="9692640" y="4023360"/>
            <a:ext cx="2103120" cy="914400"/>
          </a:xfrm>
          <a:prstGeom prst="roundRect">
            <a:avLst>
              <a:gd name="adj" fmla="val 12000"/>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36" name="Text 34"/>
          <p:cNvSpPr txBox="1"/>
          <p:nvPr/>
        </p:nvSpPr>
        <p:spPr>
          <a:xfrm>
            <a:off x="9875520" y="4114800"/>
            <a:ext cx="1737360" cy="365760"/>
          </a:xfrm>
          <a:prstGeom prst="rect">
            <a:avLst/>
          </a:prstGeom>
          <a:noFill/>
          <a:ln/>
        </p:spPr>
        <p:txBody>
          <a:bodyPr wrap="square" lIns="0" tIns="0" rIns="0" bIns="0" rtlCol="0" anchor="t"/>
          <a:lstStyle/>
          <a:p>
            <a:pPr indent="0" marL="0">
              <a:buNone/>
            </a:pPr>
            <a:r>
              <a:rPr lang="en-US" sz="1600" b="1" dirty="0">
                <a:solidFill>
                  <a:srgbClr val="2F5BEA"/>
                </a:solidFill>
                <a:latin typeface="Calibri" pitchFamily="34" charset="0"/>
                <a:ea typeface="Calibri" pitchFamily="34" charset="-122"/>
                <a:cs typeface="Calibri" pitchFamily="34" charset="-120"/>
              </a:rPr>
              <a:t>unittest</a:t>
            </a:r>
            <a:endParaRPr lang="en-US" sz="1600" dirty="0"/>
          </a:p>
        </p:txBody>
      </p:sp>
      <p:sp>
        <p:nvSpPr>
          <p:cNvPr id="37" name="Text 35"/>
          <p:cNvSpPr txBox="1"/>
          <p:nvPr/>
        </p:nvSpPr>
        <p:spPr>
          <a:xfrm>
            <a:off x="9875520" y="4480560"/>
            <a:ext cx="1737360" cy="36576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32 ca kiểm thử</a:t>
            </a:r>
            <a:endParaRPr lang="en-US" sz="1200" dirty="0"/>
          </a:p>
        </p:txBody>
      </p:sp>
      <p:sp>
        <p:nvSpPr>
          <p:cNvPr id="38" name="Text 36"/>
          <p:cNvSpPr txBox="1"/>
          <p:nvPr/>
        </p:nvSpPr>
        <p:spPr>
          <a:xfrm>
            <a:off x="548640" y="5257800"/>
            <a:ext cx="11109960" cy="914400"/>
          </a:xfrm>
          <a:prstGeom prst="rect">
            <a:avLst/>
          </a:prstGeom>
          <a:noFill/>
          <a:ln/>
        </p:spPr>
        <p:txBody>
          <a:bodyPr wrap="square" lIns="0" tIns="0" rIns="0" bIns="0" rtlCol="0" anchor="t"/>
          <a:lstStyle/>
          <a:p>
            <a:pPr indent="0" marL="0">
              <a:buNone/>
            </a:pPr>
            <a:r>
              <a:rPr lang="en-US" sz="1500" b="1" dirty="0">
                <a:solidFill>
                  <a:srgbClr val="1B2540"/>
                </a:solidFill>
                <a:latin typeface="Calibri" pitchFamily="34" charset="0"/>
                <a:ea typeface="Calibri" pitchFamily="34" charset="-122"/>
                <a:cs typeface="Calibri" pitchFamily="34" charset="-120"/>
              </a:rPr>
              <a:t>Luồng xử lý: </a:t>
            </a:r>
            <a:pPr indent="0" marL="0">
              <a:buNone/>
            </a:pPr>
            <a:r>
              <a:rPr lang="en-US" sz="1500" dirty="0">
                <a:solidFill>
                  <a:srgbClr val="1D2433"/>
                </a:solidFill>
                <a:latin typeface="Calibri" pitchFamily="34" charset="0"/>
                <a:ea typeface="Calibri" pitchFamily="34" charset="-122"/>
                <a:cs typeface="Calibri" pitchFamily="34" charset="-120"/>
              </a:rPr>
              <a:t>trình duyệt gửi yêu cầu → Flask gọi bộ suy luận → bộ suy luận gửi các câu Cypher tới Neo4j qua giao thức Bolt (cổng 7687) → lặp đến điểm bất động → trả về kết luận, lời giải, sơ đồ và danh sách câu Cypher đã chạy.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Demo: nhận dạng tứ giác</a:t>
            </a:r>
            <a:endParaRPr lang="en-US" sz="3200" dirty="0"/>
          </a:p>
        </p:txBody>
      </p:sp>
      <p:sp>
        <p:nvSpPr>
          <p:cNvPr id="5" name="Text 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6" name="Text 4"/>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11</a:t>
            </a:r>
            <a:endParaRPr lang="en-US" sz="1000" dirty="0"/>
          </a:p>
        </p:txBody>
      </p:sp>
      <p:pic>
        <p:nvPicPr>
          <p:cNvPr id="7" name="Image 0" descr="/tmp/claude-0/-home-claude/98539f31-3192-5884-a81c-346bec00204d/scratchpad/ppt/c_nhandang.png">    </p:cNvPr>
          <p:cNvPicPr>
            <a:picLocks noChangeAspect="1"/>
          </p:cNvPicPr>
          <p:nvPr/>
        </p:nvPicPr>
        <p:blipFill>
          <a:blip r:embed="rId1"/>
          <a:stretch>
            <a:fillRect/>
          </a:stretch>
        </p:blipFill>
        <p:spPr>
          <a:xfrm>
            <a:off x="548640" y="1371600"/>
            <a:ext cx="7863840" cy="3972218"/>
          </a:xfrm>
          <a:prstGeom prst="rect">
            <a:avLst/>
          </a:prstGeom>
        </p:spPr>
      </p:pic>
      <p:sp>
        <p:nvSpPr>
          <p:cNvPr id="8" name="Shape 5"/>
          <p:cNvSpPr/>
          <p:nvPr/>
        </p:nvSpPr>
        <p:spPr>
          <a:xfrm>
            <a:off x="8732520" y="1417320"/>
            <a:ext cx="457200" cy="457200"/>
          </a:xfrm>
          <a:prstGeom prst="ellipse">
            <a:avLst/>
          </a:prstGeom>
          <a:solidFill>
            <a:srgbClr val="2F5BEA"/>
          </a:solidFill>
          <a:ln w="12700">
            <a:solidFill>
              <a:srgbClr val="2F5BEA"/>
            </a:solidFill>
            <a:prstDash val="solid"/>
          </a:ln>
        </p:spPr>
      </p:sp>
      <p:sp>
        <p:nvSpPr>
          <p:cNvPr id="9" name="Text 6"/>
          <p:cNvSpPr txBox="1"/>
          <p:nvPr/>
        </p:nvSpPr>
        <p:spPr>
          <a:xfrm>
            <a:off x="8732520"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9326880" y="1371600"/>
            <a:ext cx="2377440" cy="411480"/>
          </a:xfrm>
          <a:prstGeom prst="rect">
            <a:avLst/>
          </a:prstGeom>
          <a:noFill/>
          <a:ln/>
        </p:spPr>
        <p:txBody>
          <a:bodyPr wrap="square" lIns="0" tIns="0" rIns="0" bIns="0" rtlCol="0" anchor="t"/>
          <a:lstStyle/>
          <a:p>
            <a:pPr indent="0" marL="0">
              <a:buNone/>
            </a:pPr>
            <a:r>
              <a:rPr lang="en-US" sz="1500" b="1" dirty="0">
                <a:solidFill>
                  <a:srgbClr val="1D2433"/>
                </a:solidFill>
                <a:latin typeface="Calibri" pitchFamily="34" charset="0"/>
                <a:ea typeface="Calibri" pitchFamily="34" charset="-122"/>
                <a:cs typeface="Calibri" pitchFamily="34" charset="-120"/>
              </a:rPr>
              <a:t>Chọn hình ban đầu &amp; tích tính chất</a:t>
            </a:r>
            <a:endParaRPr lang="en-US" sz="1500" dirty="0"/>
          </a:p>
        </p:txBody>
      </p:sp>
      <p:sp>
        <p:nvSpPr>
          <p:cNvPr id="11" name="Text 8"/>
          <p:cNvSpPr txBox="1"/>
          <p:nvPr/>
        </p:nvSpPr>
        <p:spPr>
          <a:xfrm>
            <a:off x="9326880" y="1810512"/>
            <a:ext cx="2377440" cy="685800"/>
          </a:xfrm>
          <a:prstGeom prst="rect">
            <a:avLst/>
          </a:prstGeom>
          <a:noFill/>
          <a:ln/>
        </p:spPr>
        <p:txBody>
          <a:bodyPr wrap="square" lIns="0" tIns="0" rIns="0" bIns="0" rtlCol="0" anchor="t"/>
          <a:lstStyle/>
          <a:p>
            <a:pPr indent="0" marL="0">
              <a:buNone/>
            </a:pPr>
            <a:r>
              <a:rPr lang="en-US" sz="1250" dirty="0">
                <a:solidFill>
                  <a:srgbClr val="5B6478"/>
                </a:solidFill>
                <a:latin typeface="Calibri" pitchFamily="34" charset="0"/>
                <a:ea typeface="Calibri" pitchFamily="34" charset="-122"/>
                <a:cs typeface="Calibri" pitchFamily="34" charset="-120"/>
              </a:rPr>
              <a:t>Các tính chất chia 3 nhóm: cạnh, góc, đường chéo</a:t>
            </a:r>
            <a:endParaRPr lang="en-US" sz="1250" dirty="0"/>
          </a:p>
        </p:txBody>
      </p:sp>
      <p:sp>
        <p:nvSpPr>
          <p:cNvPr id="12" name="Shape 9"/>
          <p:cNvSpPr/>
          <p:nvPr/>
        </p:nvSpPr>
        <p:spPr>
          <a:xfrm>
            <a:off x="8732520" y="2606040"/>
            <a:ext cx="457200" cy="457200"/>
          </a:xfrm>
          <a:prstGeom prst="ellipse">
            <a:avLst/>
          </a:prstGeom>
          <a:solidFill>
            <a:srgbClr val="2F5BEA"/>
          </a:solidFill>
          <a:ln w="12700">
            <a:solidFill>
              <a:srgbClr val="2F5BEA"/>
            </a:solidFill>
            <a:prstDash val="solid"/>
          </a:ln>
        </p:spPr>
      </p:sp>
      <p:sp>
        <p:nvSpPr>
          <p:cNvPr id="13" name="Text 10"/>
          <p:cNvSpPr txBox="1"/>
          <p:nvPr/>
        </p:nvSpPr>
        <p:spPr>
          <a:xfrm>
            <a:off x="8732520"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9326880" y="2560320"/>
            <a:ext cx="2377440" cy="411480"/>
          </a:xfrm>
          <a:prstGeom prst="rect">
            <a:avLst/>
          </a:prstGeom>
          <a:noFill/>
          <a:ln/>
        </p:spPr>
        <p:txBody>
          <a:bodyPr wrap="square" lIns="0" tIns="0" rIns="0" bIns="0" rtlCol="0" anchor="t"/>
          <a:lstStyle/>
          <a:p>
            <a:pPr indent="0" marL="0">
              <a:buNone/>
            </a:pPr>
            <a:r>
              <a:rPr lang="en-US" sz="1500" b="1" dirty="0">
                <a:solidFill>
                  <a:srgbClr val="1D2433"/>
                </a:solidFill>
                <a:latin typeface="Calibri" pitchFamily="34" charset="0"/>
                <a:ea typeface="Calibri" pitchFamily="34" charset="-122"/>
                <a:cs typeface="Calibri" pitchFamily="34" charset="-120"/>
              </a:rPr>
              <a:t>Kết luận + lời giải từng bước</a:t>
            </a:r>
            <a:endParaRPr lang="en-US" sz="1500" dirty="0"/>
          </a:p>
        </p:txBody>
      </p:sp>
      <p:sp>
        <p:nvSpPr>
          <p:cNvPr id="15" name="Text 12"/>
          <p:cNvSpPr txBox="1"/>
          <p:nvPr/>
        </p:nvSpPr>
        <p:spPr>
          <a:xfrm>
            <a:off x="9326880" y="2999232"/>
            <a:ext cx="2377440" cy="685800"/>
          </a:xfrm>
          <a:prstGeom prst="rect">
            <a:avLst/>
          </a:prstGeom>
          <a:noFill/>
          <a:ln/>
        </p:spPr>
        <p:txBody>
          <a:bodyPr wrap="square" lIns="0" tIns="0" rIns="0" bIns="0" rtlCol="0" anchor="t"/>
          <a:lstStyle/>
          <a:p>
            <a:pPr indent="0" marL="0">
              <a:buNone/>
            </a:pPr>
            <a:r>
              <a:rPr lang="en-US" sz="1250" dirty="0">
                <a:solidFill>
                  <a:srgbClr val="5B6478"/>
                </a:solidFill>
                <a:latin typeface="Calibri" pitchFamily="34" charset="0"/>
                <a:ea typeface="Calibri" pitchFamily="34" charset="-122"/>
                <a:cs typeface="Calibri" pitchFamily="34" charset="-120"/>
              </a:rPr>
              <a:t>Mỗi bước ghi rõ dấu hiệu, tính chất lấy từ giả thiết hay kế thừa</a:t>
            </a:r>
            <a:endParaRPr lang="en-US" sz="1250" dirty="0"/>
          </a:p>
        </p:txBody>
      </p:sp>
      <p:sp>
        <p:nvSpPr>
          <p:cNvPr id="16" name="Shape 13"/>
          <p:cNvSpPr/>
          <p:nvPr/>
        </p:nvSpPr>
        <p:spPr>
          <a:xfrm>
            <a:off x="8732520" y="3794760"/>
            <a:ext cx="457200" cy="457200"/>
          </a:xfrm>
          <a:prstGeom prst="ellipse">
            <a:avLst/>
          </a:prstGeom>
          <a:solidFill>
            <a:srgbClr val="2F5BEA"/>
          </a:solidFill>
          <a:ln w="12700">
            <a:solidFill>
              <a:srgbClr val="2F5BEA"/>
            </a:solidFill>
            <a:prstDash val="solid"/>
          </a:ln>
        </p:spPr>
      </p:sp>
      <p:sp>
        <p:nvSpPr>
          <p:cNvPr id="17" name="Text 14"/>
          <p:cNvSpPr txBox="1"/>
          <p:nvPr/>
        </p:nvSpPr>
        <p:spPr>
          <a:xfrm>
            <a:off x="8732520"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5"/>
          <p:cNvSpPr txBox="1"/>
          <p:nvPr/>
        </p:nvSpPr>
        <p:spPr>
          <a:xfrm>
            <a:off x="9326880" y="3749040"/>
            <a:ext cx="2377440" cy="411480"/>
          </a:xfrm>
          <a:prstGeom prst="rect">
            <a:avLst/>
          </a:prstGeom>
          <a:noFill/>
          <a:ln/>
        </p:spPr>
        <p:txBody>
          <a:bodyPr wrap="square" lIns="0" tIns="0" rIns="0" bIns="0" rtlCol="0" anchor="t"/>
          <a:lstStyle/>
          <a:p>
            <a:pPr indent="0" marL="0">
              <a:buNone/>
            </a:pPr>
            <a:r>
              <a:rPr lang="en-US" sz="1500" b="1" dirty="0">
                <a:solidFill>
                  <a:srgbClr val="1D2433"/>
                </a:solidFill>
                <a:latin typeface="Calibri" pitchFamily="34" charset="0"/>
                <a:ea typeface="Calibri" pitchFamily="34" charset="-122"/>
                <a:cs typeface="Calibri" pitchFamily="34" charset="-120"/>
              </a:rPr>
              <a:t>Sơ đồ tô màu</a:t>
            </a:r>
            <a:endParaRPr lang="en-US" sz="1500" dirty="0"/>
          </a:p>
        </p:txBody>
      </p:sp>
      <p:sp>
        <p:nvSpPr>
          <p:cNvPr id="19" name="Text 16"/>
          <p:cNvSpPr txBox="1"/>
          <p:nvPr/>
        </p:nvSpPr>
        <p:spPr>
          <a:xfrm>
            <a:off x="9326880" y="4187952"/>
            <a:ext cx="2377440" cy="685800"/>
          </a:xfrm>
          <a:prstGeom prst="rect">
            <a:avLst/>
          </a:prstGeom>
          <a:noFill/>
          <a:ln/>
        </p:spPr>
        <p:txBody>
          <a:bodyPr wrap="square" lIns="0" tIns="0" rIns="0" bIns="0" rtlCol="0" anchor="t"/>
          <a:lstStyle/>
          <a:p>
            <a:pPr indent="0" marL="0">
              <a:buNone/>
            </a:pPr>
            <a:r>
              <a:rPr lang="en-US" sz="1250" dirty="0">
                <a:solidFill>
                  <a:srgbClr val="5B6478"/>
                </a:solidFill>
                <a:latin typeface="Calibri" pitchFamily="34" charset="0"/>
                <a:ea typeface="Calibri" pitchFamily="34" charset="-122"/>
                <a:cs typeface="Calibri" pitchFamily="34" charset="-120"/>
              </a:rPr>
              <a:t>Hình ban đầu, các hình suy ra được, hình kết luận</a:t>
            </a:r>
            <a:endParaRPr lang="en-US" sz="1250" dirty="0"/>
          </a:p>
        </p:txBody>
      </p:sp>
      <p:sp>
        <p:nvSpPr>
          <p:cNvPr id="20" name="Shape 17"/>
          <p:cNvSpPr/>
          <p:nvPr/>
        </p:nvSpPr>
        <p:spPr>
          <a:xfrm>
            <a:off x="8732520" y="4983480"/>
            <a:ext cx="457200" cy="457200"/>
          </a:xfrm>
          <a:prstGeom prst="ellipse">
            <a:avLst/>
          </a:prstGeom>
          <a:solidFill>
            <a:srgbClr val="2F5BEA"/>
          </a:solidFill>
          <a:ln w="12700">
            <a:solidFill>
              <a:srgbClr val="2F5BEA"/>
            </a:solidFill>
            <a:prstDash val="solid"/>
          </a:ln>
        </p:spPr>
      </p:sp>
      <p:sp>
        <p:nvSpPr>
          <p:cNvPr id="21" name="Text 18"/>
          <p:cNvSpPr txBox="1"/>
          <p:nvPr/>
        </p:nvSpPr>
        <p:spPr>
          <a:xfrm>
            <a:off x="8732520" y="4983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19"/>
          <p:cNvSpPr txBox="1"/>
          <p:nvPr/>
        </p:nvSpPr>
        <p:spPr>
          <a:xfrm>
            <a:off x="9326880" y="4937760"/>
            <a:ext cx="2377440" cy="411480"/>
          </a:xfrm>
          <a:prstGeom prst="rect">
            <a:avLst/>
          </a:prstGeom>
          <a:noFill/>
          <a:ln/>
        </p:spPr>
        <p:txBody>
          <a:bodyPr wrap="square" lIns="0" tIns="0" rIns="0" bIns="0" rtlCol="0" anchor="t"/>
          <a:lstStyle/>
          <a:p>
            <a:pPr indent="0" marL="0">
              <a:buNone/>
            </a:pPr>
            <a:r>
              <a:rPr lang="en-US" sz="1500" b="1" dirty="0">
                <a:solidFill>
                  <a:srgbClr val="1D2433"/>
                </a:solidFill>
                <a:latin typeface="Calibri" pitchFamily="34" charset="0"/>
                <a:ea typeface="Calibri" pitchFamily="34" charset="-122"/>
                <a:cs typeface="Calibri" pitchFamily="34" charset="-120"/>
              </a:rPr>
              <a:t>Minh bạch</a:t>
            </a:r>
            <a:endParaRPr lang="en-US" sz="1500" dirty="0"/>
          </a:p>
        </p:txBody>
      </p:sp>
      <p:sp>
        <p:nvSpPr>
          <p:cNvPr id="23" name="Text 20"/>
          <p:cNvSpPr txBox="1"/>
          <p:nvPr/>
        </p:nvSpPr>
        <p:spPr>
          <a:xfrm>
            <a:off x="9326880" y="5376672"/>
            <a:ext cx="2377440" cy="685800"/>
          </a:xfrm>
          <a:prstGeom prst="rect">
            <a:avLst/>
          </a:prstGeom>
          <a:noFill/>
          <a:ln/>
        </p:spPr>
        <p:txBody>
          <a:bodyPr wrap="square" lIns="0" tIns="0" rIns="0" bIns="0" rtlCol="0" anchor="t"/>
          <a:lstStyle/>
          <a:p>
            <a:pPr indent="0" marL="0">
              <a:buNone/>
            </a:pPr>
            <a:r>
              <a:rPr lang="en-US" sz="1250" dirty="0">
                <a:solidFill>
                  <a:srgbClr val="5B6478"/>
                </a:solidFill>
                <a:latin typeface="Calibri" pitchFamily="34" charset="0"/>
                <a:ea typeface="Calibri" pitchFamily="34" charset="-122"/>
                <a:cs typeface="Calibri" pitchFamily="34" charset="-120"/>
              </a:rPr>
              <a:t>Xem được mọi câu Cypher đã chạy trên Neo4j</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Demo: chưa đủ dữ kiện và giả thiết mâu thuẫn</a:t>
            </a:r>
            <a:endParaRPr lang="en-US" sz="3200" dirty="0"/>
          </a:p>
        </p:txBody>
      </p:sp>
      <p:sp>
        <p:nvSpPr>
          <p:cNvPr id="5" name="Text 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6" name="Text 4"/>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12</a:t>
            </a:r>
            <a:endParaRPr lang="en-US" sz="1000" dirty="0"/>
          </a:p>
        </p:txBody>
      </p:sp>
      <p:sp>
        <p:nvSpPr>
          <p:cNvPr id="7" name="Text 5"/>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500" b="1" dirty="0">
                <a:solidFill>
                  <a:srgbClr val="B45309"/>
                </a:solidFill>
                <a:latin typeface="Calibri" pitchFamily="34" charset="0"/>
                <a:ea typeface="Calibri" pitchFamily="34" charset="-122"/>
                <a:cs typeface="Calibri" pitchFamily="34" charset="-120"/>
              </a:rPr>
              <a:t>Hình thang + hai cạnh bên bằng nhau</a:t>
            </a:r>
            <a:endParaRPr lang="en-US" sz="1500" dirty="0"/>
          </a:p>
        </p:txBody>
      </p:sp>
      <p:pic>
        <p:nvPicPr>
          <p:cNvPr id="8" name="Image 0" descr="/tmp/claude-0/-home-claude/98539f31-3192-5884-a81c-346bec00204d/scratchpad/ppt/c_chuadu.png">    </p:cNvPr>
          <p:cNvPicPr>
            <a:picLocks noChangeAspect="1"/>
          </p:cNvPicPr>
          <p:nvPr/>
        </p:nvPicPr>
        <p:blipFill>
          <a:blip r:embed="rId1"/>
          <a:stretch>
            <a:fillRect/>
          </a:stretch>
        </p:blipFill>
        <p:spPr>
          <a:xfrm>
            <a:off x="548640" y="1737360"/>
            <a:ext cx="5486400" cy="1816608"/>
          </a:xfrm>
          <a:prstGeom prst="rect">
            <a:avLst/>
          </a:prstGeom>
        </p:spPr>
      </p:pic>
      <p:sp>
        <p:nvSpPr>
          <p:cNvPr id="9" name="Text 6"/>
          <p:cNvSpPr txBox="1"/>
          <p:nvPr/>
        </p:nvSpPr>
        <p:spPr>
          <a:xfrm>
            <a:off x="6355080" y="1325880"/>
            <a:ext cx="5303520" cy="365760"/>
          </a:xfrm>
          <a:prstGeom prst="rect">
            <a:avLst/>
          </a:prstGeom>
          <a:noFill/>
          <a:ln/>
        </p:spPr>
        <p:txBody>
          <a:bodyPr wrap="square" lIns="0" tIns="0" rIns="0" bIns="0" rtlCol="0" anchor="t"/>
          <a:lstStyle/>
          <a:p>
            <a:pPr indent="0" marL="0">
              <a:buNone/>
            </a:pPr>
            <a:r>
              <a:rPr lang="en-US" sz="1500" b="1" dirty="0">
                <a:solidFill>
                  <a:srgbClr val="0F8A5F"/>
                </a:solidFill>
                <a:latin typeface="Calibri" pitchFamily="34" charset="0"/>
                <a:ea typeface="Calibri" pitchFamily="34" charset="-122"/>
                <a:cs typeface="Calibri" pitchFamily="34" charset="-120"/>
              </a:rPr>
              <a:t>Thêm “hai cạnh bên không song song”</a:t>
            </a:r>
            <a:endParaRPr lang="en-US" sz="1500" dirty="0"/>
          </a:p>
        </p:txBody>
      </p:sp>
      <p:pic>
        <p:nvPicPr>
          <p:cNvPr id="10" name="Image 1" descr="/tmp/claude-0/-home-claude/98539f31-3192-5884-a81c-346bec00204d/scratchpad/ppt/c_thangcan.png">    </p:cNvPr>
          <p:cNvPicPr>
            <a:picLocks noChangeAspect="1"/>
          </p:cNvPicPr>
          <p:nvPr/>
        </p:nvPicPr>
        <p:blipFill>
          <a:blip r:embed="rId2"/>
          <a:stretch>
            <a:fillRect/>
          </a:stretch>
        </p:blipFill>
        <p:spPr>
          <a:xfrm>
            <a:off x="6355080" y="1737360"/>
            <a:ext cx="5303520" cy="978205"/>
          </a:xfrm>
          <a:prstGeom prst="rect">
            <a:avLst/>
          </a:prstGeom>
        </p:spPr>
      </p:pic>
      <p:sp>
        <p:nvSpPr>
          <p:cNvPr id="11" name="Text 7"/>
          <p:cNvSpPr txBox="1"/>
          <p:nvPr/>
        </p:nvSpPr>
        <p:spPr>
          <a:xfrm>
            <a:off x="6355080" y="2971800"/>
            <a:ext cx="5303520" cy="365760"/>
          </a:xfrm>
          <a:prstGeom prst="rect">
            <a:avLst/>
          </a:prstGeom>
          <a:noFill/>
          <a:ln/>
        </p:spPr>
        <p:txBody>
          <a:bodyPr wrap="square" lIns="0" tIns="0" rIns="0" bIns="0" rtlCol="0" anchor="t"/>
          <a:lstStyle/>
          <a:p>
            <a:pPr indent="0" marL="0">
              <a:buNone/>
            </a:pPr>
            <a:r>
              <a:rPr lang="en-US" sz="1500" b="1" dirty="0">
                <a:solidFill>
                  <a:srgbClr val="C0362C"/>
                </a:solidFill>
                <a:latin typeface="Calibri" pitchFamily="34" charset="0"/>
                <a:ea typeface="Calibri" pitchFamily="34" charset="-122"/>
                <a:cs typeface="Calibri" pitchFamily="34" charset="-120"/>
              </a:rPr>
              <a:t>Hai cặp cạnh đối song song + hai cạnh bên không song song</a:t>
            </a:r>
            <a:endParaRPr lang="en-US" sz="1500" dirty="0"/>
          </a:p>
        </p:txBody>
      </p:sp>
      <p:pic>
        <p:nvPicPr>
          <p:cNvPr id="12" name="Image 2" descr="/tmp/claude-0/-home-claude/98539f31-3192-5884-a81c-346bec00204d/scratchpad/ppt/c_mauthuan.png">    </p:cNvPr>
          <p:cNvPicPr>
            <a:picLocks noChangeAspect="1"/>
          </p:cNvPicPr>
          <p:nvPr/>
        </p:nvPicPr>
        <p:blipFill>
          <a:blip r:embed="rId3"/>
          <a:stretch>
            <a:fillRect/>
          </a:stretch>
        </p:blipFill>
        <p:spPr>
          <a:xfrm>
            <a:off x="6355080" y="3383280"/>
            <a:ext cx="5303520" cy="1361237"/>
          </a:xfrm>
          <a:prstGeom prst="rect">
            <a:avLst/>
          </a:prstGeom>
        </p:spPr>
      </p:pic>
      <p:sp>
        <p:nvSpPr>
          <p:cNvPr id="13" name="Shape 8"/>
          <p:cNvSpPr/>
          <p:nvPr/>
        </p:nvSpPr>
        <p:spPr>
          <a:xfrm>
            <a:off x="548640" y="3840480"/>
            <a:ext cx="5486400" cy="2423160"/>
          </a:xfrm>
          <a:prstGeom prst="roundRect">
            <a:avLst>
              <a:gd name="adj" fmla="val 4528"/>
            </a:avLst>
          </a:prstGeom>
          <a:solidFill>
            <a:srgbClr val="E8EEFF"/>
          </a:solidFill>
          <a:ln w="9525">
            <a:solidFill>
              <a:srgbClr val="E8EEFF"/>
            </a:solidFill>
            <a:prstDash val="solid"/>
          </a:ln>
        </p:spPr>
      </p:sp>
      <p:sp>
        <p:nvSpPr>
          <p:cNvPr id="14" name="Text 9"/>
          <p:cNvSpPr txBox="1"/>
          <p:nvPr/>
        </p:nvSpPr>
        <p:spPr>
          <a:xfrm>
            <a:off x="777240" y="4023360"/>
            <a:ext cx="5029200" cy="2103120"/>
          </a:xfrm>
          <a:prstGeom prst="rect">
            <a:avLst/>
          </a:prstGeom>
          <a:noFill/>
          <a:ln/>
        </p:spPr>
        <p:txBody>
          <a:bodyPr wrap="square" lIns="0" tIns="0" rIns="0" bIns="0" rtlCol="0" anchor="t"/>
          <a:lstStyle/>
          <a:p>
            <a:pPr indent="0" marL="0">
              <a:spcAft>
                <a:spcPts val="600"/>
              </a:spcAft>
              <a:buNone/>
            </a:pPr>
            <a:r>
              <a:rPr lang="en-US" sz="1700" b="1" dirty="0">
                <a:solidFill>
                  <a:srgbClr val="2F5BEA"/>
                </a:solidFill>
                <a:latin typeface="Calibri" pitchFamily="34" charset="0"/>
                <a:ea typeface="Calibri" pitchFamily="34" charset="-122"/>
                <a:cs typeface="Calibri" pitchFamily="34" charset="-120"/>
              </a:rPr>
              <a:t>Điểm nổi bật</a:t>
            </a:r>
            <a:endParaRPr lang="en-US" sz="1500" dirty="0"/>
          </a:p>
          <a:p>
            <a:pPr marL="342900" indent="-342900">
              <a:spcAft>
                <a:spcPts val="600"/>
              </a:spcAft>
              <a:buSzPct val="100000"/>
              <a:buChar char="•"/>
            </a:pPr>
            <a:r>
              <a:rPr lang="en-US" sz="1500" dirty="0">
                <a:solidFill>
                  <a:srgbClr val="1D2433"/>
                </a:solidFill>
                <a:latin typeface="Calibri" pitchFamily="34" charset="0"/>
                <a:ea typeface="Calibri" pitchFamily="34" charset="-122"/>
                <a:cs typeface="Calibri" pitchFamily="34" charset="-120"/>
              </a:rPr>
              <a:t>Không kết luận vội khi thiếu dữ kiện — chỉ ra cần bổ sung giả thiết nào.</a:t>
            </a:r>
            <a:endParaRPr lang="en-US" sz="1500" dirty="0"/>
          </a:p>
          <a:p>
            <a:pPr marL="342900" indent="-342900">
              <a:spcAft>
                <a:spcPts val="600"/>
              </a:spcAft>
              <a:buSzPct val="100000"/>
              <a:buChar char="•"/>
            </a:pPr>
            <a:r>
              <a:rPr lang="en-US" sz="1500" dirty="0">
                <a:solidFill>
                  <a:srgbClr val="1D2433"/>
                </a:solidFill>
                <a:latin typeface="Calibri" pitchFamily="34" charset="0"/>
                <a:ea typeface="Calibri" pitchFamily="34" charset="-122"/>
                <a:cs typeface="Calibri" pitchFamily="34" charset="-120"/>
              </a:rPr>
              <a:t>Bổ sung đúng giả thiết thì kết luận được ngay.</a:t>
            </a:r>
            <a:endParaRPr lang="en-US" sz="1500" dirty="0"/>
          </a:p>
          <a:p>
            <a:pPr marL="342900" indent="-342900">
              <a:spcAft>
                <a:spcPts val="600"/>
              </a:spcAft>
              <a:buSzPct val="100000"/>
              <a:buChar char="•"/>
            </a:pPr>
            <a:r>
              <a:rPr lang="en-US" sz="1500" dirty="0">
                <a:solidFill>
                  <a:srgbClr val="1D2433"/>
                </a:solidFill>
                <a:latin typeface="Calibri" pitchFamily="34" charset="0"/>
                <a:ea typeface="Calibri" pitchFamily="34" charset="-122"/>
                <a:cs typeface="Calibri" pitchFamily="34" charset="-120"/>
              </a:rPr>
              <a:t>Phát hiện các giả thiết không thể cùng xảy ra.</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Demo: tính diện tích, chu vi</a:t>
            </a:r>
            <a:endParaRPr lang="en-US" sz="3200" dirty="0"/>
          </a:p>
        </p:txBody>
      </p:sp>
      <p:sp>
        <p:nvSpPr>
          <p:cNvPr id="5" name="Text 3"/>
          <p:cNvSpPr txBox="1"/>
          <p:nvPr/>
        </p:nvSpPr>
        <p:spPr>
          <a:xfrm>
            <a:off x="1298448" y="960120"/>
            <a:ext cx="10314432" cy="365760"/>
          </a:xfrm>
          <a:prstGeom prst="rect">
            <a:avLst/>
          </a:prstGeom>
          <a:noFill/>
          <a:ln/>
        </p:spPr>
        <p:txBody>
          <a:bodyPr wrap="square" lIns="0" tIns="0" rIns="0" bIns="0" rtlCol="0" anchor="t"/>
          <a:lstStyle/>
          <a:p>
            <a:pPr indent="0" marL="0">
              <a:buNone/>
            </a:pPr>
            <a:r>
              <a:rPr lang="en-US" sz="1500" dirty="0">
                <a:solidFill>
                  <a:srgbClr val="5B6478"/>
                </a:solidFill>
                <a:latin typeface="Calibri" pitchFamily="34" charset="0"/>
                <a:ea typeface="Calibri" pitchFamily="34" charset="-122"/>
                <a:cs typeface="Calibri" pitchFamily="34" charset="-120"/>
              </a:rPr>
              <a:t>Ví dụ hình thoi — chỉ nhập hai đường chéo d₁ = 6 cm, d₂ = 8 cm</a:t>
            </a:r>
            <a:endParaRPr lang="en-US" sz="1500" dirty="0"/>
          </a:p>
        </p:txBody>
      </p:sp>
      <p:sp>
        <p:nvSpPr>
          <p:cNvPr id="6" name="Text 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7" name="Text 5"/>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13</a:t>
            </a:r>
            <a:endParaRPr lang="en-US" sz="1000" dirty="0"/>
          </a:p>
        </p:txBody>
      </p:sp>
      <p:pic>
        <p:nvPicPr>
          <p:cNvPr id="8" name="Image 0" descr="/tmp/claude-0/-home-claude/98539f31-3192-5884-a81c-346bec00204d/scratchpad/ppt/c_tt_form.png">    </p:cNvPr>
          <p:cNvPicPr>
            <a:picLocks noChangeAspect="1"/>
          </p:cNvPicPr>
          <p:nvPr/>
        </p:nvPicPr>
        <p:blipFill>
          <a:blip r:embed="rId1"/>
          <a:stretch>
            <a:fillRect/>
          </a:stretch>
        </p:blipFill>
        <p:spPr>
          <a:xfrm>
            <a:off x="548640" y="1417320"/>
            <a:ext cx="1996751" cy="4892040"/>
          </a:xfrm>
          <a:prstGeom prst="rect">
            <a:avLst/>
          </a:prstGeom>
        </p:spPr>
      </p:pic>
      <p:pic>
        <p:nvPicPr>
          <p:cNvPr id="9" name="Image 1" descr="/tmp/claude-0/-home-claude/98539f31-3192-5884-a81c-346bec00204d/scratchpad/ppt/c_tt_kq.png">    </p:cNvPr>
          <p:cNvPicPr>
            <a:picLocks noChangeAspect="1"/>
          </p:cNvPicPr>
          <p:nvPr/>
        </p:nvPicPr>
        <p:blipFill>
          <a:blip r:embed="rId2"/>
          <a:stretch>
            <a:fillRect/>
          </a:stretch>
        </p:blipFill>
        <p:spPr>
          <a:xfrm>
            <a:off x="3246120" y="1417320"/>
            <a:ext cx="8412480" cy="1794662"/>
          </a:xfrm>
          <a:prstGeom prst="rect">
            <a:avLst/>
          </a:prstGeom>
        </p:spPr>
      </p:pic>
      <p:pic>
        <p:nvPicPr>
          <p:cNvPr id="10" name="Image 2" descr="/tmp/claude-0/-home-claude/98539f31-3192-5884-a81c-346bec00204d/scratchpad/ppt/c_tt_steps.png">    </p:cNvPr>
          <p:cNvPicPr>
            <a:picLocks noChangeAspect="1"/>
          </p:cNvPicPr>
          <p:nvPr/>
        </p:nvPicPr>
        <p:blipFill>
          <a:blip r:embed="rId3"/>
          <a:stretch>
            <a:fillRect/>
          </a:stretch>
        </p:blipFill>
        <p:spPr>
          <a:xfrm>
            <a:off x="3246120" y="3291840"/>
            <a:ext cx="6263640" cy="2606200"/>
          </a:xfrm>
          <a:prstGeom prst="rect">
            <a:avLst/>
          </a:prstGeom>
        </p:spPr>
      </p:pic>
      <p:sp>
        <p:nvSpPr>
          <p:cNvPr id="11" name="Text 6"/>
          <p:cNvSpPr txBox="1"/>
          <p:nvPr/>
        </p:nvSpPr>
        <p:spPr>
          <a:xfrm>
            <a:off x="9692640" y="3429000"/>
            <a:ext cx="1965960" cy="2834640"/>
          </a:xfrm>
          <a:prstGeom prst="rect">
            <a:avLst/>
          </a:prstGeom>
          <a:noFill/>
          <a:ln/>
        </p:spPr>
        <p:txBody>
          <a:bodyPr wrap="square" lIns="0" tIns="0" rIns="0" bIns="0" rtlCol="0" anchor="t"/>
          <a:lstStyle/>
          <a:p>
            <a:pPr indent="0" marL="0">
              <a:spcAft>
                <a:spcPts val="600"/>
              </a:spcAft>
              <a:buNone/>
            </a:pPr>
            <a:r>
              <a:rPr lang="en-US" sz="1600" b="1" dirty="0">
                <a:solidFill>
                  <a:srgbClr val="2F5BEA"/>
                </a:solidFill>
                <a:latin typeface="Calibri" pitchFamily="34" charset="0"/>
                <a:ea typeface="Calibri" pitchFamily="34" charset="-122"/>
                <a:cs typeface="Calibri" pitchFamily="34" charset="-120"/>
              </a:rPr>
              <a:t>Cách tính</a:t>
            </a:r>
            <a:endParaRPr lang="en-US" sz="1300" dirty="0"/>
          </a:p>
          <a:p>
            <a:pPr marL="342900" indent="-342900">
              <a:spcAft>
                <a:spcPts val="600"/>
              </a:spcAft>
              <a:buSzPct val="100000"/>
              <a:buChar char="•"/>
            </a:pPr>
            <a:r>
              <a:rPr lang="en-US" sz="1300" dirty="0">
                <a:solidFill>
                  <a:srgbClr val="1D2433"/>
                </a:solidFill>
                <a:latin typeface="Calibri" pitchFamily="34" charset="0"/>
                <a:ea typeface="Calibri" pitchFamily="34" charset="-122"/>
                <a:cs typeface="Calibri" pitchFamily="34" charset="-120"/>
              </a:rPr>
              <a:t>Công thức lấy từ Neo4j</a:t>
            </a:r>
            <a:endParaRPr lang="en-US" sz="1300" dirty="0"/>
          </a:p>
          <a:p>
            <a:pPr marL="342900" indent="-342900">
              <a:spcAft>
                <a:spcPts val="600"/>
              </a:spcAft>
              <a:buSzPct val="100000"/>
              <a:buChar char="•"/>
            </a:pPr>
            <a:r>
              <a:rPr lang="en-US" sz="1300" dirty="0">
                <a:solidFill>
                  <a:srgbClr val="1D2433"/>
                </a:solidFill>
                <a:latin typeface="Calibri" pitchFamily="34" charset="0"/>
                <a:ea typeface="Calibri" pitchFamily="34" charset="-122"/>
                <a:cs typeface="Calibri" pitchFamily="34" charset="-120"/>
              </a:rPr>
              <a:t>Áp dụng lặp lại đến khi không tính thêm được</a:t>
            </a:r>
            <a:endParaRPr lang="en-US" sz="1300" dirty="0"/>
          </a:p>
          <a:p>
            <a:pPr marL="342900" indent="-342900">
              <a:spcAft>
                <a:spcPts val="600"/>
              </a:spcAft>
              <a:buSzPct val="100000"/>
              <a:buChar char="•"/>
            </a:pPr>
            <a:r>
              <a:rPr lang="en-US" sz="1300" dirty="0">
                <a:solidFill>
                  <a:srgbClr val="1D2433"/>
                </a:solidFill>
                <a:latin typeface="Calibri" pitchFamily="34" charset="0"/>
                <a:ea typeface="Calibri" pitchFamily="34" charset="-122"/>
                <a:cs typeface="Calibri" pitchFamily="34" charset="-120"/>
              </a:rPr>
              <a:t>Cảnh báo số liệu không nhất quán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Công thức diện tích &amp; chu vi trong đồ thị tri thức</a:t>
            </a:r>
            <a:endParaRPr lang="en-US" sz="3200" dirty="0"/>
          </a:p>
        </p:txBody>
      </p:sp>
      <p:sp>
        <p:nvSpPr>
          <p:cNvPr id="5" name="Text 3"/>
          <p:cNvSpPr txBox="1"/>
          <p:nvPr/>
        </p:nvSpPr>
        <p:spPr>
          <a:xfrm>
            <a:off x="1298448" y="960120"/>
            <a:ext cx="10314432" cy="365760"/>
          </a:xfrm>
          <a:prstGeom prst="rect">
            <a:avLst/>
          </a:prstGeom>
          <a:noFill/>
          <a:ln/>
        </p:spPr>
        <p:txBody>
          <a:bodyPr wrap="square" lIns="0" tIns="0" rIns="0" bIns="0" rtlCol="0" anchor="t"/>
          <a:lstStyle/>
          <a:p>
            <a:pPr indent="0" marL="0">
              <a:buNone/>
            </a:pPr>
            <a:r>
              <a:rPr lang="en-US" sz="1500" dirty="0">
                <a:solidFill>
                  <a:srgbClr val="5B6478"/>
                </a:solidFill>
                <a:latin typeface="Calibri" pitchFamily="34" charset="0"/>
                <a:ea typeface="Calibri" pitchFamily="34" charset="-122"/>
                <a:cs typeface="Calibri" pitchFamily="34" charset="-120"/>
              </a:rPr>
              <a:t>9 hình · 71 đại lượng · 68 công thức (kèm đường chéo, chiều cao, góc, bán kính…)</a:t>
            </a:r>
            <a:endParaRPr lang="en-US" sz="1500" dirty="0"/>
          </a:p>
        </p:txBody>
      </p:sp>
      <p:sp>
        <p:nvSpPr>
          <p:cNvPr id="6" name="Text 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7" name="Text 5"/>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223760" cy="914400"/>
        </p:xfrm>
        <a:graphic>
          <a:graphicData uri="http://schemas.openxmlformats.org/drawingml/2006/table">
            <a:tbl>
              <a:tblPr/>
              <a:tblGrid>
                <a:gridCol w="1691640"/>
                <a:gridCol w="3246120"/>
                <a:gridCol w="1600200"/>
                <a:gridCol w="685800"/>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Hình</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B254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Diện tích</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B254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Chu vi</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B254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Số CT</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B2540"/>
                    </a:solidFill>
                  </a:tcPr>
                </a:tc>
              </a:tr>
              <a:tr h="457200">
                <a:tc>
                  <a:txBody>
                    <a:bodyPr/>
                    <a:lstStyle/>
                    <a:p>
                      <a:pPr algn="l" indent="0" marL="0">
                        <a:buNone/>
                      </a:pPr>
                      <a:r>
                        <a:rPr lang="en-US" sz="1250" b="1" dirty="0">
                          <a:solidFill>
                            <a:srgbClr val="1B2540"/>
                          </a:solidFill>
                          <a:latin typeface="Calibri" pitchFamily="34" charset="0"/>
                          <a:ea typeface="Calibri" pitchFamily="34" charset="-122"/>
                          <a:cs typeface="Calibri" pitchFamily="34" charset="-120"/>
                        </a:rPr>
                        <a:t>Tứ giác</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S = ½ · d₁ · d₂ · sin φ</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P = a + b + c + d</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D2433"/>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B2540"/>
                          </a:solidFill>
                          <a:latin typeface="Calibri" pitchFamily="34" charset="0"/>
                          <a:ea typeface="Calibri" pitchFamily="34" charset="-122"/>
                          <a:cs typeface="Calibri" pitchFamily="34" charset="-120"/>
                        </a:rPr>
                        <a:t>Hình thang</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S = ½ · (a + b) · h   ;   S = m · h</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P = a + b + c + d</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ctr" indent="0" marL="0">
                        <a:buNone/>
                      </a:pPr>
                      <a:r>
                        <a:rPr lang="en-US" sz="1250" dirty="0">
                          <a:solidFill>
                            <a:srgbClr val="1D2433"/>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r>
              <a:tr h="457200">
                <a:tc>
                  <a:txBody>
                    <a:bodyPr/>
                    <a:lstStyle/>
                    <a:p>
                      <a:pPr algn="l" indent="0" marL="0">
                        <a:buNone/>
                      </a:pPr>
                      <a:r>
                        <a:rPr lang="en-US" sz="1250" b="1" dirty="0">
                          <a:solidFill>
                            <a:srgbClr val="1B2540"/>
                          </a:solidFill>
                          <a:latin typeface="Calibri" pitchFamily="34" charset="0"/>
                          <a:ea typeface="Calibri" pitchFamily="34" charset="-122"/>
                          <a:cs typeface="Calibri" pitchFamily="34" charset="-120"/>
                        </a:rPr>
                        <a:t>Hình diều</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S = ½ · d₁ · d₂</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P = 2 · (a + b)</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D2433"/>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B2540"/>
                          </a:solidFill>
                          <a:latin typeface="Calibri" pitchFamily="34" charset="0"/>
                          <a:ea typeface="Calibri" pitchFamily="34" charset="-122"/>
                          <a:cs typeface="Calibri" pitchFamily="34" charset="-120"/>
                        </a:rPr>
                        <a:t>Hình thang vuông</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S = ½ · (a + b) · h</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P = a + b + h + c</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ctr" indent="0" marL="0">
                        <a:buNone/>
                      </a:pPr>
                      <a:r>
                        <a:rPr lang="en-US" sz="1250" dirty="0">
                          <a:solidFill>
                            <a:srgbClr val="1D2433"/>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r>
              <a:tr h="457200">
                <a:tc>
                  <a:txBody>
                    <a:bodyPr/>
                    <a:lstStyle/>
                    <a:p>
                      <a:pPr algn="l" indent="0" marL="0">
                        <a:buNone/>
                      </a:pPr>
                      <a:r>
                        <a:rPr lang="en-US" sz="1250" b="1" dirty="0">
                          <a:solidFill>
                            <a:srgbClr val="1B2540"/>
                          </a:solidFill>
                          <a:latin typeface="Calibri" pitchFamily="34" charset="0"/>
                          <a:ea typeface="Calibri" pitchFamily="34" charset="-122"/>
                          <a:cs typeface="Calibri" pitchFamily="34" charset="-120"/>
                        </a:rPr>
                        <a:t>Hình thang cân</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S = ½ · (a + b) · h</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P = a + b + 2c</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D2433"/>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B2540"/>
                          </a:solidFill>
                          <a:latin typeface="Calibri" pitchFamily="34" charset="0"/>
                          <a:ea typeface="Calibri" pitchFamily="34" charset="-122"/>
                          <a:cs typeface="Calibri" pitchFamily="34" charset="-120"/>
                        </a:rPr>
                        <a:t>Hình bình hành</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S = a · hₐ   ;   S = a · b · sin α</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P = 2 · (a + b)</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ctr" indent="0" marL="0">
                        <a:buNone/>
                      </a:pPr>
                      <a:r>
                        <a:rPr lang="en-US" sz="1250" dirty="0">
                          <a:solidFill>
                            <a:srgbClr val="1D2433"/>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r>
              <a:tr h="457200">
                <a:tc>
                  <a:txBody>
                    <a:bodyPr/>
                    <a:lstStyle/>
                    <a:p>
                      <a:pPr algn="l" indent="0" marL="0">
                        <a:buNone/>
                      </a:pPr>
                      <a:r>
                        <a:rPr lang="en-US" sz="1250" b="1" dirty="0">
                          <a:solidFill>
                            <a:srgbClr val="1B2540"/>
                          </a:solidFill>
                          <a:latin typeface="Calibri" pitchFamily="34" charset="0"/>
                          <a:ea typeface="Calibri" pitchFamily="34" charset="-122"/>
                          <a:cs typeface="Calibri" pitchFamily="34" charset="-120"/>
                        </a:rPr>
                        <a:t>Hình chữ nhật</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S = a · b</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P = 2 · (a + b)</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D2433"/>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B2540"/>
                          </a:solidFill>
                          <a:latin typeface="Calibri" pitchFamily="34" charset="0"/>
                          <a:ea typeface="Calibri" pitchFamily="34" charset="-122"/>
                          <a:cs typeface="Calibri" pitchFamily="34" charset="-120"/>
                        </a:rPr>
                        <a:t>Hình thoi</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S = ½ · d₁ · d₂   ;   S = a · h   ;   S = a² · sin α</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P = 4a</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c>
                  <a:txBody>
                    <a:bodyPr/>
                    <a:lstStyle/>
                    <a:p>
                      <a:pPr algn="ctr" indent="0" marL="0">
                        <a:buNone/>
                      </a:pPr>
                      <a:r>
                        <a:rPr lang="en-US" sz="1250" dirty="0">
                          <a:solidFill>
                            <a:srgbClr val="1D2433"/>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7F8FB"/>
                    </a:solidFill>
                  </a:tcPr>
                </a:tc>
              </a:tr>
              <a:tr h="457200">
                <a:tc>
                  <a:txBody>
                    <a:bodyPr/>
                    <a:lstStyle/>
                    <a:p>
                      <a:pPr algn="l" indent="0" marL="0">
                        <a:buNone/>
                      </a:pPr>
                      <a:r>
                        <a:rPr lang="en-US" sz="1250" b="1" dirty="0">
                          <a:solidFill>
                            <a:srgbClr val="1B2540"/>
                          </a:solidFill>
                          <a:latin typeface="Calibri" pitchFamily="34" charset="0"/>
                          <a:ea typeface="Calibri" pitchFamily="34" charset="-122"/>
                          <a:cs typeface="Calibri" pitchFamily="34" charset="-120"/>
                        </a:rPr>
                        <a:t>Hình vuông</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S = a²   ;   S = d² / 2</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D2433"/>
                          </a:solidFill>
                          <a:latin typeface="Cambria" pitchFamily="34" charset="0"/>
                          <a:ea typeface="Cambria" pitchFamily="34" charset="-122"/>
                          <a:cs typeface="Cambria" pitchFamily="34" charset="-120"/>
                        </a:rPr>
                        <a:t>P = 4a</a:t>
                      </a:r>
                      <a:endParaRPr lang="en-US" sz="1250" dirty="0">
                        <a:latin typeface="Cambria" charset="0"/>
                        <a:ea typeface="Cambria" charset="0"/>
                        <a:cs typeface="Cambria"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D2433"/>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54864" marR="54864" marT="54864" marB="54864"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8092440" y="1463040"/>
            <a:ext cx="3566160" cy="365760"/>
          </a:xfrm>
          <a:prstGeom prst="rect">
            <a:avLst/>
          </a:prstGeom>
          <a:noFill/>
          <a:ln/>
        </p:spPr>
        <p:txBody>
          <a:bodyPr wrap="square" lIns="0" tIns="0" rIns="0" bIns="0" rtlCol="0" anchor="t"/>
          <a:lstStyle/>
          <a:p>
            <a:pPr indent="0" marL="0">
              <a:buNone/>
            </a:pPr>
            <a:r>
              <a:rPr lang="en-US" sz="1500" b="1" dirty="0">
                <a:solidFill>
                  <a:srgbClr val="1B2540"/>
                </a:solidFill>
                <a:latin typeface="Calibri" pitchFamily="34" charset="0"/>
                <a:ea typeface="Calibri" pitchFamily="34" charset="-122"/>
                <a:cs typeface="Calibri" pitchFamily="34" charset="-120"/>
              </a:rPr>
              <a:t>Một công thức được lưu như sau:</a:t>
            </a:r>
            <a:endParaRPr lang="en-US" sz="1500" dirty="0"/>
          </a:p>
        </p:txBody>
      </p:sp>
      <p:sp>
        <p:nvSpPr>
          <p:cNvPr id="10" name="Shape 7"/>
          <p:cNvSpPr/>
          <p:nvPr/>
        </p:nvSpPr>
        <p:spPr>
          <a:xfrm>
            <a:off x="8092440" y="1874520"/>
            <a:ext cx="3566160" cy="2240280"/>
          </a:xfrm>
          <a:prstGeom prst="roundRect">
            <a:avLst>
              <a:gd name="adj" fmla="val 4082"/>
            </a:avLst>
          </a:prstGeom>
          <a:solidFill>
            <a:srgbClr val="0F1729"/>
          </a:solidFill>
          <a:ln w="12700">
            <a:solidFill>
              <a:srgbClr val="0F1729"/>
            </a:solidFill>
            <a:prstDash val="solid"/>
          </a:ln>
        </p:spPr>
      </p:sp>
      <p:sp>
        <p:nvSpPr>
          <p:cNvPr id="11" name="Text 8"/>
          <p:cNvSpPr txBox="1"/>
          <p:nvPr/>
        </p:nvSpPr>
        <p:spPr>
          <a:xfrm>
            <a:off x="8321040" y="2039112"/>
            <a:ext cx="3108960" cy="1911096"/>
          </a:xfrm>
          <a:prstGeom prst="rect">
            <a:avLst/>
          </a:prstGeom>
          <a:noFill/>
          <a:ln/>
        </p:spPr>
        <p:txBody>
          <a:bodyPr wrap="square" lIns="0" tIns="0" rIns="0" bIns="0" rtlCol="0" anchor="t"/>
          <a:lstStyle/>
          <a:p>
            <a:pPr indent="0" marL="0">
              <a:buNone/>
            </a:pPr>
            <a:r>
              <a:rPr lang="en-US" sz="1200" dirty="0">
                <a:solidFill>
                  <a:srgbClr val="D6E2FF"/>
                </a:solidFill>
                <a:latin typeface="Consolas" pitchFamily="34" charset="0"/>
                <a:ea typeface="Consolas" pitchFamily="34" charset="-122"/>
                <a:cs typeface="Consolas" pitchFamily="34" charset="-120"/>
              </a:rPr>
              <a:t>(:Hinh {ten:'Hình thoi'})</a:t>
            </a:r>
            <a:endParaRPr lang="en-US" sz="1200" dirty="0"/>
          </a:p>
          <a:p>
            <a:pPr indent="0" marL="0">
              <a:buNone/>
            </a:pPr>
            <a:r>
              <a:rPr lang="en-US" sz="1200" dirty="0">
                <a:solidFill>
                  <a:srgbClr val="D6E2FF"/>
                </a:solidFill>
                <a:latin typeface="Consolas" pitchFamily="34" charset="0"/>
                <a:ea typeface="Consolas" pitchFamily="34" charset="-122"/>
                <a:cs typeface="Consolas" pitchFamily="34" charset="-120"/>
              </a:rPr>
              <a:t>  -[:CO_CONG_THUC]-&gt;</a:t>
            </a:r>
            <a:endParaRPr lang="en-US" sz="1200" dirty="0"/>
          </a:p>
          <a:p>
            <a:pPr indent="0" marL="0">
              <a:buNone/>
            </a:pPr>
            <a:r>
              <a:rPr lang="en-US" sz="1200" dirty="0">
                <a:solidFill>
                  <a:srgbClr val="D6E2FF"/>
                </a:solidFill>
                <a:latin typeface="Consolas" pitchFamily="34" charset="0"/>
                <a:ea typeface="Consolas" pitchFamily="34" charset="-122"/>
                <a:cs typeface="Consolas" pitchFamily="34" charset="-120"/>
              </a:rPr>
              <a:t>(c:CongThuc {</a:t>
            </a:r>
            <a:endParaRPr lang="en-US" sz="1200" dirty="0"/>
          </a:p>
          <a:p>
            <a:pPr indent="0" marL="0">
              <a:buNone/>
            </a:pPr>
            <a:r>
              <a:rPr lang="en-US" sz="1200" dirty="0">
                <a:solidFill>
                  <a:srgbClr val="D6E2FF"/>
                </a:solidFill>
                <a:latin typeface="Consolas" pitchFamily="34" charset="0"/>
                <a:ea typeface="Consolas" pitchFamily="34" charset="-122"/>
                <a:cs typeface="Consolas" pitchFamily="34" charset="-120"/>
              </a:rPr>
              <a:t>  hien_thi: 'S = ½·d₁·d₂',</a:t>
            </a:r>
            <a:endParaRPr lang="en-US" sz="1200" dirty="0"/>
          </a:p>
          <a:p>
            <a:pPr indent="0" marL="0">
              <a:buNone/>
            </a:pPr>
            <a:r>
              <a:rPr lang="en-US" sz="1200" dirty="0">
                <a:solidFill>
                  <a:srgbClr val="D6E2FF"/>
                </a:solidFill>
                <a:latin typeface="Consolas" pitchFamily="34" charset="0"/>
                <a:ea typeface="Consolas" pitchFamily="34" charset="-122"/>
                <a:cs typeface="Consolas" pitchFamily="34" charset="-120"/>
              </a:rPr>
              <a:t>  bieu_thuc: '0.5*d1*d2'})</a:t>
            </a:r>
            <a:endParaRPr lang="en-US" sz="1200" dirty="0"/>
          </a:p>
          <a:p>
            <a:pPr indent="0" marL="0">
              <a:buNone/>
            </a:pPr>
            <a:r>
              <a:rPr lang="en-US" sz="1200" dirty="0">
                <a:solidFill>
                  <a:srgbClr val="D6E2FF"/>
                </a:solidFill>
                <a:latin typeface="Consolas" pitchFamily="34" charset="0"/>
                <a:ea typeface="Consolas" pitchFamily="34" charset="-122"/>
                <a:cs typeface="Consolas" pitchFamily="34" charset="-120"/>
              </a:rPr>
              <a:t>(c)-[:CAN_BIEN]-&gt;(d₁), (d₂)</a:t>
            </a:r>
            <a:endParaRPr lang="en-US" sz="1200" dirty="0"/>
          </a:p>
          <a:p>
            <a:pPr indent="0" marL="0">
              <a:buNone/>
            </a:pPr>
            <a:r>
              <a:rPr lang="en-US" sz="1200" dirty="0">
                <a:solidFill>
                  <a:srgbClr val="D6E2FF"/>
                </a:solidFill>
                <a:latin typeface="Consolas" pitchFamily="34" charset="0"/>
                <a:ea typeface="Consolas" pitchFamily="34" charset="-122"/>
                <a:cs typeface="Consolas" pitchFamily="34" charset="-120"/>
              </a:rPr>
              <a:t>(c)-[:TINH_RA]-&gt;(S)</a:t>
            </a:r>
            <a:endParaRPr lang="en-US" sz="1200" dirty="0"/>
          </a:p>
        </p:txBody>
      </p:sp>
      <p:sp>
        <p:nvSpPr>
          <p:cNvPr id="12" name="Shape 9"/>
          <p:cNvSpPr/>
          <p:nvPr/>
        </p:nvSpPr>
        <p:spPr>
          <a:xfrm>
            <a:off x="8092440" y="4389120"/>
            <a:ext cx="3566160" cy="1645920"/>
          </a:xfrm>
          <a:prstGeom prst="roundRect">
            <a:avLst>
              <a:gd name="adj" fmla="val 6667"/>
            </a:avLst>
          </a:prstGeom>
          <a:solidFill>
            <a:srgbClr val="E3F6EE"/>
          </a:solidFill>
          <a:ln w="9525">
            <a:solidFill>
              <a:srgbClr val="E3F6EE"/>
            </a:solidFill>
            <a:prstDash val="solid"/>
          </a:ln>
        </p:spPr>
      </p:sp>
      <p:sp>
        <p:nvSpPr>
          <p:cNvPr id="13" name="Text 10"/>
          <p:cNvSpPr txBox="1"/>
          <p:nvPr/>
        </p:nvSpPr>
        <p:spPr>
          <a:xfrm>
            <a:off x="8275320" y="4572000"/>
            <a:ext cx="3200400" cy="1325880"/>
          </a:xfrm>
          <a:prstGeom prst="rect">
            <a:avLst/>
          </a:prstGeom>
          <a:noFill/>
          <a:ln/>
        </p:spPr>
        <p:txBody>
          <a:bodyPr wrap="square" lIns="0" tIns="0" rIns="0" bIns="0" rtlCol="0" anchor="t"/>
          <a:lstStyle/>
          <a:p>
            <a:pPr indent="0" marL="0">
              <a:buNone/>
            </a:pPr>
            <a:r>
              <a:rPr lang="en-US" sz="1400" dirty="0">
                <a:solidFill>
                  <a:srgbClr val="1D2433"/>
                </a:solidFill>
                <a:latin typeface="Calibri" pitchFamily="34" charset="0"/>
                <a:ea typeface="Calibri" pitchFamily="34" charset="-122"/>
                <a:cs typeface="Calibri" pitchFamily="34" charset="-120"/>
              </a:rPr>
              <a:t>Muốn thêm công thức mới chỉ cần thêm một dòng vào data/cong_thuc.py rồi nạp lại — không phải sửa bộ tính toán.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Kết quả đạt được</a:t>
            </a:r>
            <a:endParaRPr lang="en-US" sz="3200" dirty="0"/>
          </a:p>
        </p:txBody>
      </p:sp>
      <p:sp>
        <p:nvSpPr>
          <p:cNvPr id="5" name="Text 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6" name="Text 4"/>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15</a:t>
            </a:r>
            <a:endParaRPr lang="en-US" sz="1000" dirty="0"/>
          </a:p>
        </p:txBody>
      </p:sp>
      <p:sp>
        <p:nvSpPr>
          <p:cNvPr id="7" name="Shape 5"/>
          <p:cNvSpPr/>
          <p:nvPr/>
        </p:nvSpPr>
        <p:spPr>
          <a:xfrm>
            <a:off x="548640" y="1417320"/>
            <a:ext cx="2606040" cy="1737360"/>
          </a:xfrm>
          <a:prstGeom prst="roundRect">
            <a:avLst>
              <a:gd name="adj" fmla="val 6316"/>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8" name="Text 6"/>
          <p:cNvSpPr txBox="1"/>
          <p:nvPr/>
        </p:nvSpPr>
        <p:spPr>
          <a:xfrm>
            <a:off x="548640" y="1554480"/>
            <a:ext cx="2606040" cy="868680"/>
          </a:xfrm>
          <a:prstGeom prst="rect">
            <a:avLst/>
          </a:prstGeom>
          <a:noFill/>
          <a:ln/>
        </p:spPr>
        <p:txBody>
          <a:bodyPr wrap="square" lIns="0" tIns="0" rIns="0" bIns="0" rtlCol="0" anchor="t"/>
          <a:lstStyle/>
          <a:p>
            <a:pPr algn="ctr" indent="0" marL="0">
              <a:buNone/>
            </a:pPr>
            <a:r>
              <a:rPr lang="en-US" sz="4400" b="1" dirty="0">
                <a:solidFill>
                  <a:srgbClr val="2F5BEA"/>
                </a:solidFill>
                <a:latin typeface="Cambria" pitchFamily="34" charset="0"/>
                <a:ea typeface="Cambria" pitchFamily="34" charset="-122"/>
                <a:cs typeface="Cambria" pitchFamily="34" charset="-120"/>
              </a:rPr>
              <a:t>26</a:t>
            </a:r>
            <a:endParaRPr lang="en-US" sz="4400" dirty="0"/>
          </a:p>
        </p:txBody>
      </p:sp>
      <p:sp>
        <p:nvSpPr>
          <p:cNvPr id="9" name="Text 7"/>
          <p:cNvSpPr txBox="1"/>
          <p:nvPr/>
        </p:nvSpPr>
        <p:spPr>
          <a:xfrm>
            <a:off x="731520" y="2423160"/>
            <a:ext cx="2240280" cy="640080"/>
          </a:xfrm>
          <a:prstGeom prst="rect">
            <a:avLst/>
          </a:prstGeom>
          <a:noFill/>
          <a:ln/>
        </p:spPr>
        <p:txBody>
          <a:bodyPr wrap="square" lIns="0" tIns="0" rIns="0" bIns="0" rtlCol="0" anchor="t"/>
          <a:lstStyle/>
          <a:p>
            <a:pPr algn="ctr" indent="0" marL="0">
              <a:buNone/>
            </a:pPr>
            <a:r>
              <a:rPr lang="en-US" sz="1350" dirty="0">
                <a:solidFill>
                  <a:srgbClr val="5B6478"/>
                </a:solidFill>
                <a:latin typeface="Calibri" pitchFamily="34" charset="0"/>
                <a:ea typeface="Calibri" pitchFamily="34" charset="-122"/>
                <a:cs typeface="Calibri" pitchFamily="34" charset="-120"/>
              </a:rPr>
              <a:t>dấu hiệu nhận biết</a:t>
            </a:r>
            <a:endParaRPr lang="en-US" sz="1350" dirty="0"/>
          </a:p>
        </p:txBody>
      </p:sp>
      <p:sp>
        <p:nvSpPr>
          <p:cNvPr id="10" name="Shape 8"/>
          <p:cNvSpPr/>
          <p:nvPr/>
        </p:nvSpPr>
        <p:spPr>
          <a:xfrm>
            <a:off x="3383280" y="1417320"/>
            <a:ext cx="2606040" cy="1737360"/>
          </a:xfrm>
          <a:prstGeom prst="roundRect">
            <a:avLst>
              <a:gd name="adj" fmla="val 6316"/>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1" name="Text 9"/>
          <p:cNvSpPr txBox="1"/>
          <p:nvPr/>
        </p:nvSpPr>
        <p:spPr>
          <a:xfrm>
            <a:off x="3383280" y="1554480"/>
            <a:ext cx="2606040" cy="868680"/>
          </a:xfrm>
          <a:prstGeom prst="rect">
            <a:avLst/>
          </a:prstGeom>
          <a:noFill/>
          <a:ln/>
        </p:spPr>
        <p:txBody>
          <a:bodyPr wrap="square" lIns="0" tIns="0" rIns="0" bIns="0" rtlCol="0" anchor="t"/>
          <a:lstStyle/>
          <a:p>
            <a:pPr algn="ctr" indent="0" marL="0">
              <a:buNone/>
            </a:pPr>
            <a:r>
              <a:rPr lang="en-US" sz="4400" b="1" dirty="0">
                <a:solidFill>
                  <a:srgbClr val="2F5BEA"/>
                </a:solidFill>
                <a:latin typeface="Cambria" pitchFamily="34" charset="0"/>
                <a:ea typeface="Cambria" pitchFamily="34" charset="-122"/>
                <a:cs typeface="Cambria" pitchFamily="34" charset="-120"/>
              </a:rPr>
              <a:t>68</a:t>
            </a:r>
            <a:endParaRPr lang="en-US" sz="4400" dirty="0"/>
          </a:p>
        </p:txBody>
      </p:sp>
      <p:sp>
        <p:nvSpPr>
          <p:cNvPr id="12" name="Text 10"/>
          <p:cNvSpPr txBox="1"/>
          <p:nvPr/>
        </p:nvSpPr>
        <p:spPr>
          <a:xfrm>
            <a:off x="3566160" y="2423160"/>
            <a:ext cx="2240280" cy="640080"/>
          </a:xfrm>
          <a:prstGeom prst="rect">
            <a:avLst/>
          </a:prstGeom>
          <a:noFill/>
          <a:ln/>
        </p:spPr>
        <p:txBody>
          <a:bodyPr wrap="square" lIns="0" tIns="0" rIns="0" bIns="0" rtlCol="0" anchor="t"/>
          <a:lstStyle/>
          <a:p>
            <a:pPr algn="ctr" indent="0" marL="0">
              <a:buNone/>
            </a:pPr>
            <a:r>
              <a:rPr lang="en-US" sz="1350" dirty="0">
                <a:solidFill>
                  <a:srgbClr val="5B6478"/>
                </a:solidFill>
                <a:latin typeface="Calibri" pitchFamily="34" charset="0"/>
                <a:ea typeface="Calibri" pitchFamily="34" charset="-122"/>
                <a:cs typeface="Calibri" pitchFamily="34" charset="-120"/>
              </a:rPr>
              <a:t>công thức tính toán</a:t>
            </a:r>
            <a:endParaRPr lang="en-US" sz="1350" dirty="0"/>
          </a:p>
        </p:txBody>
      </p:sp>
      <p:sp>
        <p:nvSpPr>
          <p:cNvPr id="13" name="Shape 11"/>
          <p:cNvSpPr/>
          <p:nvPr/>
        </p:nvSpPr>
        <p:spPr>
          <a:xfrm>
            <a:off x="6217920" y="1417320"/>
            <a:ext cx="2606040" cy="1737360"/>
          </a:xfrm>
          <a:prstGeom prst="roundRect">
            <a:avLst>
              <a:gd name="adj" fmla="val 6316"/>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4" name="Text 12"/>
          <p:cNvSpPr txBox="1"/>
          <p:nvPr/>
        </p:nvSpPr>
        <p:spPr>
          <a:xfrm>
            <a:off x="6217920" y="1554480"/>
            <a:ext cx="2606040" cy="868680"/>
          </a:xfrm>
          <a:prstGeom prst="rect">
            <a:avLst/>
          </a:prstGeom>
          <a:noFill/>
          <a:ln/>
        </p:spPr>
        <p:txBody>
          <a:bodyPr wrap="square" lIns="0" tIns="0" rIns="0" bIns="0" rtlCol="0" anchor="t"/>
          <a:lstStyle/>
          <a:p>
            <a:pPr algn="ctr" indent="0" marL="0">
              <a:buNone/>
            </a:pPr>
            <a:r>
              <a:rPr lang="en-US" sz="4400" b="1" dirty="0">
                <a:solidFill>
                  <a:srgbClr val="0F8A5F"/>
                </a:solidFill>
                <a:latin typeface="Cambria" pitchFamily="34" charset="0"/>
                <a:ea typeface="Cambria" pitchFamily="34" charset="-122"/>
                <a:cs typeface="Cambria" pitchFamily="34" charset="-120"/>
              </a:rPr>
              <a:t>115</a:t>
            </a:r>
            <a:endParaRPr lang="en-US" sz="4400" dirty="0"/>
          </a:p>
        </p:txBody>
      </p:sp>
      <p:sp>
        <p:nvSpPr>
          <p:cNvPr id="15" name="Text 13"/>
          <p:cNvSpPr txBox="1"/>
          <p:nvPr/>
        </p:nvSpPr>
        <p:spPr>
          <a:xfrm>
            <a:off x="6400800" y="2423160"/>
            <a:ext cx="2240280" cy="640080"/>
          </a:xfrm>
          <a:prstGeom prst="rect">
            <a:avLst/>
          </a:prstGeom>
          <a:noFill/>
          <a:ln/>
        </p:spPr>
        <p:txBody>
          <a:bodyPr wrap="square" lIns="0" tIns="0" rIns="0" bIns="0" rtlCol="0" anchor="t"/>
          <a:lstStyle/>
          <a:p>
            <a:pPr algn="ctr" indent="0" marL="0">
              <a:buNone/>
            </a:pPr>
            <a:r>
              <a:rPr lang="en-US" sz="1350" dirty="0">
                <a:solidFill>
                  <a:srgbClr val="5B6478"/>
                </a:solidFill>
                <a:latin typeface="Calibri" pitchFamily="34" charset="0"/>
                <a:ea typeface="Calibri" pitchFamily="34" charset="-122"/>
                <a:cs typeface="Calibri" pitchFamily="34" charset="-120"/>
              </a:rPr>
              <a:t>truy vấn khớp kết quả trên Neo4j thật</a:t>
            </a:r>
            <a:endParaRPr lang="en-US" sz="1350" dirty="0"/>
          </a:p>
        </p:txBody>
      </p:sp>
      <p:sp>
        <p:nvSpPr>
          <p:cNvPr id="16" name="Shape 14"/>
          <p:cNvSpPr/>
          <p:nvPr/>
        </p:nvSpPr>
        <p:spPr>
          <a:xfrm>
            <a:off x="9052560" y="1417320"/>
            <a:ext cx="2606040" cy="1737360"/>
          </a:xfrm>
          <a:prstGeom prst="roundRect">
            <a:avLst>
              <a:gd name="adj" fmla="val 6316"/>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17" name="Text 15"/>
          <p:cNvSpPr txBox="1"/>
          <p:nvPr/>
        </p:nvSpPr>
        <p:spPr>
          <a:xfrm>
            <a:off x="9052560" y="1554480"/>
            <a:ext cx="2606040" cy="868680"/>
          </a:xfrm>
          <a:prstGeom prst="rect">
            <a:avLst/>
          </a:prstGeom>
          <a:noFill/>
          <a:ln/>
        </p:spPr>
        <p:txBody>
          <a:bodyPr wrap="square" lIns="0" tIns="0" rIns="0" bIns="0" rtlCol="0" anchor="t"/>
          <a:lstStyle/>
          <a:p>
            <a:pPr algn="ctr" indent="0" marL="0">
              <a:buNone/>
            </a:pPr>
            <a:r>
              <a:rPr lang="en-US" sz="4400" b="1" dirty="0">
                <a:solidFill>
                  <a:srgbClr val="0F8A5F"/>
                </a:solidFill>
                <a:latin typeface="Cambria" pitchFamily="34" charset="0"/>
                <a:ea typeface="Cambria" pitchFamily="34" charset="-122"/>
                <a:cs typeface="Cambria" pitchFamily="34" charset="-120"/>
              </a:rPr>
              <a:t>32/32</a:t>
            </a:r>
            <a:endParaRPr lang="en-US" sz="4400" dirty="0"/>
          </a:p>
        </p:txBody>
      </p:sp>
      <p:sp>
        <p:nvSpPr>
          <p:cNvPr id="18" name="Text 16"/>
          <p:cNvSpPr txBox="1"/>
          <p:nvPr/>
        </p:nvSpPr>
        <p:spPr>
          <a:xfrm>
            <a:off x="9235440" y="2423160"/>
            <a:ext cx="2240280" cy="640080"/>
          </a:xfrm>
          <a:prstGeom prst="rect">
            <a:avLst/>
          </a:prstGeom>
          <a:noFill/>
          <a:ln/>
        </p:spPr>
        <p:txBody>
          <a:bodyPr wrap="square" lIns="0" tIns="0" rIns="0" bIns="0" rtlCol="0" anchor="t"/>
          <a:lstStyle/>
          <a:p>
            <a:pPr algn="ctr" indent="0" marL="0">
              <a:buNone/>
            </a:pPr>
            <a:r>
              <a:rPr lang="en-US" sz="1350" dirty="0">
                <a:solidFill>
                  <a:srgbClr val="5B6478"/>
                </a:solidFill>
                <a:latin typeface="Calibri" pitchFamily="34" charset="0"/>
                <a:ea typeface="Calibri" pitchFamily="34" charset="-122"/>
                <a:cs typeface="Calibri" pitchFamily="34" charset="-120"/>
              </a:rPr>
              <a:t>ca kiểm thử tự động đạt</a:t>
            </a:r>
            <a:endParaRPr lang="en-US" sz="1350" dirty="0"/>
          </a:p>
        </p:txBody>
      </p:sp>
      <p:sp>
        <p:nvSpPr>
          <p:cNvPr id="19" name="Shape 17"/>
          <p:cNvSpPr/>
          <p:nvPr/>
        </p:nvSpPr>
        <p:spPr>
          <a:xfrm>
            <a:off x="548640" y="3520440"/>
            <a:ext cx="5440680" cy="1188720"/>
          </a:xfrm>
          <a:prstGeom prst="roundRect">
            <a:avLst>
              <a:gd name="adj" fmla="val 9231"/>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20" name="Shape 18"/>
          <p:cNvSpPr/>
          <p:nvPr/>
        </p:nvSpPr>
        <p:spPr>
          <a:xfrm>
            <a:off x="777240" y="3867912"/>
            <a:ext cx="502920" cy="502920"/>
          </a:xfrm>
          <a:prstGeom prst="ellipse">
            <a:avLst/>
          </a:prstGeom>
          <a:solidFill>
            <a:srgbClr val="0F8A5F"/>
          </a:solidFill>
          <a:ln w="12700">
            <a:solidFill>
              <a:srgbClr val="0F8A5F"/>
            </a:solidFill>
            <a:prstDash val="solid"/>
          </a:ln>
        </p:spPr>
      </p:sp>
      <p:sp>
        <p:nvSpPr>
          <p:cNvPr id="21" name="Text 19"/>
          <p:cNvSpPr txBox="1"/>
          <p:nvPr/>
        </p:nvSpPr>
        <p:spPr>
          <a:xfrm>
            <a:off x="777240" y="38679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txBox="1"/>
          <p:nvPr/>
        </p:nvSpPr>
        <p:spPr>
          <a:xfrm>
            <a:off x="1463040" y="3703320"/>
            <a:ext cx="4389120" cy="411480"/>
          </a:xfrm>
          <a:prstGeom prst="rect">
            <a:avLst/>
          </a:prstGeom>
          <a:noFill/>
          <a:ln/>
        </p:spPr>
        <p:txBody>
          <a:bodyPr wrap="square" lIns="0" tIns="0" rIns="0" bIns="0" rtlCol="0" anchor="t"/>
          <a:lstStyle/>
          <a:p>
            <a:pPr indent="0" marL="0">
              <a:buNone/>
            </a:pPr>
            <a:r>
              <a:rPr lang="en-US" sz="1700" b="1" dirty="0">
                <a:solidFill>
                  <a:srgbClr val="1B2540"/>
                </a:solidFill>
                <a:latin typeface="Calibri" pitchFamily="34" charset="0"/>
                <a:ea typeface="Calibri" pitchFamily="34" charset="-122"/>
                <a:cs typeface="Calibri" pitchFamily="34" charset="-120"/>
              </a:rPr>
              <a:t>Nhận dạng tứ giác</a:t>
            </a:r>
            <a:endParaRPr lang="en-US" sz="1700" dirty="0"/>
          </a:p>
        </p:txBody>
      </p:sp>
      <p:sp>
        <p:nvSpPr>
          <p:cNvPr id="23" name="Text 21"/>
          <p:cNvSpPr txBox="1"/>
          <p:nvPr/>
        </p:nvSpPr>
        <p:spPr>
          <a:xfrm>
            <a:off x="1463040" y="4114800"/>
            <a:ext cx="4389120" cy="502920"/>
          </a:xfrm>
          <a:prstGeom prst="rect">
            <a:avLst/>
          </a:prstGeom>
          <a:noFill/>
          <a:ln/>
        </p:spPr>
        <p:txBody>
          <a:bodyPr wrap="square" lIns="0" tIns="0" rIns="0" bIns="0" rtlCol="0" anchor="t"/>
          <a:lstStyle/>
          <a:p>
            <a:pPr indent="0" marL="0">
              <a:buNone/>
            </a:pPr>
            <a:r>
              <a:rPr lang="en-US" sz="1350" dirty="0">
                <a:solidFill>
                  <a:srgbClr val="5B6478"/>
                </a:solidFill>
                <a:latin typeface="Calibri" pitchFamily="34" charset="0"/>
                <a:ea typeface="Calibri" pitchFamily="34" charset="-122"/>
                <a:cs typeface="Calibri" pitchFamily="34" charset="-120"/>
              </a:rPr>
              <a:t>Lời giải từng bước, phát hiện thiếu dữ kiện và mâu thuẫn</a:t>
            </a:r>
            <a:endParaRPr lang="en-US" sz="1350" dirty="0"/>
          </a:p>
        </p:txBody>
      </p:sp>
      <p:sp>
        <p:nvSpPr>
          <p:cNvPr id="24" name="Shape 22"/>
          <p:cNvSpPr/>
          <p:nvPr/>
        </p:nvSpPr>
        <p:spPr>
          <a:xfrm>
            <a:off x="6172200" y="3520440"/>
            <a:ext cx="5440680" cy="1188720"/>
          </a:xfrm>
          <a:prstGeom prst="roundRect">
            <a:avLst>
              <a:gd name="adj" fmla="val 9231"/>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25" name="Shape 23"/>
          <p:cNvSpPr/>
          <p:nvPr/>
        </p:nvSpPr>
        <p:spPr>
          <a:xfrm>
            <a:off x="6400800" y="3867912"/>
            <a:ext cx="502920" cy="502920"/>
          </a:xfrm>
          <a:prstGeom prst="ellipse">
            <a:avLst/>
          </a:prstGeom>
          <a:solidFill>
            <a:srgbClr val="0F8A5F"/>
          </a:solidFill>
          <a:ln w="12700">
            <a:solidFill>
              <a:srgbClr val="0F8A5F"/>
            </a:solidFill>
            <a:prstDash val="solid"/>
          </a:ln>
        </p:spPr>
      </p:sp>
      <p:sp>
        <p:nvSpPr>
          <p:cNvPr id="26" name="Text 24"/>
          <p:cNvSpPr txBox="1"/>
          <p:nvPr/>
        </p:nvSpPr>
        <p:spPr>
          <a:xfrm>
            <a:off x="6400800" y="38679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txBox="1"/>
          <p:nvPr/>
        </p:nvSpPr>
        <p:spPr>
          <a:xfrm>
            <a:off x="7086600" y="3703320"/>
            <a:ext cx="4389120" cy="411480"/>
          </a:xfrm>
          <a:prstGeom prst="rect">
            <a:avLst/>
          </a:prstGeom>
          <a:noFill/>
          <a:ln/>
        </p:spPr>
        <p:txBody>
          <a:bodyPr wrap="square" lIns="0" tIns="0" rIns="0" bIns="0" rtlCol="0" anchor="t"/>
          <a:lstStyle/>
          <a:p>
            <a:pPr indent="0" marL="0">
              <a:buNone/>
            </a:pPr>
            <a:r>
              <a:rPr lang="en-US" sz="1700" b="1" dirty="0">
                <a:solidFill>
                  <a:srgbClr val="1B2540"/>
                </a:solidFill>
                <a:latin typeface="Calibri" pitchFamily="34" charset="0"/>
                <a:ea typeface="Calibri" pitchFamily="34" charset="-122"/>
                <a:cs typeface="Calibri" pitchFamily="34" charset="-120"/>
              </a:rPr>
              <a:t>Tính diện tích, chu vi</a:t>
            </a:r>
            <a:endParaRPr lang="en-US" sz="1700" dirty="0"/>
          </a:p>
        </p:txBody>
      </p:sp>
      <p:sp>
        <p:nvSpPr>
          <p:cNvPr id="28" name="Text 26"/>
          <p:cNvSpPr txBox="1"/>
          <p:nvPr/>
        </p:nvSpPr>
        <p:spPr>
          <a:xfrm>
            <a:off x="7086600" y="4114800"/>
            <a:ext cx="4389120" cy="502920"/>
          </a:xfrm>
          <a:prstGeom prst="rect">
            <a:avLst/>
          </a:prstGeom>
          <a:noFill/>
          <a:ln/>
        </p:spPr>
        <p:txBody>
          <a:bodyPr wrap="square" lIns="0" tIns="0" rIns="0" bIns="0" rtlCol="0" anchor="t"/>
          <a:lstStyle/>
          <a:p>
            <a:pPr indent="0" marL="0">
              <a:buNone/>
            </a:pPr>
            <a:r>
              <a:rPr lang="en-US" sz="1350" dirty="0">
                <a:solidFill>
                  <a:srgbClr val="5B6478"/>
                </a:solidFill>
                <a:latin typeface="Calibri" pitchFamily="34" charset="0"/>
                <a:ea typeface="Calibri" pitchFamily="34" charset="-122"/>
                <a:cs typeface="Calibri" pitchFamily="34" charset="-120"/>
              </a:rPr>
              <a:t>Nhập số liệu bất kỳ, tính mọi đại lượng liên quan</a:t>
            </a:r>
            <a:endParaRPr lang="en-US" sz="1350" dirty="0"/>
          </a:p>
        </p:txBody>
      </p:sp>
      <p:sp>
        <p:nvSpPr>
          <p:cNvPr id="29" name="Shape 27"/>
          <p:cNvSpPr/>
          <p:nvPr/>
        </p:nvSpPr>
        <p:spPr>
          <a:xfrm>
            <a:off x="548640" y="4892040"/>
            <a:ext cx="5440680" cy="1188720"/>
          </a:xfrm>
          <a:prstGeom prst="roundRect">
            <a:avLst>
              <a:gd name="adj" fmla="val 9231"/>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30" name="Shape 28"/>
          <p:cNvSpPr/>
          <p:nvPr/>
        </p:nvSpPr>
        <p:spPr>
          <a:xfrm>
            <a:off x="777240" y="5239512"/>
            <a:ext cx="502920" cy="502920"/>
          </a:xfrm>
          <a:prstGeom prst="ellipse">
            <a:avLst/>
          </a:prstGeom>
          <a:solidFill>
            <a:srgbClr val="0F8A5F"/>
          </a:solidFill>
          <a:ln w="12700">
            <a:solidFill>
              <a:srgbClr val="0F8A5F"/>
            </a:solidFill>
            <a:prstDash val="solid"/>
          </a:ln>
        </p:spPr>
      </p:sp>
      <p:sp>
        <p:nvSpPr>
          <p:cNvPr id="31" name="Text 29"/>
          <p:cNvSpPr txBox="1"/>
          <p:nvPr/>
        </p:nvSpPr>
        <p:spPr>
          <a:xfrm>
            <a:off x="777240" y="52395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2" name="Text 30"/>
          <p:cNvSpPr txBox="1"/>
          <p:nvPr/>
        </p:nvSpPr>
        <p:spPr>
          <a:xfrm>
            <a:off x="1463040" y="5074920"/>
            <a:ext cx="4389120" cy="411480"/>
          </a:xfrm>
          <a:prstGeom prst="rect">
            <a:avLst/>
          </a:prstGeom>
          <a:noFill/>
          <a:ln/>
        </p:spPr>
        <p:txBody>
          <a:bodyPr wrap="square" lIns="0" tIns="0" rIns="0" bIns="0" rtlCol="0" anchor="t"/>
          <a:lstStyle/>
          <a:p>
            <a:pPr indent="0" marL="0">
              <a:buNone/>
            </a:pPr>
            <a:r>
              <a:rPr lang="en-US" sz="1700" b="1" dirty="0">
                <a:solidFill>
                  <a:srgbClr val="1B2540"/>
                </a:solidFill>
                <a:latin typeface="Calibri" pitchFamily="34" charset="0"/>
                <a:ea typeface="Calibri" pitchFamily="34" charset="-122"/>
                <a:cs typeface="Calibri" pitchFamily="34" charset="-120"/>
              </a:rPr>
              <a:t>Tra cứu &amp; đồ thị tri thức</a:t>
            </a:r>
            <a:endParaRPr lang="en-US" sz="1700" dirty="0"/>
          </a:p>
        </p:txBody>
      </p:sp>
      <p:sp>
        <p:nvSpPr>
          <p:cNvPr id="33" name="Text 31"/>
          <p:cNvSpPr txBox="1"/>
          <p:nvPr/>
        </p:nvSpPr>
        <p:spPr>
          <a:xfrm>
            <a:off x="1463040" y="5486400"/>
            <a:ext cx="4389120" cy="502920"/>
          </a:xfrm>
          <a:prstGeom prst="rect">
            <a:avLst/>
          </a:prstGeom>
          <a:noFill/>
          <a:ln/>
        </p:spPr>
        <p:txBody>
          <a:bodyPr wrap="square" lIns="0" tIns="0" rIns="0" bIns="0" rtlCol="0" anchor="t"/>
          <a:lstStyle/>
          <a:p>
            <a:pPr indent="0" marL="0">
              <a:buNone/>
            </a:pPr>
            <a:r>
              <a:rPr lang="en-US" sz="1350" dirty="0">
                <a:solidFill>
                  <a:srgbClr val="5B6478"/>
                </a:solidFill>
                <a:latin typeface="Calibri" pitchFamily="34" charset="0"/>
                <a:ea typeface="Calibri" pitchFamily="34" charset="-122"/>
                <a:cs typeface="Calibri" pitchFamily="34" charset="-120"/>
              </a:rPr>
              <a:t>Định nghĩa, tính chất kế thừa, dấu hiệu, công thức của từng hình</a:t>
            </a:r>
            <a:endParaRPr lang="en-US" sz="1350" dirty="0"/>
          </a:p>
        </p:txBody>
      </p:sp>
      <p:sp>
        <p:nvSpPr>
          <p:cNvPr id="34" name="Shape 32"/>
          <p:cNvSpPr/>
          <p:nvPr/>
        </p:nvSpPr>
        <p:spPr>
          <a:xfrm>
            <a:off x="6172200" y="4892040"/>
            <a:ext cx="5440680" cy="1188720"/>
          </a:xfrm>
          <a:prstGeom prst="roundRect">
            <a:avLst>
              <a:gd name="adj" fmla="val 9231"/>
            </a:avLst>
          </a:prstGeom>
          <a:solidFill>
            <a:srgbClr val="FFFFFF"/>
          </a:solidFill>
          <a:ln w="9525">
            <a:solidFill>
              <a:srgbClr val="DDE3EE"/>
            </a:solidFill>
            <a:prstDash val="solid"/>
          </a:ln>
          <a:effectLst>
            <a:outerShdw sx="100000" sy="100000" kx="0" ky="0" algn="bl" rotWithShape="0" blurRad="101600" dist="25400" dir="5400000">
              <a:srgbClr val="1B2540">
                <a:alpha val="12000"/>
              </a:srgbClr>
            </a:outerShdw>
          </a:effectLst>
        </p:spPr>
      </p:sp>
      <p:sp>
        <p:nvSpPr>
          <p:cNvPr id="35" name="Shape 33"/>
          <p:cNvSpPr/>
          <p:nvPr/>
        </p:nvSpPr>
        <p:spPr>
          <a:xfrm>
            <a:off x="6400800" y="5239512"/>
            <a:ext cx="502920" cy="502920"/>
          </a:xfrm>
          <a:prstGeom prst="ellipse">
            <a:avLst/>
          </a:prstGeom>
          <a:solidFill>
            <a:srgbClr val="0F8A5F"/>
          </a:solidFill>
          <a:ln w="12700">
            <a:solidFill>
              <a:srgbClr val="0F8A5F"/>
            </a:solidFill>
            <a:prstDash val="solid"/>
          </a:ln>
        </p:spPr>
      </p:sp>
      <p:sp>
        <p:nvSpPr>
          <p:cNvPr id="36" name="Text 34"/>
          <p:cNvSpPr txBox="1"/>
          <p:nvPr/>
        </p:nvSpPr>
        <p:spPr>
          <a:xfrm>
            <a:off x="6400800" y="52395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7" name="Text 35"/>
          <p:cNvSpPr txBox="1"/>
          <p:nvPr/>
        </p:nvSpPr>
        <p:spPr>
          <a:xfrm>
            <a:off x="7086600" y="5074920"/>
            <a:ext cx="4389120" cy="411480"/>
          </a:xfrm>
          <a:prstGeom prst="rect">
            <a:avLst/>
          </a:prstGeom>
          <a:noFill/>
          <a:ln/>
        </p:spPr>
        <p:txBody>
          <a:bodyPr wrap="square" lIns="0" tIns="0" rIns="0" bIns="0" rtlCol="0" anchor="t"/>
          <a:lstStyle/>
          <a:p>
            <a:pPr indent="0" marL="0">
              <a:buNone/>
            </a:pPr>
            <a:r>
              <a:rPr lang="en-US" sz="1700" b="1" dirty="0">
                <a:solidFill>
                  <a:srgbClr val="1B2540"/>
                </a:solidFill>
                <a:latin typeface="Calibri" pitchFamily="34" charset="0"/>
                <a:ea typeface="Calibri" pitchFamily="34" charset="-122"/>
                <a:cs typeface="Calibri" pitchFamily="34" charset="-120"/>
              </a:rPr>
              <a:t>Tài liệu &amp; mã nguồn</a:t>
            </a:r>
            <a:endParaRPr lang="en-US" sz="1700" dirty="0"/>
          </a:p>
        </p:txBody>
      </p:sp>
      <p:sp>
        <p:nvSpPr>
          <p:cNvPr id="38" name="Text 36"/>
          <p:cNvSpPr txBox="1"/>
          <p:nvPr/>
        </p:nvSpPr>
        <p:spPr>
          <a:xfrm>
            <a:off x="7086600" y="5486400"/>
            <a:ext cx="4389120" cy="502920"/>
          </a:xfrm>
          <a:prstGeom prst="rect">
            <a:avLst/>
          </a:prstGeom>
          <a:noFill/>
          <a:ln/>
        </p:spPr>
        <p:txBody>
          <a:bodyPr wrap="square" lIns="0" tIns="0" rIns="0" bIns="0" rtlCol="0" anchor="t"/>
          <a:lstStyle/>
          <a:p>
            <a:pPr indent="0" marL="0">
              <a:buNone/>
            </a:pPr>
            <a:r>
              <a:rPr lang="en-US" sz="1350" dirty="0">
                <a:solidFill>
                  <a:srgbClr val="5B6478"/>
                </a:solidFill>
                <a:latin typeface="Calibri" pitchFamily="34" charset="0"/>
                <a:ea typeface="Calibri" pitchFamily="34" charset="-122"/>
                <a:cs typeface="Calibri" pitchFamily="34" charset="-120"/>
              </a:rPr>
              <a:t>Báo cáo tổng quan, hướng dẫn sử dụng, mã nguồn trên GitHub, API JSON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roundRect">
            <a:avLst>
              <a:gd name="adj" fmla="val 16129"/>
            </a:avLst>
          </a:prstGeom>
          <a:solidFill>
            <a:srgbClr val="2F5BEA"/>
          </a:solidFill>
          <a:ln w="12700">
            <a:solidFill>
              <a:srgbClr val="2F5BEA"/>
            </a:solidFill>
            <a:prstDash val="solid"/>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p:cNvSpPr txBox="1"/>
          <p:nvPr/>
        </p:nvSpPr>
        <p:spPr>
          <a:xfrm>
            <a:off x="1298448" y="347472"/>
            <a:ext cx="10314432" cy="640080"/>
          </a:xfrm>
          <a:prstGeom prst="rect">
            <a:avLst/>
          </a:prstGeom>
          <a:noFill/>
          <a:ln/>
        </p:spPr>
        <p:txBody>
          <a:bodyPr wrap="square" lIns="0" tIns="0" rIns="0" bIns="0" rtlCol="0" anchor="ctr"/>
          <a:lstStyle/>
          <a:p>
            <a:pPr indent="0" marL="0">
              <a:buNone/>
            </a:pPr>
            <a:r>
              <a:rPr lang="en-US" sz="3200" b="1" dirty="0">
                <a:solidFill>
                  <a:srgbClr val="1B2540"/>
                </a:solidFill>
                <a:latin typeface="Cambria" pitchFamily="34" charset="0"/>
                <a:ea typeface="Cambria" pitchFamily="34" charset="-122"/>
                <a:cs typeface="Cambria" pitchFamily="34" charset="-120"/>
              </a:rPr>
              <a:t>Hạn chế &amp; hướng phát triển</a:t>
            </a:r>
            <a:endParaRPr lang="en-US" sz="3200" dirty="0"/>
          </a:p>
        </p:txBody>
      </p:sp>
      <p:sp>
        <p:nvSpPr>
          <p:cNvPr id="5" name="Text 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8A93A8"/>
                </a:solidFill>
                <a:latin typeface="Calibri" pitchFamily="34" charset="0"/>
                <a:ea typeface="Calibri" pitchFamily="34" charset="-122"/>
                <a:cs typeface="Calibri" pitchFamily="34" charset="-120"/>
              </a:rPr>
              <a:t>Mô hình hoá tứ giác với Neo4j</a:t>
            </a:r>
            <a:endParaRPr lang="en-US" sz="1000" dirty="0"/>
          </a:p>
        </p:txBody>
      </p:sp>
      <p:sp>
        <p:nvSpPr>
          <p:cNvPr id="6" name="Text 4"/>
          <p:cNvSpPr txBox="1"/>
          <p:nvPr/>
        </p:nvSpPr>
        <p:spPr>
          <a:xfrm>
            <a:off x="11155680" y="6446520"/>
            <a:ext cx="502920" cy="274320"/>
          </a:xfrm>
          <a:prstGeom prst="rect">
            <a:avLst/>
          </a:prstGeom>
          <a:noFill/>
          <a:ln/>
        </p:spPr>
        <p:txBody>
          <a:bodyPr wrap="square" lIns="0" tIns="0" rIns="0" bIns="0" rtlCol="0" anchor="t"/>
          <a:lstStyle/>
          <a:p>
            <a:pPr algn="r" indent="0" marL="0">
              <a:buNone/>
            </a:pPr>
            <a:r>
              <a:rPr lang="en-US" sz="1000" dirty="0">
                <a:solidFill>
                  <a:srgbClr val="8A93A8"/>
                </a:solidFill>
                <a:latin typeface="Calibri" pitchFamily="34" charset="0"/>
                <a:ea typeface="Calibri" pitchFamily="34" charset="-122"/>
                <a:cs typeface="Calibri" pitchFamily="34" charset="-120"/>
              </a:rPr>
              <a:t>16</a:t>
            </a:r>
            <a:endParaRPr lang="en-US" sz="1000" dirty="0"/>
          </a:p>
        </p:txBody>
      </p:sp>
      <p:sp>
        <p:nvSpPr>
          <p:cNvPr id="7" name="Shape 5"/>
          <p:cNvSpPr/>
          <p:nvPr/>
        </p:nvSpPr>
        <p:spPr>
          <a:xfrm>
            <a:off x="548640" y="1417320"/>
            <a:ext cx="5440680" cy="4846320"/>
          </a:xfrm>
          <a:prstGeom prst="roundRect">
            <a:avLst>
              <a:gd name="adj" fmla="val 2264"/>
            </a:avLst>
          </a:prstGeom>
          <a:solidFill>
            <a:srgbClr val="F1F3F7"/>
          </a:solidFill>
          <a:ln w="9525">
            <a:solidFill>
              <a:srgbClr val="F1F3F7"/>
            </a:solidFill>
            <a:prstDash val="solid"/>
          </a:ln>
        </p:spPr>
      </p:sp>
      <p:sp>
        <p:nvSpPr>
          <p:cNvPr id="8" name="Text 6"/>
          <p:cNvSpPr txBox="1"/>
          <p:nvPr/>
        </p:nvSpPr>
        <p:spPr>
          <a:xfrm>
            <a:off x="822960" y="1645920"/>
            <a:ext cx="4846320" cy="457200"/>
          </a:xfrm>
          <a:prstGeom prst="rect">
            <a:avLst/>
          </a:prstGeom>
          <a:noFill/>
          <a:ln/>
        </p:spPr>
        <p:txBody>
          <a:bodyPr wrap="square" lIns="0" tIns="0" rIns="0" bIns="0" rtlCol="0" anchor="t"/>
          <a:lstStyle/>
          <a:p>
            <a:pPr indent="0" marL="0">
              <a:buNone/>
            </a:pPr>
            <a:r>
              <a:rPr lang="en-US" sz="2200" b="1" dirty="0">
                <a:solidFill>
                  <a:srgbClr val="5B6478"/>
                </a:solidFill>
                <a:latin typeface="Cambria" pitchFamily="34" charset="0"/>
                <a:ea typeface="Cambria" pitchFamily="34" charset="-122"/>
                <a:cs typeface="Cambria" pitchFamily="34" charset="-120"/>
              </a:rPr>
              <a:t>Hạn chế</a:t>
            </a:r>
            <a:endParaRPr lang="en-US" sz="2200" dirty="0"/>
          </a:p>
        </p:txBody>
      </p:sp>
      <p:sp>
        <p:nvSpPr>
          <p:cNvPr id="9" name="Text 7"/>
          <p:cNvSpPr txBox="1"/>
          <p:nvPr/>
        </p:nvSpPr>
        <p:spPr>
          <a:xfrm>
            <a:off x="822960" y="2240280"/>
            <a:ext cx="4937760" cy="38404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D2433"/>
                </a:solidFill>
                <a:latin typeface="Calibri" pitchFamily="34" charset="0"/>
                <a:ea typeface="Calibri" pitchFamily="34" charset="-122"/>
                <a:cs typeface="Calibri" pitchFamily="34" charset="-120"/>
              </a:rPr>
              <a:t>Nhận dạng dựa trên tính chất định tính (song song, bằng nhau, vuông góc), chưa nhận toạ độ đỉnh.</a:t>
            </a:r>
            <a:endParaRPr lang="en-US" sz="1600" dirty="0"/>
          </a:p>
          <a:p>
            <a:pPr marL="342900" indent="-342900">
              <a:spcAft>
                <a:spcPts val="1000"/>
              </a:spcAft>
              <a:buSzPct val="100000"/>
              <a:buChar char="•"/>
            </a:pPr>
            <a:r>
              <a:rPr lang="en-US" sz="1600" dirty="0">
                <a:solidFill>
                  <a:srgbClr val="1D2433"/>
                </a:solidFill>
                <a:latin typeface="Calibri" pitchFamily="34" charset="0"/>
                <a:ea typeface="Calibri" pitchFamily="34" charset="-122"/>
                <a:cs typeface="Calibri" pitchFamily="34" charset="-120"/>
              </a:rPr>
              <a:t>Chưa phân biệt từng cạnh cụ thể (AB, CD…) trong lời giải.</a:t>
            </a:r>
            <a:endParaRPr lang="en-US" sz="1600" dirty="0"/>
          </a:p>
          <a:p>
            <a:pPr marL="342900" indent="-342900">
              <a:spcAft>
                <a:spcPts val="1000"/>
              </a:spcAft>
              <a:buSzPct val="100000"/>
              <a:buChar char="•"/>
            </a:pPr>
            <a:r>
              <a:rPr lang="en-US" sz="1600" dirty="0">
                <a:solidFill>
                  <a:srgbClr val="1D2433"/>
                </a:solidFill>
                <a:latin typeface="Calibri" pitchFamily="34" charset="0"/>
                <a:ea typeface="Calibri" pitchFamily="34" charset="-122"/>
                <a:cs typeface="Calibri" pitchFamily="34" charset="-120"/>
              </a:rPr>
              <a:t>Chỉ xét tứ giác lồi.</a:t>
            </a:r>
            <a:endParaRPr lang="en-US" sz="1600" dirty="0"/>
          </a:p>
        </p:txBody>
      </p:sp>
      <p:sp>
        <p:nvSpPr>
          <p:cNvPr id="10" name="Shape 8"/>
          <p:cNvSpPr/>
          <p:nvPr/>
        </p:nvSpPr>
        <p:spPr>
          <a:xfrm>
            <a:off x="6217920" y="1417320"/>
            <a:ext cx="5440680" cy="4846320"/>
          </a:xfrm>
          <a:prstGeom prst="roundRect">
            <a:avLst>
              <a:gd name="adj" fmla="val 2264"/>
            </a:avLst>
          </a:prstGeom>
          <a:solidFill>
            <a:srgbClr val="E8EEFF"/>
          </a:solidFill>
          <a:ln w="9525">
            <a:solidFill>
              <a:srgbClr val="E8EEFF"/>
            </a:solidFill>
            <a:prstDash val="solid"/>
          </a:ln>
        </p:spPr>
      </p:sp>
      <p:sp>
        <p:nvSpPr>
          <p:cNvPr id="11" name="Text 9"/>
          <p:cNvSpPr txBox="1"/>
          <p:nvPr/>
        </p:nvSpPr>
        <p:spPr>
          <a:xfrm>
            <a:off x="6492240" y="1645920"/>
            <a:ext cx="4846320" cy="457200"/>
          </a:xfrm>
          <a:prstGeom prst="rect">
            <a:avLst/>
          </a:prstGeom>
          <a:noFill/>
          <a:ln/>
        </p:spPr>
        <p:txBody>
          <a:bodyPr wrap="square" lIns="0" tIns="0" rIns="0" bIns="0" rtlCol="0" anchor="t"/>
          <a:lstStyle/>
          <a:p>
            <a:pPr indent="0" marL="0">
              <a:buNone/>
            </a:pPr>
            <a:r>
              <a:rPr lang="en-US" sz="2200" b="1" dirty="0">
                <a:solidFill>
                  <a:srgbClr val="2F5BEA"/>
                </a:solidFill>
                <a:latin typeface="Cambria" pitchFamily="34" charset="0"/>
                <a:ea typeface="Cambria" pitchFamily="34" charset="-122"/>
                <a:cs typeface="Cambria" pitchFamily="34" charset="-120"/>
              </a:rPr>
              <a:t>Hướng phát triển</a:t>
            </a:r>
            <a:endParaRPr lang="en-US" sz="2200" dirty="0"/>
          </a:p>
        </p:txBody>
      </p:sp>
      <p:sp>
        <p:nvSpPr>
          <p:cNvPr id="12" name="Text 10"/>
          <p:cNvSpPr txBox="1"/>
          <p:nvPr/>
        </p:nvSpPr>
        <p:spPr>
          <a:xfrm>
            <a:off x="6492240" y="2240280"/>
            <a:ext cx="4937760" cy="38404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D2433"/>
                </a:solidFill>
                <a:latin typeface="Calibri" pitchFamily="34" charset="0"/>
                <a:ea typeface="Calibri" pitchFamily="34" charset="-122"/>
                <a:cs typeface="Calibri" pitchFamily="34" charset="-120"/>
              </a:rPr>
              <a:t>Nhập toạ độ 4 đỉnh ⇒ tự tính số đo, tính chất rồi đưa vào bộ suy luận.</a:t>
            </a:r>
            <a:endParaRPr lang="en-US" sz="1600" dirty="0"/>
          </a:p>
          <a:p>
            <a:pPr marL="342900" indent="-342900">
              <a:spcAft>
                <a:spcPts val="1000"/>
              </a:spcAft>
              <a:buSzPct val="100000"/>
              <a:buChar char="•"/>
            </a:pPr>
            <a:r>
              <a:rPr lang="en-US" sz="1600" dirty="0">
                <a:solidFill>
                  <a:srgbClr val="1D2433"/>
                </a:solidFill>
                <a:latin typeface="Calibri" pitchFamily="34" charset="0"/>
                <a:ea typeface="Calibri" pitchFamily="34" charset="-122"/>
                <a:cs typeface="Calibri" pitchFamily="34" charset="-120"/>
              </a:rPr>
              <a:t>Thêm nút :Canh, :Goc, :DuongCheo để lời giải chi tiết như bài làm của học sinh.</a:t>
            </a:r>
            <a:endParaRPr lang="en-US" sz="1600" dirty="0"/>
          </a:p>
          <a:p>
            <a:pPr marL="342900" indent="-342900">
              <a:spcAft>
                <a:spcPts val="1000"/>
              </a:spcAft>
              <a:buSzPct val="100000"/>
              <a:buChar char="•"/>
            </a:pPr>
            <a:r>
              <a:rPr lang="en-US" sz="1600" dirty="0">
                <a:solidFill>
                  <a:srgbClr val="1D2433"/>
                </a:solidFill>
                <a:latin typeface="Calibri" pitchFamily="34" charset="0"/>
                <a:ea typeface="Calibri" pitchFamily="34" charset="-122"/>
                <a:cs typeface="Calibri" pitchFamily="34" charset="-120"/>
              </a:rPr>
              <a:t>Mở rộng sang tam giác, đa giác.</a:t>
            </a:r>
            <a:endParaRPr lang="en-US" sz="1600" dirty="0"/>
          </a:p>
          <a:p>
            <a:pPr marL="342900" indent="-342900">
              <a:spcAft>
                <a:spcPts val="1000"/>
              </a:spcAft>
              <a:buSzPct val="100000"/>
              <a:buChar char="•"/>
            </a:pPr>
            <a:r>
              <a:rPr lang="en-US" sz="1600" dirty="0">
                <a:solidFill>
                  <a:srgbClr val="1D2433"/>
                </a:solidFill>
                <a:latin typeface="Calibri" pitchFamily="34" charset="0"/>
                <a:ea typeface="Calibri" pitchFamily="34" charset="-122"/>
                <a:cs typeface="Calibri" pitchFamily="34" charset="-120"/>
              </a:rPr>
              <a:t>Lưu lịch sử bài làm của người học thành đồ thị để gợi ý bài tập.</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540"/>
        </a:solidFill>
      </p:bgPr>
    </p:bg>
    <p:spTree>
      <p:nvGrpSpPr>
        <p:cNvPr id="1" name=""/>
        <p:cNvGrpSpPr/>
        <p:nvPr/>
      </p:nvGrpSpPr>
      <p:grpSpPr>
        <a:xfrm>
          <a:off x="0" y="0"/>
          <a:ext cx="0" cy="0"/>
          <a:chOff x="0" y="0"/>
          <a:chExt cx="0" cy="0"/>
        </a:xfrm>
      </p:grpSpPr>
      <p:sp>
        <p:nvSpPr>
          <p:cNvPr id="2" name="Text 0"/>
          <p:cNvSpPr txBox="1"/>
          <p:nvPr/>
        </p:nvSpPr>
        <p:spPr>
          <a:xfrm>
            <a:off x="640080" y="1828800"/>
            <a:ext cx="10881360" cy="1097280"/>
          </a:xfrm>
          <a:prstGeom prst="rect">
            <a:avLst/>
          </a:prstGeom>
          <a:noFill/>
          <a:ln/>
        </p:spPr>
        <p:txBody>
          <a:bodyPr wrap="square" lIns="0" tIns="0" rIns="0" bIns="0" rtlCol="0" anchor="t"/>
          <a:lstStyle/>
          <a:p>
            <a:pPr algn="ctr" indent="0" marL="0">
              <a:buNone/>
            </a:pPr>
            <a:r>
              <a:rPr lang="en-US" sz="4000" b="1" dirty="0">
                <a:solidFill>
                  <a:srgbClr val="FFFFFF"/>
                </a:solidFill>
                <a:latin typeface="Cambria" pitchFamily="34" charset="0"/>
                <a:ea typeface="Cambria" pitchFamily="34" charset="-122"/>
                <a:cs typeface="Cambria" pitchFamily="34" charset="-120"/>
              </a:rPr>
              <a:t>Cảm ơn thầy và các bạn đã lắng nghe!</a:t>
            </a:r>
            <a:endParaRPr lang="en-US" sz="4000" dirty="0"/>
          </a:p>
        </p:txBody>
      </p:sp>
      <p:sp>
        <p:nvSpPr>
          <p:cNvPr id="3" name="Text 1"/>
          <p:cNvSpPr txBox="1"/>
          <p:nvPr/>
        </p:nvSpPr>
        <p:spPr>
          <a:xfrm>
            <a:off x="640080" y="2926080"/>
            <a:ext cx="10881360" cy="548640"/>
          </a:xfrm>
          <a:prstGeom prst="rect">
            <a:avLst/>
          </a:prstGeom>
          <a:noFill/>
          <a:ln/>
        </p:spPr>
        <p:txBody>
          <a:bodyPr wrap="square" lIns="0" tIns="0" rIns="0" bIns="0" rtlCol="0" anchor="t"/>
          <a:lstStyle/>
          <a:p>
            <a:pPr algn="ctr" indent="0" marL="0">
              <a:buNone/>
            </a:pPr>
            <a:r>
              <a:rPr lang="en-US" sz="2200" dirty="0">
                <a:solidFill>
                  <a:srgbClr val="C9D6FF"/>
                </a:solidFill>
                <a:latin typeface="Calibri" pitchFamily="34" charset="0"/>
                <a:ea typeface="Calibri" pitchFamily="34" charset="-122"/>
                <a:cs typeface="Calibri" pitchFamily="34" charset="-120"/>
              </a:rPr>
              <a:t>Hỏi &amp; đáp</a:t>
            </a:r>
            <a:endParaRPr lang="en-US" sz="2200" dirty="0"/>
          </a:p>
        </p:txBody>
      </p:sp>
      <p:sp>
        <p:nvSpPr>
          <p:cNvPr id="4" name="Text 2"/>
          <p:cNvSpPr txBox="1"/>
          <p:nvPr/>
        </p:nvSpPr>
        <p:spPr>
          <a:xfrm>
            <a:off x="640080" y="3840480"/>
            <a:ext cx="10881360" cy="411480"/>
          </a:xfrm>
          <a:prstGeom prst="rect">
            <a:avLst/>
          </a:prstGeom>
          <a:noFill/>
          <a:ln/>
        </p:spPr>
        <p:txBody>
          <a:bodyPr wrap="square" lIns="0" tIns="0" rIns="0" bIns="0" rtlCol="0" anchor="t"/>
          <a:lstStyle/>
          <a:p>
            <a:pPr algn="ctr" indent="0" marL="0">
              <a:buNone/>
            </a:pPr>
            <a:r>
              <a:rPr lang="en-US" sz="1500" dirty="0">
                <a:solidFill>
                  <a:srgbClr val="9FB6FF"/>
                </a:solidFill>
                <a:latin typeface="Consolas" pitchFamily="34" charset="0"/>
                <a:ea typeface="Consolas" pitchFamily="34" charset="-122"/>
                <a:cs typeface="Consolas" pitchFamily="34" charset="-120"/>
              </a:rPr>
              <a:t>Mã nguồn: github.com/&lt;tên-tài-khoản&gt;/tu-giac-neo4j</a:t>
            </a:r>
            <a:endParaRPr lang="en-US" sz="1500" dirty="0"/>
          </a:p>
        </p:txBody>
      </p:sp>
      <p:sp>
        <p:nvSpPr>
          <p:cNvPr id="5" name="Text 3"/>
          <p:cNvSpPr txBox="1"/>
          <p:nvPr/>
        </p:nvSpPr>
        <p:spPr>
          <a:xfrm>
            <a:off x="640080" y="5760720"/>
            <a:ext cx="10881360" cy="365760"/>
          </a:xfrm>
          <a:prstGeom prst="rect">
            <a:avLst/>
          </a:prstGeom>
          <a:noFill/>
          <a:ln/>
        </p:spPr>
        <p:txBody>
          <a:bodyPr wrap="square" lIns="0" tIns="0" rIns="0" bIns="0" rtlCol="0" anchor="t"/>
          <a:lstStyle/>
          <a:p>
            <a:pPr algn="ctr" indent="0" marL="0">
              <a:buNone/>
            </a:pPr>
            <a:r>
              <a:rPr lang="en-US" sz="1400" dirty="0">
                <a:solidFill>
                  <a:srgbClr val="C9D6FF"/>
                </a:solidFill>
                <a:latin typeface="Calibri" pitchFamily="34" charset="0"/>
                <a:ea typeface="Calibri" pitchFamily="34" charset="-122"/>
                <a:cs typeface="Calibri" pitchFamily="34" charset="-120"/>
              </a:rPr>
              <a:t>Nguyễn Quốc Lộc  ·  Phan Tấn Anh  ·  Nguyễn Hải Đăng     |     GVHD: ThS. Trần Quang Bình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 hình hoá tứ giác trong hình học phẳng với Neo4j</dc:title>
  <dc:subject>PptxGenJS Presentation</dc:subject>
  <dc:creator>Nguyễn Quốc Lộc, Phan Tấn Anh, Nguyễn Hải Đăng</dc:creator>
  <cp:lastModifiedBy>Nguyễn Quốc Lộc, Phan Tấn Anh, Nguyễn Hải Đăng</cp:lastModifiedBy>
  <cp:revision>1</cp:revision>
  <dcterms:created xsi:type="dcterms:W3CDTF">2026-09-30T09:02:39Z</dcterms:created>
  <dcterms:modified xsi:type="dcterms:W3CDTF">2026-09-30T09:02:39Z</dcterms:modified>
</cp:coreProperties>
</file>